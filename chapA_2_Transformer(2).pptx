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54"/>
  </p:notesMasterIdLst>
  <p:handoutMasterIdLst>
    <p:handoutMasterId r:id="rId55"/>
  </p:handoutMasterIdLst>
  <p:sldIdLst>
    <p:sldId id="270" r:id="rId2"/>
    <p:sldId id="268" r:id="rId3"/>
    <p:sldId id="503" r:id="rId4"/>
    <p:sldId id="584" r:id="rId5"/>
    <p:sldId id="504" r:id="rId6"/>
    <p:sldId id="505" r:id="rId7"/>
    <p:sldId id="506" r:id="rId8"/>
    <p:sldId id="588" r:id="rId9"/>
    <p:sldId id="585" r:id="rId10"/>
    <p:sldId id="501" r:id="rId11"/>
    <p:sldId id="606" r:id="rId12"/>
    <p:sldId id="540" r:id="rId13"/>
    <p:sldId id="541" r:id="rId14"/>
    <p:sldId id="502" r:id="rId15"/>
    <p:sldId id="563" r:id="rId16"/>
    <p:sldId id="562" r:id="rId17"/>
    <p:sldId id="564" r:id="rId18"/>
    <p:sldId id="611" r:id="rId19"/>
    <p:sldId id="569" r:id="rId20"/>
    <p:sldId id="547" r:id="rId21"/>
    <p:sldId id="507" r:id="rId22"/>
    <p:sldId id="508" r:id="rId23"/>
    <p:sldId id="533" r:id="rId24"/>
    <p:sldId id="613" r:id="rId25"/>
    <p:sldId id="510" r:id="rId26"/>
    <p:sldId id="608" r:id="rId27"/>
    <p:sldId id="607" r:id="rId28"/>
    <p:sldId id="511" r:id="rId29"/>
    <p:sldId id="566" r:id="rId30"/>
    <p:sldId id="610" r:id="rId31"/>
    <p:sldId id="609" r:id="rId32"/>
    <p:sldId id="567" r:id="rId33"/>
    <p:sldId id="614" r:id="rId34"/>
    <p:sldId id="615" r:id="rId35"/>
    <p:sldId id="616" r:id="rId36"/>
    <p:sldId id="617" r:id="rId37"/>
    <p:sldId id="577" r:id="rId38"/>
    <p:sldId id="565" r:id="rId39"/>
    <p:sldId id="578" r:id="rId40"/>
    <p:sldId id="623" r:id="rId41"/>
    <p:sldId id="527" r:id="rId42"/>
    <p:sldId id="618" r:id="rId43"/>
    <p:sldId id="620" r:id="rId44"/>
    <p:sldId id="581" r:id="rId45"/>
    <p:sldId id="621" r:id="rId46"/>
    <p:sldId id="622" r:id="rId47"/>
    <p:sldId id="619" r:id="rId48"/>
    <p:sldId id="528" r:id="rId49"/>
    <p:sldId id="570" r:id="rId50"/>
    <p:sldId id="571" r:id="rId51"/>
    <p:sldId id="572" r:id="rId52"/>
    <p:sldId id="573" r:id="rId53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CCFF"/>
    <a:srgbClr val="5DD5FF"/>
    <a:srgbClr val="BDEEFF"/>
    <a:srgbClr val="DD6501"/>
    <a:srgbClr val="B9B9B9"/>
    <a:srgbClr val="FFCC66"/>
    <a:srgbClr val="E0AC00"/>
    <a:srgbClr val="68676C"/>
    <a:srgbClr val="8D9DD8"/>
    <a:srgbClr val="953D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5" autoAdjust="0"/>
    <p:restoredTop sz="87731" autoAdjust="0"/>
  </p:normalViewPr>
  <p:slideViewPr>
    <p:cSldViewPr showGuides="1">
      <p:cViewPr varScale="1">
        <p:scale>
          <a:sx n="72" d="100"/>
          <a:sy n="72" d="100"/>
        </p:scale>
        <p:origin x="1738" y="62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17" d="100"/>
          <a:sy n="117" d="100"/>
        </p:scale>
        <p:origin x="1206" y="90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2025-11-23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11/23/2025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85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AC38-AEF0-69AA-1957-191E8399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A29039-B283-92D3-FF3E-D39D3B0A4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FFD148-E295-FAF9-0200-BAD4ACCA0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FB3E2-F450-4AF4-DE55-F5BA85E29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803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960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A044-2389-7CB2-B7EF-5B9918BF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BC064E-2267-56E2-6F0B-DEAA16096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EDE376-39AD-0513-E868-48564D734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D7765-DE67-CC17-04C5-9E840B86A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599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375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90578-4035-0771-5D48-7D31DBE53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F0B6EE-8A82-0A49-8042-2067BA1BD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E37252-86E7-8428-514F-18F275A41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FF1F6E-16D1-AA49-6A2C-E7C67D962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753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62953-277D-4B2C-FF8D-2F576D002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9E3283-62D9-ACE3-0548-4339312B1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7FF661-B2FB-82F2-0136-6276CEDF9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D18C19-461B-DF4A-A8E8-35228D9B6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559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37AA2-BF16-82B6-1B3E-5724CBA47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3A19C8-34F8-9567-D599-F5455FBF2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5301BB-09C9-E226-F206-C386F93D5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0E753C-D8FD-010E-7372-C04E1FBCE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94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5DB98-B043-03E3-7DDE-57DC2D97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82637C-595A-9E5F-93B1-D28522484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4BD95F-FE26-8A51-FDDE-84F7A4F2E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0FBDAE-AA4C-7C05-6CAD-B68C248FA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15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B5E6-6830-343D-031C-43392B4E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4A7C15-01C8-F50F-BD0D-C3D2938DC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8BD339-6952-FBDB-5611-BAE1C7645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9F5E25-73E6-EAF1-1D43-DE4D413CF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584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62CB-AC57-91D1-C794-7CDFBBE5D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FA42C6-15B1-61E1-E109-C3E32375C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5AD55A-9315-653C-C3EF-58B2DC893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E1FD60-3045-538B-E1B7-F0A237141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589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C43A5-99A6-0E11-6242-8EC342EB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F686AF-6879-24B9-AE59-136397D5E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09B3F2-7A05-5412-F028-CE04F8FDD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5EC2FF-B725-C2E1-AD4B-0081E9CB9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103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72033-282F-3EBC-0206-37A2FF74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C3069D-C7BA-A016-BDB1-84DEC5E09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64BD2D-C59B-4615-CC4B-A8B8B4326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505B3A-4E9F-8D6F-9C3C-9D06B55E2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9424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A3769-0EB5-358B-F750-E2B2F5AAE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72F3B6-28F5-5955-5945-79E1E6440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315FF4-4D86-0700-C181-157354D9B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E349D0-ABC7-99AB-0A47-6AB09E6C0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0959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BFB27-3EC9-25BF-0E73-176A9847E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98D379-C152-DC51-C22D-F99CEF43D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6831F0-97F6-F414-03BF-308677074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7B3C2A-466B-1AD0-2E71-03B78DD40A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071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FAA62-0696-FD84-0A74-4091CF7A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785173-DBFA-C3B6-34FA-F2128A279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A93CB2-14AE-A9B9-9927-02CB8A5C4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C2E7FF-EE74-2C13-5DFA-9C0A8D9769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7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71925-CB25-9694-3756-0A10C9753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77F820-98AB-59DD-C511-3B311E2AE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5A8EDF-846A-82A3-F907-2C60CB625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7724C-B858-8853-3CA0-852132C5E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380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4B3DD-B0BC-4B59-83D3-8201F740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E6217F-BDAB-9927-3859-F2B2C7061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A079EF-2302-FCAF-5FC9-F26A74AD7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4329CE-DDE1-4AA7-475D-C574BAD2A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D597F-431A-8B49-BC71-3E44886C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C1208D-6ED0-9381-BC00-07993DACC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1E720F-66FB-91C7-230B-D5D308B46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3559C9-80CF-CC93-0DF4-F404238F5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872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14048-4149-0075-B22B-635F2DA6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8F1FE9-1C2F-26AE-B828-159553FEF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0D7225-B413-4057-2777-7C9A81423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8FCB42-0265-7A71-7547-7756B45B0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6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AF7A1-741E-B124-09E4-7396D4487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DD4A5D-5D6F-7EE6-AE20-7A740CF8A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C7053F-5AF6-0FD3-1E64-224B78762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1BAD08-4551-04A4-152B-7FCCE6E37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6229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03DE0-ED25-9C4C-6AE1-0B2CD637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DB70EB-52C6-7886-96EF-C504E762B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FBB0C5-281E-A207-2E5E-9FBD3E90A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A181E-3732-AF8D-F374-DB509D04A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9531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4AF35-80EF-5595-D081-8BC0CFD13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BCA0C9-1242-15C6-0DD6-D8F3B76A0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C3F796-6D06-F184-3371-2E406D57F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AFB74C-808E-0E60-9FE7-42EBBE90E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358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DF98-D40B-1F20-EBFD-BBBFC062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CCD68B-460C-A7E3-069F-E1C97B28A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953714-A04C-BCEA-634C-1FB53652C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BCE1E-D9C3-20B3-231B-02064415F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2342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66AA0-FD6D-64B6-0A3F-EFB5B7233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2D71AF-DE6E-8A6C-F487-17C3D854C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5CB9FE-33E9-1ADE-4C89-E324C4D31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EE65D-55F2-22F5-D130-513B887DF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7260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57D3-0021-5D9D-436F-AD0B2E75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08BD28-7907-DD00-D8B2-28DBEB84D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8E093D-320F-547F-EF98-8C0D0E7A7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A8A416-93B6-3B9D-16AA-D44A29FCB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108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10B40-B28A-7595-E630-4F198E98A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84574D-CF2C-F8AC-B840-7939E62F7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EB19AE-513F-A01F-14E3-A4510FF7E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FDC32B-73B4-ED12-4761-1B7C14376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791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A9F7F-C8E9-89FE-9D41-342FE9AD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806B7D-0FEA-CD4E-EC83-09CB06A2F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30D90C-A1B5-8395-C69E-798E808E3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58D869-CA0F-054E-B0E2-44A3A64A4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918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2257-F206-3FA1-1629-37B0B90AD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B7E39C-0BF3-2D7A-1EC6-EDBD89410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1206CC-AD74-BFD5-8EA8-37E39B78E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0C51F1-6B35-E116-3B05-34A5C0076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7652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50AEA-2DD4-FD9B-704B-8240D02F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D461C1-B90D-A1FF-8846-AFE8F7202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21A526-E3C3-48BE-1AFA-EFC5E1645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FAF257-6AE7-D926-1523-497C58330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1492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E0791-1AE4-E80C-270A-75EE88B95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24A807-2FC6-0A70-EF0B-B04492A4E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A4E174-F554-D5E7-1F90-CB5B1F8F7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CAD965-C500-31EF-27C0-62CB4EB1A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9256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387F-D80B-BD18-C3AC-AA229AEE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9CD531-12DF-5C44-256E-D1A7059B9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B86216-294F-9B42-03EB-DA3999988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A70232-FE51-1B2E-5F67-8392C55D7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787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08CA-5B04-6C64-6911-0BE922B32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81D9E2-8C30-3E83-3171-7C9A23EDB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3D8101-79E4-4E11-D2F5-55CB47FF3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5C8543-B027-C6FF-735B-E861F81E1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5647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EDC2D-74DD-A2BE-69A1-15233968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95176F-AC01-80A6-1A14-0DB8B5244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0460BC-C236-38AB-2539-BC1566472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BEF480-4251-91CD-4220-6F63AAC18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1120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2737-18F1-9787-976F-70AAF644D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16C58F-B1CF-E99B-0178-1CFBE7E29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5C87D9-90EE-E607-7B76-EF1FAA118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ㅗ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EEB14-ECC4-0754-E201-A81637C70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15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  <a:prstGeom prst="rect">
            <a:avLst/>
          </a:prstGeo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  <a:prstGeom prst="rect">
            <a:avLst/>
          </a:prstGeo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  <a:prstGeom prst="rect">
            <a:avLst/>
          </a:prstGeo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  <a:prstGeom prst="rect">
            <a:avLst/>
          </a:prstGeo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  <a:prstGeom prst="rect">
            <a:avLst/>
          </a:prstGeo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prstGeom prst="rect">
            <a:avLst/>
          </a:prstGeo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  <a:prstGeom prst="rect">
            <a:avLst/>
          </a:prstGeo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  <a:prstGeom prst="rect">
            <a:avLst/>
          </a:prstGeo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prstGeom prst="rect">
            <a:avLst/>
          </a:prstGeo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  <a:prstGeom prst="rect">
            <a:avLst/>
          </a:prstGeo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  <a:prstGeom prst="rect">
            <a:avLst/>
          </a:prstGeo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prstGeom prst="rect">
            <a:avLst/>
          </a:prstGeo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prstGeom prst="rect">
            <a:avLst/>
          </a:prstGeo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prstGeom prst="rect">
            <a:avLst/>
          </a:prstGeo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  <a:prstGeom prst="rect">
            <a:avLst/>
          </a:prstGeo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  <a:prstGeom prst="rect">
            <a:avLst/>
          </a:prstGeo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  <a:prstGeom prst="rect">
            <a:avLst/>
          </a:prstGeo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  <a:prstGeom prst="rect">
            <a:avLst/>
          </a:prstGeo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prstGeom prst="rect">
            <a:avLst/>
          </a:prstGeo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  <a:prstGeom prst="rect">
            <a:avLst/>
          </a:prstGeo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11/23/2025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07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7" r:id="rId20"/>
    <p:sldLayoutId id="2147483708" r:id="rId21"/>
    <p:sldLayoutId id="2147483709" r:id="rId22"/>
    <p:sldLayoutId id="2147483710" r:id="rId23"/>
    <p:sldLayoutId id="2147483713" r:id="rId2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docs.net/book/2155" TargetMode="External"/><Relationship Id="rId2" Type="http://schemas.openxmlformats.org/officeDocument/2006/relationships/hyperlink" Target="https://jalammar.github.io/illustrated-transformer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424296" y="1239934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트랜스포머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(Transformer)_2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1461222" y="2105232"/>
            <a:ext cx="6221556" cy="12954"/>
          </a:xfrm>
          <a:prstGeom prst="line">
            <a:avLst/>
          </a:prstGeom>
          <a:ln w="57150">
            <a:solidFill>
              <a:srgbClr val="E0A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DD659908-7295-203D-AC43-14F8A1562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30070"/>
            <a:ext cx="8153400" cy="235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ko" altLang="en-US" sz="3200" b="0" dirty="0"/>
              <a:t>강의 노트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ko" altLang="ko-KR" sz="3600" dirty="0">
                <a:cs typeface="+mj-cs"/>
              </a:rPr>
              <a:t> </a:t>
            </a:r>
            <a:br>
              <a:rPr lang="en-US" altLang="ko-KR" sz="2000" dirty="0">
                <a:cs typeface="+mj-cs"/>
              </a:rPr>
            </a:br>
            <a:r>
              <a:rPr lang="ko-KR" altLang="en-US" sz="2000" dirty="0">
                <a:cs typeface="+mj-cs"/>
              </a:rPr>
              <a:t>트랜스포머</a:t>
            </a:r>
            <a:r>
              <a:rPr lang="ko" altLang="ko-KR" sz="2000" dirty="0">
                <a:cs typeface="+mj-cs"/>
              </a:rPr>
              <a:t>: 기본 개념 및 기술</a:t>
            </a:r>
            <a:endParaRPr lang="en-US" altLang="en-US" sz="20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297541"/>
            <a:ext cx="8105496" cy="49646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900" b="1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en-US" altLang="ko-KR" sz="1600" b="1" i="0" dirty="0">
                <a:solidFill>
                  <a:srgbClr val="222222"/>
                </a:solidFill>
                <a:effectLst/>
                <a:latin typeface="Helvetica Neue"/>
              </a:rPr>
              <a:t>The Illustrated Transformer: </a:t>
            </a:r>
            <a:r>
              <a:rPr lang="en-US" altLang="ko-KR" sz="1600" dirty="0">
                <a:hlinkClick r:id="rId2"/>
              </a:rPr>
              <a:t>The Illustrated Transformer – Jay </a:t>
            </a:r>
            <a:r>
              <a:rPr lang="en-US" altLang="ko-KR" sz="1600" dirty="0" err="1">
                <a:hlinkClick r:id="rId2"/>
              </a:rPr>
              <a:t>Alammar</a:t>
            </a:r>
            <a:r>
              <a:rPr lang="en-US" altLang="ko-KR" sz="1600" dirty="0">
                <a:hlinkClick r:id="rId2"/>
              </a:rPr>
              <a:t> – Visualizing machine learning one concept at a time.</a:t>
            </a:r>
            <a:endParaRPr lang="en-US" altLang="ko-KR" sz="1600" b="1" i="0" dirty="0">
              <a:solidFill>
                <a:srgbClr val="222222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600" b="1" i="0" dirty="0">
                <a:solidFill>
                  <a:srgbClr val="24292F"/>
                </a:solidFill>
                <a:effectLst/>
                <a:latin typeface="Noto Sans KR"/>
              </a:rPr>
              <a:t>딥 러닝을 이용한 자연어 처리 입문</a:t>
            </a:r>
            <a:r>
              <a:rPr lang="en-US" altLang="ko-KR" sz="1600" b="1" i="0" dirty="0">
                <a:solidFill>
                  <a:srgbClr val="24292F"/>
                </a:solidFill>
                <a:effectLst/>
                <a:latin typeface="Noto Sans KR"/>
              </a:rPr>
              <a:t>: </a:t>
            </a:r>
            <a:r>
              <a:rPr lang="ko-KR" altLang="en-US" sz="1600" dirty="0">
                <a:hlinkClick r:id="rId3"/>
              </a:rPr>
              <a:t>딥 러닝을 이용한 자연어 처리 입문 </a:t>
            </a:r>
            <a:r>
              <a:rPr lang="en-US" altLang="ko-KR" sz="1600" dirty="0">
                <a:hlinkClick r:id="rId3"/>
              </a:rPr>
              <a:t>– </a:t>
            </a:r>
            <a:r>
              <a:rPr lang="en-US" altLang="ko-KR" sz="1600" dirty="0" err="1">
                <a:hlinkClick r:id="rId3"/>
              </a:rPr>
              <a:t>WikiDocs</a:t>
            </a:r>
            <a:endParaRPr lang="en-US" altLang="ko-KR" sz="16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ko-KR" altLang="en-US" sz="1600" b="1" i="0" dirty="0">
              <a:solidFill>
                <a:srgbClr val="24292F"/>
              </a:solidFill>
              <a:effectLst/>
              <a:latin typeface="Noto Sans KR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E79FA33-29C9-F5CC-7D6B-E4943206B2C9}"/>
              </a:ext>
            </a:extLst>
          </p:cNvPr>
          <p:cNvSpPr txBox="1">
            <a:spLocks/>
          </p:cNvSpPr>
          <p:nvPr/>
        </p:nvSpPr>
        <p:spPr>
          <a:xfrm>
            <a:off x="496781" y="548650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dirty="0"/>
              <a:t>참고자료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042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B49FD-8A4A-2F79-61B1-1A6F9A9A1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E389EB7-E3C5-A6E0-2948-9DB3CEDC8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297542"/>
            <a:ext cx="8237802" cy="13757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Noto Sans KR"/>
              </a:rPr>
              <a:t>포지션 </a:t>
            </a:r>
            <a:r>
              <a:rPr lang="ko-KR" altLang="en-US" sz="1600" b="0" i="0" dirty="0" err="1">
                <a:solidFill>
                  <a:srgbClr val="24292F"/>
                </a:solidFill>
                <a:effectLst/>
                <a:latin typeface="Noto Sans KR"/>
              </a:rPr>
              <a:t>와이즈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Noto Sans KR"/>
              </a:rPr>
              <a:t>FFNN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Noto Sans KR"/>
              </a:rPr>
              <a:t>은 인코더와 </a:t>
            </a:r>
            <a:r>
              <a:rPr lang="ko-KR" altLang="en-US" sz="1600" b="0" i="0" dirty="0" err="1">
                <a:solidFill>
                  <a:srgbClr val="24292F"/>
                </a:solidFill>
                <a:effectLst/>
                <a:latin typeface="Noto Sans KR"/>
              </a:rPr>
              <a:t>디코더에서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Noto Sans KR"/>
              </a:rPr>
              <a:t> 공통적으로 가지고 있는 </a:t>
            </a:r>
            <a:r>
              <a:rPr lang="ko-KR" altLang="en-US" sz="1600" b="0" i="0" dirty="0" err="1">
                <a:solidFill>
                  <a:srgbClr val="24292F"/>
                </a:solidFill>
                <a:effectLst/>
                <a:latin typeface="Noto Sans KR"/>
              </a:rPr>
              <a:t>서브층이며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Noto Sans KR"/>
              </a:rPr>
              <a:t>, 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Noto Sans KR"/>
              </a:rPr>
              <a:t>완전 연결 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Noto Sans KR"/>
              </a:rPr>
              <a:t>FFNN(Fully-connected FFNN)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Noto Sans KR"/>
              </a:rPr>
              <a:t>이라고 해석할 수 있다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Noto Sans KR"/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두 개의 </a:t>
            </a:r>
            <a:r>
              <a:rPr lang="en-US" altLang="ko-KR" sz="1600" dirty="0"/>
              <a:t>Linear </a:t>
            </a:r>
            <a:r>
              <a:rPr lang="ko-KR" altLang="en-US" sz="1600" dirty="0"/>
              <a:t>층과 </a:t>
            </a:r>
            <a:r>
              <a:rPr lang="en-US" altLang="ko-KR" sz="1600" dirty="0" err="1"/>
              <a:t>ReLU</a:t>
            </a:r>
            <a:r>
              <a:rPr lang="en-US" altLang="ko-KR" sz="1600" dirty="0"/>
              <a:t> </a:t>
            </a:r>
            <a:r>
              <a:rPr lang="ko-KR" altLang="en-US" sz="1600" dirty="0"/>
              <a:t>활성화를 사용하는 간단한 </a:t>
            </a:r>
            <a:r>
              <a:rPr lang="en-US" altLang="ko-KR" sz="1600" dirty="0"/>
              <a:t>MLP</a:t>
            </a:r>
            <a:r>
              <a:rPr lang="ko-KR" altLang="en-US" sz="1600" dirty="0"/>
              <a:t>이다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6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DDC4679-3ECD-950D-6025-4DAFC14C6C49}"/>
              </a:ext>
            </a:extLst>
          </p:cNvPr>
          <p:cNvSpPr txBox="1">
            <a:spLocks/>
          </p:cNvSpPr>
          <p:nvPr/>
        </p:nvSpPr>
        <p:spPr>
          <a:xfrm>
            <a:off x="496781" y="491043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400" b="1" i="0" dirty="0">
                <a:solidFill>
                  <a:srgbClr val="24292F"/>
                </a:solidFill>
                <a:effectLst/>
                <a:latin typeface="Noto Sans KR"/>
              </a:rPr>
              <a:t>포지션</a:t>
            </a:r>
            <a:r>
              <a:rPr lang="en-US" altLang="ko-KR" sz="2400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sz="2400" b="1" i="0" dirty="0" err="1">
                <a:solidFill>
                  <a:srgbClr val="24292F"/>
                </a:solidFill>
                <a:effectLst/>
                <a:latin typeface="Noto Sans KR"/>
              </a:rPr>
              <a:t>와이즈</a:t>
            </a:r>
            <a:r>
              <a:rPr lang="ko-KR" altLang="en-US" sz="2400" b="1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ko-KR" altLang="en-US" sz="2400" b="1" i="0" dirty="0" err="1">
                <a:solidFill>
                  <a:srgbClr val="24292F"/>
                </a:solidFill>
                <a:effectLst/>
                <a:latin typeface="Noto Sans KR"/>
              </a:rPr>
              <a:t>피드</a:t>
            </a:r>
            <a:r>
              <a:rPr lang="ko-KR" altLang="en-US" sz="2400" b="1" i="0" dirty="0">
                <a:solidFill>
                  <a:srgbClr val="24292F"/>
                </a:solidFill>
                <a:effectLst/>
                <a:latin typeface="Noto Sans KR"/>
              </a:rPr>
              <a:t> 포워드 신경망</a:t>
            </a:r>
            <a:r>
              <a:rPr lang="en-US" altLang="ko-KR" sz="2400" b="1" i="0" dirty="0">
                <a:solidFill>
                  <a:srgbClr val="24292F"/>
                </a:solidFill>
                <a:effectLst/>
                <a:latin typeface="Noto Sans KR"/>
              </a:rPr>
              <a:t>(Position-wise FFNN)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D72DC0B-74BB-6DB6-93F1-6FD79A589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28" y="3335727"/>
            <a:ext cx="3824237" cy="247714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D2435A6-FCEF-7534-EF95-0318FC656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0" y="3335727"/>
            <a:ext cx="2429214" cy="22751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19E8661-E76B-379A-2D46-1FDDE41B2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45" y="5963708"/>
            <a:ext cx="8136440" cy="6574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8C2CAF6-6129-4063-3EB6-E94C9E2C4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5755" y="2637961"/>
            <a:ext cx="4032490" cy="43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8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08AD-BAC8-3860-3ED8-C2AB6B3BB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EB534B3-3E75-221B-7697-7C3BEB971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894292"/>
            <a:ext cx="8410623" cy="587591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포지션 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와이즈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FFNN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을 왜 사용하는가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Transformer</a:t>
            </a:r>
            <a:r>
              <a:rPr lang="ko-KR" altLang="en-US" dirty="0"/>
              <a:t>의 </a:t>
            </a:r>
            <a:r>
              <a:rPr lang="en-US" altLang="ko-KR" dirty="0"/>
              <a:t>layer</a:t>
            </a:r>
            <a:r>
              <a:rPr lang="ko-KR" altLang="en-US" dirty="0"/>
              <a:t>는 크게 두 가지 </a:t>
            </a:r>
            <a:r>
              <a:rPr lang="en-US" altLang="ko-KR" dirty="0"/>
              <a:t>block</a:t>
            </a:r>
            <a:r>
              <a:rPr lang="ko-KR" altLang="en-US" dirty="0"/>
              <a:t>으로 구성된다</a:t>
            </a:r>
            <a:r>
              <a:rPr lang="en-US" altLang="ko-KR" dirty="0"/>
              <a:t>.</a:t>
            </a:r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/>
              <a:t> Multi-head self-attention</a:t>
            </a:r>
            <a:r>
              <a:rPr lang="ko-KR" altLang="en-US" sz="1600" dirty="0"/>
              <a:t> → 입력 시퀀스 간의 의존성</a:t>
            </a:r>
            <a:r>
              <a:rPr lang="en-US" altLang="ko-KR" sz="1600" dirty="0"/>
              <a:t>/</a:t>
            </a:r>
            <a:r>
              <a:rPr lang="ko-KR" altLang="en-US" sz="1600" dirty="0"/>
              <a:t>관계를 계산</a:t>
            </a:r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/>
              <a:t> Position-wise feedforward network (FFN)</a:t>
            </a:r>
            <a:r>
              <a:rPr lang="ko-KR" altLang="en-US" sz="1600" dirty="0"/>
              <a:t> → 각 위치의 벡터에 비선형 함수를 적용해 </a:t>
            </a:r>
            <a:r>
              <a:rPr lang="ko-KR" altLang="en-US" sz="1600" b="1" dirty="0">
                <a:solidFill>
                  <a:srgbClr val="0070C0"/>
                </a:solidFill>
              </a:rPr>
              <a:t>표현력 강화</a:t>
            </a:r>
          </a:p>
          <a:p>
            <a:pPr marL="334963" lvl="1" indent="0">
              <a:lnSpc>
                <a:spcPct val="150000"/>
              </a:lnSpc>
              <a:buNone/>
            </a:pPr>
            <a:r>
              <a:rPr lang="ko-KR" altLang="en-US" dirty="0"/>
              <a:t>    👉 </a:t>
            </a:r>
            <a:r>
              <a:rPr lang="ko-KR" altLang="en-US" b="1" dirty="0">
                <a:solidFill>
                  <a:srgbClr val="0070C0"/>
                </a:solidFill>
              </a:rPr>
              <a:t>즉</a:t>
            </a:r>
            <a:r>
              <a:rPr lang="en-US" altLang="ko-KR" b="1" dirty="0">
                <a:solidFill>
                  <a:srgbClr val="0070C0"/>
                </a:solidFill>
              </a:rPr>
              <a:t>, Attention</a:t>
            </a:r>
            <a:r>
              <a:rPr lang="ko-KR" altLang="en-US" b="1" dirty="0">
                <a:solidFill>
                  <a:srgbClr val="0070C0"/>
                </a:solidFill>
              </a:rPr>
              <a:t>이 </a:t>
            </a:r>
            <a:r>
              <a:rPr lang="en-US" altLang="ko-KR" b="1" dirty="0">
                <a:solidFill>
                  <a:srgbClr val="0070C0"/>
                </a:solidFill>
              </a:rPr>
              <a:t>"</a:t>
            </a:r>
            <a:r>
              <a:rPr lang="ko-KR" altLang="en-US" b="1" dirty="0">
                <a:solidFill>
                  <a:srgbClr val="0070C0"/>
                </a:solidFill>
              </a:rPr>
              <a:t>누구와 관계를 맺을지</a:t>
            </a:r>
            <a:r>
              <a:rPr lang="en-US" altLang="ko-KR" b="1" dirty="0">
                <a:solidFill>
                  <a:srgbClr val="0070C0"/>
                </a:solidFill>
              </a:rPr>
              <a:t>"</a:t>
            </a:r>
            <a:r>
              <a:rPr lang="ko-KR" altLang="en-US" b="1" dirty="0">
                <a:solidFill>
                  <a:srgbClr val="0070C0"/>
                </a:solidFill>
              </a:rPr>
              <a:t>를 결정했다면</a:t>
            </a:r>
            <a:r>
              <a:rPr lang="en-US" altLang="ko-KR" b="1" dirty="0">
                <a:solidFill>
                  <a:srgbClr val="0070C0"/>
                </a:solidFill>
              </a:rPr>
              <a:t>, FFN</a:t>
            </a:r>
            <a:r>
              <a:rPr lang="ko-KR" altLang="en-US" b="1" dirty="0">
                <a:solidFill>
                  <a:srgbClr val="0070C0"/>
                </a:solidFill>
              </a:rPr>
              <a:t>은 </a:t>
            </a:r>
            <a:r>
              <a:rPr lang="en-US" altLang="ko-KR" b="1" dirty="0">
                <a:solidFill>
                  <a:srgbClr val="0070C0"/>
                </a:solidFill>
              </a:rPr>
              <a:t>"</a:t>
            </a:r>
            <a:r>
              <a:rPr lang="ko-KR" altLang="en-US" b="1" dirty="0">
                <a:solidFill>
                  <a:srgbClr val="0070C0"/>
                </a:solidFill>
              </a:rPr>
              <a:t>각 위치에서의 </a:t>
            </a:r>
            <a:endParaRPr lang="en-US" altLang="ko-KR" b="1" dirty="0">
              <a:solidFill>
                <a:srgbClr val="0070C0"/>
              </a:solidFill>
            </a:endParaRPr>
          </a:p>
          <a:p>
            <a:pPr marL="334963" lvl="1" indent="0">
              <a:lnSpc>
                <a:spcPct val="150000"/>
              </a:lnSpc>
              <a:buNone/>
            </a:pPr>
            <a:r>
              <a:rPr lang="en-US" altLang="ko-KR" b="1" dirty="0">
                <a:solidFill>
                  <a:srgbClr val="0070C0"/>
                </a:solidFill>
              </a:rPr>
              <a:t>         </a:t>
            </a:r>
            <a:r>
              <a:rPr lang="ko-KR" altLang="en-US" b="1" dirty="0">
                <a:solidFill>
                  <a:srgbClr val="0070C0"/>
                </a:solidFill>
              </a:rPr>
              <a:t>정보를 어떻게 바꿀지</a:t>
            </a:r>
            <a:r>
              <a:rPr lang="en-US" altLang="ko-KR" b="1" dirty="0">
                <a:solidFill>
                  <a:srgbClr val="0070C0"/>
                </a:solidFill>
              </a:rPr>
              <a:t>"</a:t>
            </a:r>
            <a:r>
              <a:rPr lang="ko-KR" altLang="en-US" b="1" dirty="0">
                <a:solidFill>
                  <a:srgbClr val="0070C0"/>
                </a:solidFill>
              </a:rPr>
              <a:t>를 결정한다</a:t>
            </a:r>
            <a:r>
              <a:rPr lang="en-US" altLang="ko-KR" b="1" dirty="0">
                <a:solidFill>
                  <a:srgbClr val="0070C0"/>
                </a:solidFill>
              </a:rPr>
              <a:t>.</a:t>
            </a:r>
          </a:p>
          <a:p>
            <a:pPr marL="334963" lvl="1" indent="0">
              <a:lnSpc>
                <a:spcPct val="150000"/>
              </a:lnSpc>
              <a:buNone/>
            </a:pPr>
            <a:r>
              <a:rPr lang="en-US" altLang="ko-KR" dirty="0"/>
              <a:t>		</a:t>
            </a:r>
            <a:r>
              <a:rPr lang="ko-KR" altLang="en-US" dirty="0"/>
              <a:t>→ 각 단어의 </a:t>
            </a:r>
            <a:r>
              <a:rPr lang="ko-KR" altLang="en-US" b="1" dirty="0"/>
              <a:t>자기 자신에 대한 정보</a:t>
            </a:r>
            <a:r>
              <a:rPr lang="en-US" altLang="ko-KR" b="1" dirty="0"/>
              <a:t>(</a:t>
            </a:r>
            <a:r>
              <a:rPr lang="ko-KR" altLang="en-US" b="1" dirty="0"/>
              <a:t>벡터</a:t>
            </a:r>
            <a:r>
              <a:rPr lang="en-US" altLang="ko-KR" b="1" dirty="0"/>
              <a:t>)</a:t>
            </a:r>
            <a:r>
              <a:rPr lang="ko-KR" altLang="en-US" b="1" dirty="0"/>
              <a:t>를 더 깊이 가공</a:t>
            </a:r>
            <a:r>
              <a:rPr lang="en-US" altLang="ko-KR" b="1" dirty="0"/>
              <a:t>, </a:t>
            </a:r>
            <a:r>
              <a:rPr lang="ko-KR" altLang="en-US" b="1" dirty="0"/>
              <a:t>변형</a:t>
            </a:r>
            <a:br>
              <a:rPr lang="ko-KR" altLang="en-US" dirty="0"/>
            </a:br>
            <a:r>
              <a:rPr lang="en-US" altLang="ko-KR" dirty="0"/>
              <a:t>		</a:t>
            </a:r>
            <a:r>
              <a:rPr lang="ko-KR" altLang="en-US" dirty="0"/>
              <a:t>→ </a:t>
            </a:r>
            <a:r>
              <a:rPr lang="ko-KR" altLang="en-US" b="1" dirty="0"/>
              <a:t>문맥과 상관없이 각 토큰 독립적으로 처리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FFN</a:t>
            </a:r>
            <a:r>
              <a:rPr lang="ko-KR" altLang="en-US" dirty="0"/>
              <a:t>에서 </a:t>
            </a:r>
            <a:r>
              <a:rPr lang="en-US" altLang="ko-KR" b="1" dirty="0"/>
              <a:t>"</a:t>
            </a:r>
            <a:r>
              <a:rPr lang="ko-KR" altLang="en-US" b="1" dirty="0"/>
              <a:t>각 위치의 벡터</a:t>
            </a:r>
            <a:r>
              <a:rPr lang="en-US" altLang="ko-KR" b="1" dirty="0"/>
              <a:t>"</a:t>
            </a:r>
            <a:r>
              <a:rPr lang="ko-KR" altLang="en-US" b="1" dirty="0"/>
              <a:t>란 </a:t>
            </a:r>
            <a:r>
              <a:rPr lang="ko-KR" altLang="en-US" dirty="0"/>
              <a:t>→ 시퀀스의 각 토큰</a:t>
            </a:r>
            <a:r>
              <a:rPr lang="en-US" altLang="ko-KR" dirty="0"/>
              <a:t>(</a:t>
            </a:r>
            <a:r>
              <a:rPr lang="ko-KR" altLang="en-US" dirty="0"/>
              <a:t>단어</a:t>
            </a:r>
            <a:r>
              <a:rPr lang="en-US" altLang="ko-KR" dirty="0"/>
              <a:t>) </a:t>
            </a:r>
            <a:r>
              <a:rPr lang="ko-KR" altLang="en-US" dirty="0"/>
              <a:t>위치마다 독립적으로 처리한다는 뜻임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각 입력 벡터에 대해 개별적으로 같은 함수</a:t>
            </a:r>
            <a:r>
              <a:rPr lang="en-US" altLang="ko-KR" dirty="0"/>
              <a:t>(FFN)</a:t>
            </a:r>
            <a:r>
              <a:rPr lang="ko-KR" altLang="en-US" dirty="0"/>
              <a:t>를 적용한다는 것이다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예를들면</a:t>
            </a:r>
            <a:r>
              <a:rPr lang="en-US" altLang="ko-KR" dirty="0"/>
              <a:t>, </a:t>
            </a:r>
          </a:p>
          <a:p>
            <a:pPr marL="334963" lvl="1" indent="0">
              <a:lnSpc>
                <a:spcPct val="150000"/>
              </a:lnSpc>
              <a:buNone/>
            </a:pPr>
            <a:r>
              <a:rPr lang="en-US" altLang="ko-KR" dirty="0"/>
              <a:t>   “The cat sat on the mat"</a:t>
            </a:r>
            <a:r>
              <a:rPr lang="ko-KR" altLang="en-US" dirty="0"/>
              <a:t>에 대해</a:t>
            </a:r>
            <a:r>
              <a:rPr lang="en-US" altLang="ko-KR" dirty="0"/>
              <a:t>,</a:t>
            </a:r>
          </a:p>
          <a:p>
            <a:pPr marL="334963" lvl="1" indent="0">
              <a:lnSpc>
                <a:spcPct val="150000"/>
              </a:lnSpc>
              <a:buNone/>
            </a:pPr>
            <a:r>
              <a:rPr lang="ko-KR" altLang="en-US" dirty="0"/>
              <a:t>→ </a:t>
            </a:r>
            <a:r>
              <a:rPr lang="ko-KR" altLang="en-US" b="1" dirty="0"/>
              <a:t>이 각 벡터 </a:t>
            </a:r>
            <a:r>
              <a:rPr lang="en-US" altLang="ko-KR" b="1" dirty="0"/>
              <a:t>x1,x2,…,x6​</a:t>
            </a:r>
            <a:r>
              <a:rPr lang="ko-KR" altLang="en-US" b="1" dirty="0"/>
              <a:t>에 대해 </a:t>
            </a:r>
            <a:endParaRPr lang="en-US" altLang="ko-KR" b="1" dirty="0"/>
          </a:p>
          <a:p>
            <a:pPr marL="334963" lvl="1" indent="0">
              <a:lnSpc>
                <a:spcPct val="150000"/>
              </a:lnSpc>
              <a:buNone/>
            </a:pPr>
            <a:r>
              <a:rPr lang="en-US" altLang="ko-KR" b="1" dirty="0"/>
              <a:t>   </a:t>
            </a:r>
            <a:r>
              <a:rPr lang="ko-KR" altLang="en-US" b="1" dirty="0"/>
              <a:t>동일한 </a:t>
            </a:r>
            <a:r>
              <a:rPr lang="en-US" altLang="ko-KR" b="1" dirty="0"/>
              <a:t>feedforward </a:t>
            </a:r>
            <a:r>
              <a:rPr lang="ko-KR" altLang="en-US" b="1" dirty="0"/>
              <a:t>네트워크를 </a:t>
            </a:r>
            <a:endParaRPr lang="en-US" altLang="ko-KR" b="1" dirty="0"/>
          </a:p>
          <a:p>
            <a:pPr marL="334963" lvl="1" indent="0">
              <a:lnSpc>
                <a:spcPct val="150000"/>
              </a:lnSpc>
              <a:buNone/>
            </a:pPr>
            <a:r>
              <a:rPr lang="ko-KR" altLang="en-US" b="1" dirty="0"/>
              <a:t>   독립적으로 적용한다는 의미</a:t>
            </a:r>
            <a:endParaRPr lang="en-US" altLang="ko-KR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3911EC4-B051-8271-5CB6-CDF7E92546D8}"/>
              </a:ext>
            </a:extLst>
          </p:cNvPr>
          <p:cNvSpPr txBox="1">
            <a:spLocks/>
          </p:cNvSpPr>
          <p:nvPr/>
        </p:nvSpPr>
        <p:spPr>
          <a:xfrm>
            <a:off x="496781" y="260615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400" b="1" i="0" dirty="0">
                <a:solidFill>
                  <a:srgbClr val="24292F"/>
                </a:solidFill>
                <a:effectLst/>
                <a:latin typeface="Noto Sans KR"/>
              </a:rPr>
              <a:t>포지션</a:t>
            </a:r>
            <a:r>
              <a:rPr lang="en-US" altLang="ko-KR" sz="2400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sz="2400" b="1" i="0" dirty="0" err="1">
                <a:solidFill>
                  <a:srgbClr val="24292F"/>
                </a:solidFill>
                <a:effectLst/>
                <a:latin typeface="Noto Sans KR"/>
              </a:rPr>
              <a:t>와이즈</a:t>
            </a:r>
            <a:r>
              <a:rPr lang="ko-KR" altLang="en-US" sz="2400" b="1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ko-KR" altLang="en-US" sz="2400" b="1" i="0" dirty="0" err="1">
                <a:solidFill>
                  <a:srgbClr val="24292F"/>
                </a:solidFill>
                <a:effectLst/>
                <a:latin typeface="Noto Sans KR"/>
              </a:rPr>
              <a:t>피드</a:t>
            </a:r>
            <a:r>
              <a:rPr lang="ko-KR" altLang="en-US" sz="2400" b="1" i="0" dirty="0">
                <a:solidFill>
                  <a:srgbClr val="24292F"/>
                </a:solidFill>
                <a:effectLst/>
                <a:latin typeface="Noto Sans KR"/>
              </a:rPr>
              <a:t> 포워드 신경망</a:t>
            </a:r>
            <a:r>
              <a:rPr lang="en-US" altLang="ko-KR" sz="2400" b="1" i="0" dirty="0">
                <a:solidFill>
                  <a:srgbClr val="24292F"/>
                </a:solidFill>
                <a:effectLst/>
                <a:latin typeface="Noto Sans KR"/>
              </a:rPr>
              <a:t>(Position-wise FFNN)</a:t>
            </a:r>
            <a:endParaRPr lang="ko-KR" altLang="en-US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D9CB227-F4AF-75BA-8B5E-7905FEC65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166" y="4753961"/>
            <a:ext cx="2429182" cy="19586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EBC91D9-1D77-C504-64D2-9B4FA9CCE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573" y="4910746"/>
            <a:ext cx="1498974" cy="174880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화살표: 톱니 모양의 오른쪽 11">
            <a:extLst>
              <a:ext uri="{FF2B5EF4-FFF2-40B4-BE49-F238E27FC236}">
                <a16:creationId xmlns:a16="http://schemas.microsoft.com/office/drawing/2014/main" id="{D98B10A2-73CA-920C-8AB7-26EF36698C15}"/>
              </a:ext>
            </a:extLst>
          </p:cNvPr>
          <p:cNvSpPr/>
          <p:nvPr/>
        </p:nvSpPr>
        <p:spPr>
          <a:xfrm>
            <a:off x="6818673" y="5675673"/>
            <a:ext cx="403249" cy="288035"/>
          </a:xfrm>
          <a:prstGeom prst="notchedRightArrow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556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075C-3F3C-1F0E-FE94-AD06BA1D6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1C45939-F204-5C47-6D5A-F9FAAD07D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067113"/>
            <a:ext cx="8353016" cy="5594456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ko-KR" altLang="en-US" sz="1600" dirty="0" err="1"/>
              <a:t>잔차</a:t>
            </a:r>
            <a:r>
              <a:rPr lang="ko-KR" altLang="en-US" sz="1600" dirty="0"/>
              <a:t> 연결</a:t>
            </a:r>
            <a:r>
              <a:rPr lang="en-US" altLang="ko-KR" sz="1600" dirty="0"/>
              <a:t>(Residual Connection)</a:t>
            </a:r>
            <a:r>
              <a:rPr lang="ko-KR" altLang="en-US" sz="1600" dirty="0"/>
              <a:t>은 입력을 변환된 출력과 더하여 신경망의 학습을 안정화하고</a:t>
            </a:r>
            <a:r>
              <a:rPr lang="en-US" altLang="ko-KR" sz="1600" dirty="0"/>
              <a:t>, </a:t>
            </a:r>
            <a:r>
              <a:rPr lang="ko-KR" altLang="en-US" sz="1600" dirty="0"/>
              <a:t>기울기 소실 문제</a:t>
            </a:r>
            <a:r>
              <a:rPr lang="en-US" altLang="ko-KR" sz="1600" dirty="0"/>
              <a:t>(Vanishing Gradient Problem)</a:t>
            </a:r>
            <a:r>
              <a:rPr lang="ko-KR" altLang="en-US" sz="1600" dirty="0"/>
              <a:t>를 완화하는 기법이다</a:t>
            </a:r>
            <a:r>
              <a:rPr lang="en-US" altLang="ko-KR" sz="1600" dirty="0"/>
              <a:t>.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600" dirty="0"/>
              <a:t> Layer Normalization(</a:t>
            </a:r>
            <a:r>
              <a:rPr lang="en-US" altLang="ko-KR" sz="1600" dirty="0" err="1"/>
              <a:t>LayerNorm</a:t>
            </a:r>
            <a:r>
              <a:rPr lang="en-US" altLang="ko-KR" sz="1600" dirty="0"/>
              <a:t>)</a:t>
            </a:r>
            <a:r>
              <a:rPr lang="ko-KR" altLang="en-US" sz="1600" dirty="0"/>
              <a:t>은 신경망의 각 층</a:t>
            </a:r>
            <a:r>
              <a:rPr lang="en-US" altLang="ko-KR" sz="1600" dirty="0"/>
              <a:t>(layer)</a:t>
            </a:r>
            <a:r>
              <a:rPr lang="ko-KR" altLang="en-US" sz="1600" dirty="0"/>
              <a:t>에서 입력 값의 분포를 </a:t>
            </a:r>
            <a:r>
              <a:rPr lang="ko-KR" altLang="en-US" sz="1600" dirty="0" err="1"/>
              <a:t>정규화하여</a:t>
            </a:r>
            <a:r>
              <a:rPr lang="ko-KR" altLang="en-US" sz="1600" dirty="0"/>
              <a:t> 학습을 </a:t>
            </a:r>
            <a:r>
              <a:rPr lang="ko-KR" altLang="en-US" sz="1600" dirty="0" err="1"/>
              <a:t>안정화하는</a:t>
            </a:r>
            <a:r>
              <a:rPr lang="ko-KR" altLang="en-US" sz="1600" dirty="0"/>
              <a:t> 기법이다</a:t>
            </a:r>
            <a:r>
              <a:rPr lang="en-US" altLang="ko-KR" sz="1600" dirty="0"/>
              <a:t>.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600" dirty="0"/>
              <a:t>트랜스포머</a:t>
            </a:r>
            <a:r>
              <a:rPr lang="en-US" altLang="ko-KR" sz="1600" dirty="0"/>
              <a:t>(Transformer) </a:t>
            </a:r>
            <a:r>
              <a:rPr lang="ko-KR" altLang="en-US" sz="1600" dirty="0"/>
              <a:t>모델에서는 각 </a:t>
            </a:r>
            <a:r>
              <a:rPr lang="ko-KR" altLang="en-US" sz="1600" dirty="0" err="1"/>
              <a:t>서브레이어</a:t>
            </a:r>
            <a:r>
              <a:rPr lang="en-US" altLang="ko-KR" sz="1600" dirty="0"/>
              <a:t>(Multi-Head Attention, Feed Forward Network) </a:t>
            </a:r>
            <a:r>
              <a:rPr lang="ko-KR" altLang="en-US" sz="1600" dirty="0"/>
              <a:t>뒤에 </a:t>
            </a:r>
            <a:r>
              <a:rPr lang="en-US" altLang="ko-KR" sz="1600" dirty="0" err="1"/>
              <a:t>LayerNorm</a:t>
            </a:r>
            <a:r>
              <a:rPr lang="ko-KR" altLang="en-US" sz="1600" dirty="0"/>
              <a:t>을 적용하여 기울기 소실 문제를 방지하고 학습 속도를 향상시킨다</a:t>
            </a:r>
            <a:r>
              <a:rPr lang="en-US" altLang="ko-KR" sz="16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B5456A8-A737-79EC-0E81-0D0612AA14BE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5688215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800" b="1" i="0" dirty="0" err="1">
                <a:solidFill>
                  <a:srgbClr val="24292F"/>
                </a:solidFill>
                <a:effectLst/>
                <a:latin typeface="Noto Sans KR"/>
              </a:rPr>
              <a:t>잔차</a:t>
            </a:r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 연결과 층 정규화</a:t>
            </a:r>
            <a:endParaRPr lang="en-US" altLang="ko-KR" sz="2400" b="1" i="0" dirty="0">
              <a:solidFill>
                <a:srgbClr val="24292F"/>
              </a:solidFill>
              <a:effectLst/>
              <a:latin typeface="Noto Sans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85E281-9792-252E-FCD7-DE92A2A61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028" y="3774642"/>
            <a:ext cx="5089386" cy="265649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54BB39E-EFC9-B261-5FF3-685C35143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19" y="3984979"/>
            <a:ext cx="3334493" cy="283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5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3EE89-1E80-9E4A-7D6B-186C4786C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379523-2FAF-A966-6B54-F6163F0DC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175750"/>
            <a:ext cx="8353016" cy="5594456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ko-KR" altLang="en-US" b="1" dirty="0" err="1"/>
              <a:t>잔차</a:t>
            </a:r>
            <a:r>
              <a:rPr lang="ko-KR" altLang="en-US" b="1" dirty="0"/>
              <a:t> 연결</a:t>
            </a:r>
            <a:r>
              <a:rPr lang="en-US" altLang="ko-KR" b="1" dirty="0"/>
              <a:t>(Residual Connection)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전차연결은 입력을 변환된 출력과 더하여 신경망의 학습을 안정화하고</a:t>
            </a:r>
            <a:r>
              <a:rPr lang="en-US" altLang="ko-KR" dirty="0"/>
              <a:t>, </a:t>
            </a:r>
            <a:r>
              <a:rPr lang="ko-KR" altLang="en-US" dirty="0"/>
              <a:t>기울기 소실 문제</a:t>
            </a:r>
            <a:r>
              <a:rPr lang="en-US" altLang="ko-KR" dirty="0"/>
              <a:t>(Vanishing Gradient Problem)</a:t>
            </a:r>
            <a:r>
              <a:rPr lang="ko-KR" altLang="en-US" dirty="0"/>
              <a:t>를 완화하는 기법이다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ko-KR" altLang="en-US" sz="1600" dirty="0"/>
              <a:t>트랜스포머의 각 </a:t>
            </a:r>
            <a:r>
              <a:rPr lang="ko-KR" altLang="en-US" sz="1600" dirty="0" err="1"/>
              <a:t>서브레이어</a:t>
            </a:r>
            <a:r>
              <a:rPr lang="en-US" altLang="ko-KR" sz="1600" dirty="0"/>
              <a:t>(Self-Attention, Feed Forward Network)</a:t>
            </a:r>
            <a:r>
              <a:rPr lang="ko-KR" altLang="en-US" sz="1600" dirty="0"/>
              <a:t>에는 </a:t>
            </a:r>
            <a:r>
              <a:rPr lang="ko-KR" altLang="en-US" sz="1600" b="1" dirty="0"/>
              <a:t>잔차 연결이 적용</a:t>
            </a:r>
            <a:r>
              <a:rPr lang="ko-KR" altLang="en-US" sz="1600" dirty="0"/>
              <a:t>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ko-KR" altLang="en-US" sz="1600" dirty="0" err="1"/>
              <a:t>잔차</a:t>
            </a:r>
            <a:r>
              <a:rPr lang="ko-KR" altLang="en-US" sz="1600" dirty="0"/>
              <a:t> 연결을 사용하면</a:t>
            </a:r>
            <a:r>
              <a:rPr lang="en-US" altLang="ko-KR" sz="1600" dirty="0"/>
              <a:t>, </a:t>
            </a:r>
            <a:r>
              <a:rPr lang="ko-KR" altLang="en-US" sz="1600" b="1" dirty="0"/>
              <a:t>입력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𝑥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과 변환된 출력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𝑓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𝑥</a:t>
            </a:r>
            <a:r>
              <a:rPr lang="en-US" altLang="ko-KR" sz="1600" b="1" dirty="0"/>
              <a:t>))</a:t>
            </a:r>
            <a:r>
              <a:rPr lang="ko-KR" altLang="en-US" sz="1600" b="1" dirty="0"/>
              <a:t>을 더하는</a:t>
            </a:r>
            <a:r>
              <a:rPr lang="en-US" altLang="ko-KR" sz="1600" b="1" dirty="0"/>
              <a:t>(skip connection) </a:t>
            </a:r>
            <a:r>
              <a:rPr lang="ko-KR" altLang="en-US" sz="1600" b="1" dirty="0"/>
              <a:t>구조가 된다</a:t>
            </a:r>
            <a:r>
              <a:rPr lang="en-US" altLang="ko-KR" sz="1600" b="1" dirty="0"/>
              <a:t>.</a:t>
            </a:r>
            <a:endParaRPr lang="en-US" altLang="ko-KR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CF924C-1806-68B7-287B-D8704225A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697" y="4033873"/>
            <a:ext cx="3592581" cy="4032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11BDC5E-19C1-DEBA-B003-0682CC700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28" y="4753961"/>
            <a:ext cx="6093252" cy="14977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62CAAB4-9AD7-026B-D68F-CDBAF0437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923" y="4683042"/>
            <a:ext cx="1619476" cy="19719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8A70709-DA53-39C5-9C27-574EE88B8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073" y="4140663"/>
            <a:ext cx="1752845" cy="40010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F6D7BCD-007E-034B-5C64-46634A4972E4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5688215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800" b="1" i="0" dirty="0" err="1">
                <a:solidFill>
                  <a:srgbClr val="24292F"/>
                </a:solidFill>
                <a:effectLst/>
                <a:latin typeface="Noto Sans KR"/>
              </a:rPr>
              <a:t>잔차</a:t>
            </a:r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 연결과 층 정규화</a:t>
            </a:r>
            <a:endParaRPr lang="en-US" altLang="ko-KR" sz="2400" b="1" i="0" dirty="0">
              <a:solidFill>
                <a:srgbClr val="24292F"/>
              </a:solidFill>
              <a:effectLst/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125206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CDF3-170A-7413-C5EF-181A9D79D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FB9D93E-750A-D685-E26D-FE73FD0B3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894291"/>
            <a:ext cx="8353016" cy="5844141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층 정규화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(Layer Normalization)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Layer Normalization</a:t>
            </a:r>
            <a:r>
              <a:rPr lang="ko-KR" altLang="en-US" dirty="0"/>
              <a:t>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각 레이어마다 “출력 값의 범위를 일정하게 맞춰주는 자동 조절기”</a:t>
            </a:r>
            <a:br>
              <a:rPr lang="ko-KR" altLang="en-US" dirty="0"/>
            </a:br>
            <a:r>
              <a:rPr lang="ko-KR" altLang="en-US" dirty="0"/>
              <a:t>→ 각 레이어가 </a:t>
            </a:r>
            <a:r>
              <a:rPr lang="ko-KR" altLang="en-US" b="1" dirty="0"/>
              <a:t>너무 큰 값이나 너무 작은 값 때문에 망가지지 않고</a:t>
            </a:r>
            <a:r>
              <a:rPr lang="en-US" altLang="ko-KR" b="1" dirty="0"/>
              <a:t>, </a:t>
            </a:r>
            <a:r>
              <a:rPr lang="ko-KR" altLang="en-US" b="1" dirty="0"/>
              <a:t>일정한 상태에서 학습을 이어갈 수 있게 함</a:t>
            </a:r>
            <a:endParaRPr lang="en-US" altLang="ko-KR" b="0" i="0" dirty="0">
              <a:solidFill>
                <a:srgbClr val="24292F"/>
              </a:solidFill>
              <a:effectLst/>
              <a:latin typeface="Noto Sans KR"/>
            </a:endParaRPr>
          </a:p>
          <a:p>
            <a:pPr lvl="1">
              <a:lnSpc>
                <a:spcPct val="150000"/>
              </a:lnSpc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층 정규화를 위해서 우선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화살표 방향으로 각각 평균 </a:t>
            </a:r>
            <a:r>
              <a:rPr lang="en-US" altLang="ko-KR" dirty="0"/>
              <a:t>μ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과 분산 </a:t>
            </a:r>
            <a:r>
              <a:rPr lang="en-US" altLang="ko-KR" dirty="0"/>
              <a:t>σ2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을 구한다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sz="1400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endParaRPr lang="en-US" altLang="ko-KR" sz="1400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endParaRPr lang="en-US" altLang="ko-KR" sz="1400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endParaRPr lang="en-US" altLang="ko-KR" sz="1400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b="0" i="0" dirty="0">
                <a:solidFill>
                  <a:srgbClr val="24292F"/>
                </a:solidFill>
                <a:effectLst/>
                <a:latin typeface="Noto Sans KR"/>
              </a:rPr>
              <a:t>층 정규화를 수행한 후에는 벡터                   라는 벡터로 정규화가 된다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Noto Sans KR"/>
              </a:rPr>
              <a:t>.</a:t>
            </a: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6A0BF5-2253-0220-3D08-3EC78D5A8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004" y="3256179"/>
            <a:ext cx="2699583" cy="15512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9BAE211-429A-E5CF-6FB1-40B419486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637" y="4980252"/>
            <a:ext cx="771633" cy="247685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338A792-3B4B-E9B5-FAEF-A319EF11F9BD}"/>
              </a:ext>
            </a:extLst>
          </p:cNvPr>
          <p:cNvGrpSpPr/>
          <p:nvPr/>
        </p:nvGrpSpPr>
        <p:grpSpPr>
          <a:xfrm>
            <a:off x="1197334" y="5227937"/>
            <a:ext cx="6749332" cy="1570946"/>
            <a:chOff x="1336695" y="5084046"/>
            <a:chExt cx="7094974" cy="168616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BC8E23F-1713-8F93-F5DC-91D5BC8F3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46894" y="5363299"/>
              <a:ext cx="2333951" cy="304843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0F75447-C920-C7C0-B968-AFE3EB160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6695" y="5691182"/>
              <a:ext cx="2954351" cy="104725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B353998-CF71-F70E-0E0B-0069A7484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35453" y="5084046"/>
              <a:ext cx="3696216" cy="1686160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A6CC3753-2C58-F8F8-6960-36E10D53E006}"/>
              </a:ext>
            </a:extLst>
          </p:cNvPr>
          <p:cNvSpPr txBox="1">
            <a:spLocks/>
          </p:cNvSpPr>
          <p:nvPr/>
        </p:nvSpPr>
        <p:spPr>
          <a:xfrm>
            <a:off x="496781" y="203008"/>
            <a:ext cx="5688215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800" b="1" i="0" dirty="0" err="1">
                <a:solidFill>
                  <a:srgbClr val="24292F"/>
                </a:solidFill>
                <a:effectLst/>
                <a:latin typeface="Noto Sans KR"/>
              </a:rPr>
              <a:t>잔차</a:t>
            </a:r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 연결과 층 정규화</a:t>
            </a:r>
            <a:endParaRPr lang="en-US" altLang="ko-KR" sz="2400" b="1" i="0" dirty="0">
              <a:solidFill>
                <a:srgbClr val="24292F"/>
              </a:solidFill>
              <a:effectLst/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979783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2275-E8E1-4107-4823-9DF1D3C9A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BB4F29A-0846-E9FE-AABC-D31A69ECE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894291"/>
            <a:ext cx="8353016" cy="5844141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층 정규화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(Layer Normalization)</a:t>
            </a:r>
          </a:p>
          <a:p>
            <a:pPr lvl="1">
              <a:lnSpc>
                <a:spcPct val="150000"/>
              </a:lnSpc>
            </a:pPr>
            <a:r>
              <a:rPr lang="ko-KR" altLang="en-US" sz="1700" dirty="0"/>
              <a:t>왜 </a:t>
            </a:r>
            <a:r>
              <a:rPr lang="en-US" altLang="ko-KR" sz="1700" dirty="0"/>
              <a:t>gamma</a:t>
            </a:r>
            <a:r>
              <a:rPr lang="ko-KR" altLang="en-US" sz="1700" dirty="0"/>
              <a:t>와 </a:t>
            </a:r>
            <a:r>
              <a:rPr lang="en-US" altLang="ko-KR" sz="1700" dirty="0"/>
              <a:t>beta</a:t>
            </a:r>
            <a:r>
              <a:rPr lang="ko-KR" altLang="en-US" sz="1700" dirty="0"/>
              <a:t>가 필요한가</a:t>
            </a:r>
            <a:r>
              <a:rPr lang="en-US" altLang="ko-KR" sz="1700" dirty="0"/>
              <a:t>?</a:t>
            </a:r>
          </a:p>
          <a:p>
            <a:pPr lvl="1">
              <a:lnSpc>
                <a:spcPct val="150000"/>
              </a:lnSpc>
            </a:pPr>
            <a:endParaRPr lang="en-US" altLang="ko-KR" sz="1700" dirty="0"/>
          </a:p>
          <a:p>
            <a:pPr lvl="1">
              <a:lnSpc>
                <a:spcPct val="150000"/>
              </a:lnSpc>
            </a:pPr>
            <a:endParaRPr lang="en-US" altLang="ko-KR" sz="1700" dirty="0"/>
          </a:p>
          <a:p>
            <a:pPr marL="334963" lvl="1" indent="0">
              <a:lnSpc>
                <a:spcPct val="150000"/>
              </a:lnSpc>
              <a:buNone/>
            </a:pPr>
            <a:endParaRPr lang="en-US" altLang="ko-KR" sz="1700" dirty="0"/>
          </a:p>
          <a:p>
            <a:pPr lvl="1">
              <a:lnSpc>
                <a:spcPct val="150000"/>
              </a:lnSpc>
            </a:pPr>
            <a:r>
              <a:rPr lang="en-US" altLang="ko-KR" sz="1700" dirty="0" err="1"/>
              <a:t>LayerNorm</a:t>
            </a:r>
            <a:r>
              <a:rPr lang="ko-KR" altLang="en-US" sz="1700" dirty="0"/>
              <a:t>의 기본 정규화만 쓰면</a:t>
            </a:r>
            <a:r>
              <a:rPr lang="en-US" altLang="ko-KR" sz="1700" dirty="0"/>
              <a:t>,</a:t>
            </a:r>
            <a:br>
              <a:rPr lang="en-US" altLang="ko-KR" sz="1700" dirty="0"/>
            </a:br>
            <a:r>
              <a:rPr lang="en-US" altLang="ko-KR" sz="1700" dirty="0"/>
              <a:t>→ </a:t>
            </a:r>
            <a:r>
              <a:rPr lang="ko-KR" altLang="en-US" sz="1700" b="1" dirty="0"/>
              <a:t>항상 평균 </a:t>
            </a:r>
            <a:r>
              <a:rPr lang="en-US" altLang="ko-KR" sz="1700" b="1" dirty="0"/>
              <a:t>0, </a:t>
            </a:r>
            <a:r>
              <a:rPr lang="ko-KR" altLang="en-US" sz="1700" b="1" dirty="0"/>
              <a:t>분산 </a:t>
            </a:r>
            <a:r>
              <a:rPr lang="en-US" altLang="ko-KR" sz="1700" b="1" dirty="0"/>
              <a:t>1</a:t>
            </a:r>
            <a:r>
              <a:rPr lang="ko-KR" altLang="en-US" sz="1700" b="1" dirty="0"/>
              <a:t>인 분포로 제한</a:t>
            </a:r>
            <a:endParaRPr lang="ko-KR" altLang="en-US" sz="1700" dirty="0"/>
          </a:p>
          <a:p>
            <a:pPr>
              <a:lnSpc>
                <a:spcPct val="150000"/>
              </a:lnSpc>
              <a:buNone/>
            </a:pPr>
            <a:r>
              <a:rPr lang="ko-KR" altLang="en-US" sz="1700" dirty="0"/>
              <a:t>        </a:t>
            </a:r>
            <a:r>
              <a:rPr lang="en-US" altLang="ko-KR" sz="1700" dirty="0"/>
              <a:t>→ </a:t>
            </a:r>
            <a:r>
              <a:rPr lang="ko-KR" altLang="en-US" sz="1700" dirty="0"/>
              <a:t>그런데 </a:t>
            </a:r>
            <a:r>
              <a:rPr lang="ko-KR" altLang="en-US" sz="1700" b="1" dirty="0"/>
              <a:t>모든 </a:t>
            </a:r>
            <a:r>
              <a:rPr lang="en-US" altLang="ko-KR" sz="1700" b="1" dirty="0"/>
              <a:t>feature</a:t>
            </a:r>
            <a:r>
              <a:rPr lang="ko-KR" altLang="en-US" sz="1700" b="1" dirty="0"/>
              <a:t>가 항상 평균 </a:t>
            </a:r>
            <a:r>
              <a:rPr lang="en-US" altLang="ko-KR" sz="1700" b="1" dirty="0"/>
              <a:t>0, </a:t>
            </a:r>
            <a:r>
              <a:rPr lang="ko-KR" altLang="en-US" sz="1700" b="1" dirty="0"/>
              <a:t>분산 </a:t>
            </a:r>
            <a:r>
              <a:rPr lang="en-US" altLang="ko-KR" sz="1700" b="1" dirty="0"/>
              <a:t>1</a:t>
            </a:r>
            <a:r>
              <a:rPr lang="ko-KR" altLang="en-US" sz="1700" b="1" dirty="0"/>
              <a:t>이어야 할 이유는 없음</a:t>
            </a:r>
            <a:br>
              <a:rPr lang="ko-KR" altLang="en-US" sz="1700" dirty="0"/>
            </a:br>
            <a:r>
              <a:rPr lang="ko-KR" altLang="en-US" sz="1700" dirty="0"/>
              <a:t>        어떤 </a:t>
            </a:r>
            <a:r>
              <a:rPr lang="en-US" altLang="ko-KR" sz="1700" dirty="0"/>
              <a:t>feature</a:t>
            </a:r>
            <a:r>
              <a:rPr lang="ko-KR" altLang="en-US" sz="1700" dirty="0"/>
              <a:t>는 더 크거나</a:t>
            </a:r>
            <a:r>
              <a:rPr lang="en-US" altLang="ko-KR" sz="1700" dirty="0"/>
              <a:t>, </a:t>
            </a:r>
            <a:r>
              <a:rPr lang="ko-KR" altLang="en-US" sz="1700" dirty="0"/>
              <a:t>더 작거나</a:t>
            </a:r>
            <a:r>
              <a:rPr lang="en-US" altLang="ko-KR" sz="1700" dirty="0"/>
              <a:t>, </a:t>
            </a:r>
            <a:r>
              <a:rPr lang="ko-KR" altLang="en-US" sz="1700" dirty="0"/>
              <a:t>특정 방향으로 치우쳐야 할 수도 있죠</a:t>
            </a:r>
            <a:r>
              <a:rPr lang="en-US" altLang="ko-KR" sz="1700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700" dirty="0"/>
              <a:t>	✔️ </a:t>
            </a:r>
            <a:r>
              <a:rPr lang="en-US" altLang="ko-KR" sz="1700" b="1" dirty="0"/>
              <a:t>gamma</a:t>
            </a:r>
            <a:r>
              <a:rPr lang="ko-KR" altLang="en-US" sz="1700" b="1" dirty="0"/>
              <a:t>와 </a:t>
            </a:r>
            <a:r>
              <a:rPr lang="en-US" altLang="ko-KR" sz="1700" b="1" dirty="0"/>
              <a:t>beta</a:t>
            </a:r>
            <a:r>
              <a:rPr lang="ko-KR" altLang="en-US" sz="1700" b="1" dirty="0"/>
              <a:t>를 추가하면</a:t>
            </a:r>
            <a:r>
              <a:rPr lang="en-US" altLang="ko-KR" sz="1700" b="1" dirty="0"/>
              <a:t>,</a:t>
            </a:r>
            <a:endParaRPr lang="ko-KR" altLang="en-US" sz="1700" dirty="0"/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700" dirty="0"/>
              <a:t>모델이 </a:t>
            </a:r>
            <a:r>
              <a:rPr lang="ko-KR" altLang="en-US" sz="1700" b="1" dirty="0"/>
              <a:t>스스로 “얼마나 스케일링</a:t>
            </a:r>
            <a:r>
              <a:rPr lang="en-US" altLang="ko-KR" sz="1700" b="1" dirty="0"/>
              <a:t>/</a:t>
            </a:r>
            <a:r>
              <a:rPr lang="ko-KR" altLang="en-US" sz="1700" b="1" dirty="0" err="1"/>
              <a:t>시프트”할지</a:t>
            </a:r>
            <a:r>
              <a:rPr lang="ko-KR" altLang="en-US" sz="1700" b="1" dirty="0"/>
              <a:t> 학습</a:t>
            </a:r>
            <a:endParaRPr lang="ko-KR" altLang="en-US" sz="1700" dirty="0"/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700" b="1" dirty="0">
                <a:solidFill>
                  <a:srgbClr val="0070C0"/>
                </a:solidFill>
              </a:rPr>
              <a:t>정규화의 “과도한 </a:t>
            </a:r>
            <a:r>
              <a:rPr lang="ko-KR" altLang="en-US" sz="1700" b="1" dirty="0" err="1">
                <a:solidFill>
                  <a:srgbClr val="0070C0"/>
                </a:solidFill>
              </a:rPr>
              <a:t>제한”을</a:t>
            </a:r>
            <a:r>
              <a:rPr lang="ko-KR" altLang="en-US" sz="1700" b="1" dirty="0">
                <a:solidFill>
                  <a:srgbClr val="0070C0"/>
                </a:solidFill>
              </a:rPr>
              <a:t> </a:t>
            </a:r>
            <a:r>
              <a:rPr lang="ko-KR" altLang="en-US" sz="1700" b="1" dirty="0" err="1">
                <a:solidFill>
                  <a:srgbClr val="0070C0"/>
                </a:solidFill>
              </a:rPr>
              <a:t>풀어줌</a:t>
            </a:r>
            <a:endParaRPr lang="ko-KR" altLang="en-US" sz="1700" b="1" dirty="0">
              <a:solidFill>
                <a:srgbClr val="0070C0"/>
              </a:solidFill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700" dirty="0"/>
              <a:t>필요할 경우</a:t>
            </a:r>
            <a:r>
              <a:rPr lang="en-US" altLang="ko-KR" sz="1700" dirty="0"/>
              <a:t>, </a:t>
            </a:r>
            <a:r>
              <a:rPr lang="ko-KR" altLang="en-US" sz="1700" dirty="0"/>
              <a:t>정규화를 “</a:t>
            </a:r>
            <a:r>
              <a:rPr lang="ko-KR" altLang="en-US" sz="1700" dirty="0" err="1"/>
              <a:t>무효화”할</a:t>
            </a:r>
            <a:r>
              <a:rPr lang="ko-KR" altLang="en-US" sz="1700" dirty="0"/>
              <a:t> 수도 있음 </a:t>
            </a:r>
            <a:r>
              <a:rPr lang="en-US" altLang="ko-KR" sz="1700" dirty="0"/>
              <a:t>(γ=σ, β=μ)</a:t>
            </a:r>
          </a:p>
          <a:p>
            <a:pPr lvl="1">
              <a:lnSpc>
                <a:spcPct val="150000"/>
              </a:lnSpc>
            </a:pPr>
            <a:r>
              <a:rPr lang="ko-KR" altLang="en-US" sz="1700" dirty="0"/>
              <a:t>결과적으로</a:t>
            </a:r>
            <a:r>
              <a:rPr lang="en-US" altLang="ko-KR" sz="1700" dirty="0"/>
              <a:t>:</a:t>
            </a:r>
            <a:br>
              <a:rPr lang="en-US" altLang="ko-KR" sz="1700" dirty="0"/>
            </a:br>
            <a:r>
              <a:rPr lang="en-US" altLang="ko-KR" sz="1700" dirty="0"/>
              <a:t>→ </a:t>
            </a:r>
            <a:r>
              <a:rPr lang="ko-KR" altLang="en-US" sz="1700" b="1" dirty="0">
                <a:solidFill>
                  <a:srgbClr val="0070C0"/>
                </a:solidFill>
              </a:rPr>
              <a:t>정규화는 하되</a:t>
            </a:r>
            <a:r>
              <a:rPr lang="en-US" altLang="ko-KR" sz="1700" b="1" dirty="0">
                <a:solidFill>
                  <a:srgbClr val="0070C0"/>
                </a:solidFill>
              </a:rPr>
              <a:t>, </a:t>
            </a:r>
            <a:r>
              <a:rPr lang="ko-KR" altLang="en-US" sz="1700" b="1" dirty="0">
                <a:solidFill>
                  <a:srgbClr val="0070C0"/>
                </a:solidFill>
              </a:rPr>
              <a:t>표현력은 잃지 않도록 보완</a:t>
            </a:r>
            <a:endParaRPr lang="en-US" altLang="ko-KR" sz="1700" b="1" dirty="0">
              <a:solidFill>
                <a:srgbClr val="0070C0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95D7A6E-0AA3-FF2A-68C4-CDB0D79AA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66" y="1758397"/>
            <a:ext cx="2810425" cy="97569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40BDD5-7745-2D71-7B15-CD22134E8A06}"/>
              </a:ext>
            </a:extLst>
          </p:cNvPr>
          <p:cNvSpPr txBox="1">
            <a:spLocks/>
          </p:cNvSpPr>
          <p:nvPr/>
        </p:nvSpPr>
        <p:spPr>
          <a:xfrm>
            <a:off x="496781" y="203008"/>
            <a:ext cx="5688215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800" b="1" i="0" dirty="0" err="1">
                <a:solidFill>
                  <a:srgbClr val="24292F"/>
                </a:solidFill>
                <a:effectLst/>
                <a:latin typeface="Noto Sans KR"/>
              </a:rPr>
              <a:t>잔차</a:t>
            </a:r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 연결과 층 정규화</a:t>
            </a:r>
            <a:endParaRPr lang="en-US" altLang="ko-KR" sz="2400" b="1" i="0" dirty="0">
              <a:solidFill>
                <a:srgbClr val="24292F"/>
              </a:solidFill>
              <a:effectLst/>
              <a:latin typeface="Noto Sans KR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234F978-76C2-7D43-76AA-47EE959DF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358" y="2047799"/>
            <a:ext cx="3516334" cy="67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94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C314B-F7D6-5089-A6BB-826A5DE22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F5ABFD6-2AAC-61D5-1498-9F21C22D2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067113"/>
            <a:ext cx="8353016" cy="5594456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ko-KR" altLang="en-US" b="1" dirty="0" err="1"/>
              <a:t>잔차</a:t>
            </a:r>
            <a:r>
              <a:rPr lang="ko-KR" altLang="en-US" b="1" dirty="0"/>
              <a:t> 연결</a:t>
            </a:r>
            <a:r>
              <a:rPr lang="en-US" altLang="ko-KR" b="1" dirty="0"/>
              <a:t>(Residual Connection)</a:t>
            </a:r>
            <a:r>
              <a:rPr lang="ko-KR" altLang="en-US" b="1" dirty="0"/>
              <a:t>과　층　정규화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347663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attention1 +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inputs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잔차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연결 (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Residual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self-attention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결과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attention1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에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입력값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inputs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을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더해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준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다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모델이 깊어져도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기존 정보가 유지되도록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도와주는 장치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특히 학습 초기에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기울기 소실 방지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와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정보 흐름 보존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에 유리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L="347663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　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LayerNormalization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epsilon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=1e-6)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층 정규화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적용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각 시퀀스 벡터(예: 한 단어의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임베딩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)에 대해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평균 0, 분산 1로 정규화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학습 안정성 향상, 수렴 속도 개선,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과적합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완화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epsilon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=1e-6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은 분산이 0에 가까울 때를 방지하는 작은 값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다.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364581F-859B-5FE7-4356-873DBDB81CA5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5688215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800" b="1" i="0" dirty="0" err="1">
                <a:solidFill>
                  <a:srgbClr val="24292F"/>
                </a:solidFill>
                <a:effectLst/>
                <a:latin typeface="Noto Sans KR"/>
              </a:rPr>
              <a:t>잔차</a:t>
            </a:r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 연결과 층 정규화</a:t>
            </a:r>
            <a:endParaRPr lang="en-US" altLang="ko-KR" sz="2400" b="1" i="0" dirty="0">
              <a:solidFill>
                <a:srgbClr val="24292F"/>
              </a:solidFill>
              <a:effectLst/>
              <a:latin typeface="Noto Sans KR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89191E-77EF-86A5-D9B1-E2E9BB51A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87" y="1585576"/>
            <a:ext cx="5587879" cy="99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22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7954F-84AC-19A6-320A-1481DF5E2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6B08006-EB10-0DA1-8CA8-8C4BFF248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182327"/>
            <a:ext cx="8353016" cy="553027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  </a:t>
            </a:r>
            <a:r>
              <a:rPr lang="ko-KR" altLang="en-US" b="1" dirty="0">
                <a:solidFill>
                  <a:srgbClr val="24292F"/>
                </a:solidFill>
                <a:latin typeface="Noto Sans KR"/>
              </a:rPr>
              <a:t>트랜스포머 </a:t>
            </a: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&lt;PAD&gt; : </a:t>
            </a:r>
            <a:r>
              <a:rPr lang="ko-KR" altLang="en-US" b="1" dirty="0"/>
              <a:t>입력 시퀀스의 길이를 통일해야 하는 이유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GPU </a:t>
            </a:r>
            <a:r>
              <a:rPr lang="ko-KR" altLang="en-US" b="1" dirty="0"/>
              <a:t>연산은 동일 </a:t>
            </a:r>
            <a:r>
              <a:rPr lang="en-US" altLang="ko-KR" b="1" dirty="0"/>
              <a:t>shape</a:t>
            </a:r>
            <a:r>
              <a:rPr lang="ko-KR" altLang="en-US" b="1" dirty="0"/>
              <a:t>을 전제로 함</a:t>
            </a:r>
            <a:endParaRPr lang="en-US" altLang="ko-KR" b="1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Transformer </a:t>
            </a:r>
            <a:r>
              <a:rPr lang="ko-KR" altLang="en-US" sz="1600" dirty="0"/>
              <a:t>내부의 연산</a:t>
            </a:r>
            <a:r>
              <a:rPr lang="en-US" altLang="ko-KR" sz="1600" dirty="0"/>
              <a:t>(</a:t>
            </a:r>
            <a:r>
              <a:rPr lang="ko-KR" altLang="en-US" sz="1600" dirty="0"/>
              <a:t>특히 </a:t>
            </a:r>
            <a:r>
              <a:rPr lang="ko-KR" altLang="en-US" sz="1600" b="1" dirty="0"/>
              <a:t>행렬 곱</a:t>
            </a:r>
            <a:r>
              <a:rPr lang="en-US" altLang="ko-KR" sz="1600" b="1" dirty="0"/>
              <a:t>, Multi-Head Attention</a:t>
            </a:r>
            <a:r>
              <a:rPr lang="en-US" altLang="ko-KR" sz="1600" dirty="0"/>
              <a:t>)</a:t>
            </a:r>
            <a:r>
              <a:rPr lang="ko-KR" altLang="en-US" sz="1600" dirty="0"/>
              <a:t>은</a:t>
            </a:r>
            <a:br>
              <a:rPr lang="ko-KR" altLang="en-US" sz="1600" dirty="0"/>
            </a:br>
            <a:r>
              <a:rPr lang="ko-KR" altLang="en-US" sz="1600" dirty="0"/>
              <a:t>배치 단위로 병렬 수행되므로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각 샘플의 </a:t>
            </a:r>
            <a:r>
              <a:rPr lang="en-US" altLang="ko-KR" sz="1600" dirty="0"/>
              <a:t>Q, K, V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텐서</a:t>
            </a:r>
            <a:r>
              <a:rPr lang="ko-KR" altLang="en-US" sz="1600" dirty="0"/>
              <a:t> 크기가 같아야 병렬 연산이 가능하다</a:t>
            </a:r>
            <a:r>
              <a:rPr lang="en-US" altLang="ko-KR" sz="1600" dirty="0"/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예를 들어 </a:t>
            </a:r>
            <a:r>
              <a:rPr lang="en-US" altLang="ko-KR" sz="1600" dirty="0" err="1"/>
              <a:t>tf.matmul</a:t>
            </a:r>
            <a:r>
              <a:rPr lang="en-US" altLang="ko-KR" sz="1600" dirty="0"/>
              <a:t>(Q, Kᵀ)</a:t>
            </a:r>
            <a:r>
              <a:rPr lang="ko-KR" altLang="en-US" sz="1600" dirty="0"/>
              <a:t> 수행 시</a:t>
            </a:r>
            <a:br>
              <a:rPr lang="ko-KR" altLang="en-US" sz="1600" dirty="0"/>
            </a:br>
            <a:r>
              <a:rPr lang="en-US" altLang="ko-KR" sz="1600" dirty="0"/>
              <a:t>Q</a:t>
            </a:r>
            <a:r>
              <a:rPr lang="ko-KR" altLang="en-US" sz="1600" dirty="0"/>
              <a:t>와 </a:t>
            </a:r>
            <a:r>
              <a:rPr lang="en-US" altLang="ko-KR" sz="1600" dirty="0"/>
              <a:t>K</a:t>
            </a:r>
            <a:r>
              <a:rPr lang="ko-KR" altLang="en-US" sz="1600" dirty="0"/>
              <a:t>의 </a:t>
            </a:r>
            <a:r>
              <a:rPr lang="en-US" altLang="ko-KR" sz="1600" dirty="0"/>
              <a:t>shape</a:t>
            </a:r>
            <a:r>
              <a:rPr lang="ko-KR" altLang="en-US" sz="1600" dirty="0"/>
              <a:t>은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batch_size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seq_len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d_model</a:t>
            </a:r>
            <a:r>
              <a:rPr lang="en-US" altLang="ko-KR" sz="1600" dirty="0"/>
              <a:t>)</a:t>
            </a:r>
            <a:r>
              <a:rPr lang="ko-KR" altLang="en-US" sz="1600" dirty="0"/>
              <a:t>로 동일해야 한다</a:t>
            </a:r>
            <a:r>
              <a:rPr lang="en-US" altLang="ko-KR" sz="1600" dirty="0"/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sz="1600" b="1" dirty="0"/>
              <a:t>패딩</a:t>
            </a:r>
            <a:r>
              <a:rPr lang="en-US" altLang="ko-KR" sz="1600" b="1" dirty="0"/>
              <a:t>(</a:t>
            </a:r>
            <a:r>
              <a:rPr lang="en-US" altLang="ko-KR" b="1" dirty="0"/>
              <a:t>padding)</a:t>
            </a:r>
            <a:r>
              <a:rPr lang="ko-KR" altLang="en-US" b="1" dirty="0"/>
              <a:t>과 마스크</a:t>
            </a:r>
            <a:r>
              <a:rPr lang="en-US" altLang="ko-KR" b="1" dirty="0"/>
              <a:t>(mask)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실제 문장 길이가 제 각각이라면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일반적으로 이렇게 처리한다</a:t>
            </a:r>
            <a:r>
              <a:rPr lang="en-US" altLang="ko-KR" sz="1600" dirty="0"/>
              <a:t>.</a:t>
            </a: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가장 긴 시퀀스 길이 </a:t>
            </a:r>
            <a:r>
              <a:rPr lang="en-US" altLang="ko-KR" sz="1600" b="1" dirty="0"/>
              <a:t>= </a:t>
            </a:r>
            <a:r>
              <a:rPr lang="en-US" altLang="ko-KR" sz="1600" b="1" dirty="0" err="1"/>
              <a:t>max_seq_len</a:t>
            </a:r>
            <a:r>
              <a:rPr lang="ko-KR" altLang="en-US" sz="1600" dirty="0"/>
              <a:t> 을 기준으로 잡고</a:t>
            </a:r>
            <a:endParaRPr lang="en-US" altLang="ko-KR" sz="1600" dirty="0"/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짧은 시퀀스는 </a:t>
            </a:r>
            <a:r>
              <a:rPr lang="en-US" altLang="ko-KR" sz="1600" dirty="0"/>
              <a:t>0</a:t>
            </a:r>
            <a:r>
              <a:rPr lang="ko-KR" altLang="en-US" sz="1600" dirty="0"/>
              <a:t> 또는 </a:t>
            </a:r>
            <a:r>
              <a:rPr lang="en-US" altLang="ko-KR" sz="1600" dirty="0"/>
              <a:t>&lt;PAD&gt;</a:t>
            </a:r>
            <a:r>
              <a:rPr lang="ko-KR" altLang="en-US" sz="1600" dirty="0"/>
              <a:t> 토큰으로 채워서 길이를 맞춘다</a:t>
            </a:r>
            <a:r>
              <a:rPr lang="en-US" altLang="ko-KR" sz="1600" dirty="0"/>
              <a:t>.</a:t>
            </a: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이후 </a:t>
            </a:r>
            <a:r>
              <a:rPr lang="en-US" altLang="ko-KR" sz="1600" b="1" dirty="0"/>
              <a:t>Attention Mask</a:t>
            </a:r>
            <a:r>
              <a:rPr lang="ko-KR" altLang="en-US" sz="1600" dirty="0"/>
              <a:t>를 사용해</a:t>
            </a:r>
            <a:br>
              <a:rPr lang="ko-KR" altLang="en-US" sz="1600" dirty="0"/>
            </a:br>
            <a:r>
              <a:rPr lang="ko-KR" altLang="en-US" sz="1600" dirty="0" err="1"/>
              <a:t>패딩된</a:t>
            </a:r>
            <a:r>
              <a:rPr lang="ko-KR" altLang="en-US" sz="1600" dirty="0"/>
              <a:t> 부분이 연산에 영향을 주지 않도록 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3D04BC9F-B07C-4431-80AD-98B13A9D69DE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패딩 마스크</a:t>
            </a:r>
            <a:r>
              <a:rPr lang="en-US" altLang="ko-KR" sz="2800" b="1" i="0" dirty="0">
                <a:solidFill>
                  <a:srgbClr val="24292F"/>
                </a:solidFill>
                <a:effectLst/>
                <a:latin typeface="Noto Sans KR"/>
              </a:rPr>
              <a:t>(Padding Mask)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61892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068D-6B49-A034-2139-EBED479B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5656CCF-2FF6-3EC7-89A0-52409DA7B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182327"/>
            <a:ext cx="8353016" cy="50118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  </a:t>
            </a:r>
            <a:r>
              <a:rPr lang="ko-KR" altLang="en-US" b="1" dirty="0">
                <a:solidFill>
                  <a:srgbClr val="24292F"/>
                </a:solidFill>
                <a:latin typeface="Noto Sans KR"/>
              </a:rPr>
              <a:t>트랜스포머 </a:t>
            </a: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&lt;PAD&gt; : </a:t>
            </a:r>
            <a:r>
              <a:rPr lang="ko-KR" altLang="en-US" b="1" dirty="0"/>
              <a:t>입력 시퀀스의 길이를 통일해야 하는 이유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Transformer</a:t>
            </a:r>
            <a:r>
              <a:rPr lang="ko-KR" altLang="en-US" sz="1600" dirty="0"/>
              <a:t>의 핵심 장점은 </a:t>
            </a:r>
            <a:r>
              <a:rPr lang="en-US" altLang="ko-KR" sz="1600" b="1" dirty="0"/>
              <a:t>RNN</a:t>
            </a:r>
            <a:r>
              <a:rPr lang="ko-KR" altLang="en-US" sz="1600" b="1" dirty="0"/>
              <a:t>과 달리 순차적으로 계산하지 않아도 되는 병렬 처리 능력</a:t>
            </a:r>
            <a:r>
              <a:rPr lang="ko-KR" altLang="en-US" sz="1600" dirty="0"/>
              <a:t>이</a:t>
            </a:r>
            <a:r>
              <a:rPr lang="ko-KR" altLang="en-US" dirty="0"/>
              <a:t>지만 </a:t>
            </a:r>
            <a:r>
              <a:rPr lang="ko-KR" altLang="en-US" sz="1600" dirty="0"/>
              <a:t>이 병렬 처리를 하려면</a:t>
            </a:r>
            <a:r>
              <a:rPr lang="en-US" altLang="ko-KR" sz="1600" dirty="0"/>
              <a:t>, </a:t>
            </a:r>
            <a:r>
              <a:rPr lang="ko-KR" altLang="en-US" sz="1600" dirty="0"/>
              <a:t>입력 데이터를 </a:t>
            </a:r>
            <a:r>
              <a:rPr lang="ko-KR" altLang="en-US" sz="1600" b="1" dirty="0" err="1"/>
              <a:t>텐서</a:t>
            </a:r>
            <a:r>
              <a:rPr lang="ko-KR" altLang="en-US" sz="1600" b="1" dirty="0"/>
              <a:t> 형태</a:t>
            </a:r>
            <a:r>
              <a:rPr lang="ko-KR" altLang="en-US" sz="1600" dirty="0"/>
              <a:t>로 정리해야 함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딥러닝 프레임워크(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)는 GPU 연산 최적화를 위해</a:t>
            </a:r>
            <a:b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모든 시퀀스를 하나의 3D 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텐서로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묶</a:t>
            </a: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이때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</a:rPr>
              <a:t>seq_len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</a:rPr>
              <a:t>은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 고정되어 있어야 GPU 병렬처리가 가능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하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다.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EB0A99D1-A71F-D6BF-C58E-578EC7798D76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패딩 마스크</a:t>
            </a:r>
            <a:r>
              <a:rPr lang="en-US" altLang="ko-KR" sz="2800" b="1" i="0" dirty="0">
                <a:solidFill>
                  <a:srgbClr val="24292F"/>
                </a:solidFill>
                <a:effectLst/>
                <a:latin typeface="Noto Sans KR"/>
              </a:rPr>
              <a:t>(Padding Mask)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9A8860-B920-6ED1-3464-52934B7C7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80" y="2622502"/>
            <a:ext cx="4666167" cy="19164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E210482-0FA4-40DA-2143-EB0EADC2A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923" y="5963189"/>
            <a:ext cx="4771929" cy="46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575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86C68-57DB-E0EA-1192-934C4217A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879652-4FF5-C304-7415-9EE249202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182327"/>
            <a:ext cx="8353016" cy="50118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트랜스포머에서는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Key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의 경우에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&lt;PAD&gt;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토큰이 존재한다면 이에 대해서는 유사도를 구하지 않도록 마스킹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(Masking)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을 해준다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여기서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마스킹이란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어텐션에서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제외하기 위해 값을 가린다는 의미이다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dirty="0"/>
          </a:p>
          <a:p>
            <a:pPr marL="334963" lvl="1" indent="0">
              <a:lnSpc>
                <a:spcPct val="150000"/>
              </a:lnSpc>
              <a:buNone/>
            </a:pPr>
            <a:r>
              <a:rPr lang="en-US" altLang="ko-KR" dirty="0"/>
              <a:t>     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</a:p>
          <a:p>
            <a:pPr marL="334963" lvl="1" indent="0">
              <a:lnSpc>
                <a:spcPct val="150000"/>
              </a:lnSpc>
              <a:buNone/>
            </a:pPr>
            <a:r>
              <a:rPr lang="en-US" altLang="ko-KR" dirty="0">
                <a:sym typeface="Wingdings" panose="05000000000000000000" pitchFamily="2" charset="2"/>
              </a:rPr>
              <a:t>     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BC2B41-E2C0-DEF1-AEC2-C76A90C0B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634" y="3025751"/>
            <a:ext cx="7513464" cy="2765136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589C34FA-8C3A-A545-588D-1A578FEDD051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패딩 마스크</a:t>
            </a:r>
            <a:r>
              <a:rPr lang="en-US" altLang="ko-KR" sz="2800" b="1" i="0" dirty="0">
                <a:solidFill>
                  <a:srgbClr val="24292F"/>
                </a:solidFill>
                <a:effectLst/>
                <a:latin typeface="Noto Sans KR"/>
              </a:rPr>
              <a:t>(Padding Mask)</a:t>
            </a:r>
            <a:endParaRPr lang="ko-KR" altLang="en-US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F289C2-15CE-B74A-5EAF-C2A68FDA3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973" y="6018791"/>
            <a:ext cx="73821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문장마다 길이가 다르기 때문에, 짧은 문장에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pad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토큰을 넣어 길이를 맞췄고,</a:t>
            </a:r>
            <a:b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이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pad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는 실제 의미가 없으므로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Attention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계산에 영향을 주면 안 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된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17B71E-7C58-827F-AF97-20085E88563A}"/>
              </a:ext>
            </a:extLst>
          </p:cNvPr>
          <p:cNvSpPr/>
          <p:nvPr/>
        </p:nvSpPr>
        <p:spPr>
          <a:xfrm>
            <a:off x="5551319" y="4423394"/>
            <a:ext cx="864105" cy="345642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87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203E-A772-E292-6D72-8224F8B5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F36B2BF-6566-3554-4CC6-330AC3DD0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124720"/>
            <a:ext cx="8353016" cy="52422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마스킹을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하는 방법은 어텐션 스코어 행렬의 마스킹 위치에 매우 작은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음수값을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넣어주는 것이다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여기서 매우 작은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음수값이라는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것은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-1,000,000,000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과 같은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–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무한대에 가까운 수라는 의미임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solidFill>
                  <a:srgbClr val="24292F"/>
                </a:solidFill>
                <a:latin typeface="Noto Sans KR"/>
              </a:rPr>
              <a:t>이러한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현재 마스킹 위치에 매우 작은 음수 값이 들어가 있으므로 어텐션 스코어 행렬이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소프트맥스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함수를 지난 후에는 해당 위치의 값은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0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이 되어 단어 간 유사도를 구하는 일에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&lt;PAD&gt;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토큰이 반영되지 않게 된다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</a:t>
            </a: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9F87A3-74D0-2382-EA74-25CBAE7F3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87" y="4523534"/>
            <a:ext cx="3608157" cy="167060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C3C27A4-FE43-8C29-CE15-56EFB83C1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0" y="4523533"/>
            <a:ext cx="2581635" cy="1886213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87BE021-E715-4520-F0CD-13C5FCEECB7B}"/>
              </a:ext>
            </a:extLst>
          </p:cNvPr>
          <p:cNvSpPr/>
          <p:nvPr/>
        </p:nvSpPr>
        <p:spPr>
          <a:xfrm>
            <a:off x="4572000" y="5466640"/>
            <a:ext cx="691284" cy="266641"/>
          </a:xfrm>
          <a:prstGeom prst="rightArrow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54FA44-5747-983D-E946-01B9C861B2E9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패딩 마스크</a:t>
            </a:r>
            <a:r>
              <a:rPr lang="en-US" altLang="ko-KR" sz="2800" b="1" i="0" dirty="0">
                <a:solidFill>
                  <a:srgbClr val="24292F"/>
                </a:solidFill>
                <a:effectLst/>
                <a:latin typeface="Noto Sans KR"/>
              </a:rPr>
              <a:t>(Padding Mask)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91977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F7887-AA97-FE2A-750D-14730945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BD1CFE2-4003-1749-8C97-B56D91100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124720"/>
            <a:ext cx="8353016" cy="55302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dirty="0"/>
              <a:t> </a:t>
            </a:r>
            <a:r>
              <a:rPr lang="en-US" altLang="ko-KR" b="1" dirty="0"/>
              <a:t>Masked Self-Attention</a:t>
            </a:r>
            <a:r>
              <a:rPr lang="ko-KR" altLang="en-US" b="1" dirty="0"/>
              <a:t>은 </a:t>
            </a:r>
            <a:r>
              <a:rPr lang="ko-KR" altLang="en-US" sz="1600" dirty="0"/>
              <a:t>여전히 모든 토큰에 대해 </a:t>
            </a:r>
            <a:r>
              <a:rPr lang="en-US" altLang="ko-KR" sz="1600" dirty="0"/>
              <a:t>attention</a:t>
            </a:r>
            <a:r>
              <a:rPr lang="ko-KR" altLang="en-US" sz="1600" dirty="0"/>
              <a:t>을 계산하지만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일부 토큰에 대한 </a:t>
            </a:r>
            <a:r>
              <a:rPr lang="en-US" altLang="ko-KR" sz="1600" dirty="0"/>
              <a:t>attention score</a:t>
            </a:r>
            <a:r>
              <a:rPr lang="ko-KR" altLang="en-US" sz="1600" dirty="0"/>
              <a:t>가 강제로 </a:t>
            </a:r>
            <a:r>
              <a:rPr lang="en-US" altLang="ko-KR" sz="1600" dirty="0"/>
              <a:t>0</a:t>
            </a:r>
            <a:r>
              <a:rPr lang="ko-KR" altLang="en-US" sz="1600" dirty="0"/>
              <a:t>이 되도록 마스크를 씌운다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 Masked</a:t>
            </a:r>
            <a:r>
              <a:rPr lang="ko-KR" altLang="en-US" dirty="0"/>
              <a:t> </a:t>
            </a:r>
            <a:r>
              <a:rPr lang="en-US" altLang="ko-KR" dirty="0"/>
              <a:t>Self-Attention</a:t>
            </a:r>
            <a:r>
              <a:rPr lang="ko-KR" altLang="en-US" dirty="0"/>
              <a:t>의 기본 구조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ko-KR" dirty="0">
                <a:solidFill>
                  <a:schemeClr val="tx1"/>
                </a:solidFill>
                <a:latin typeface="Arial Unicode MS"/>
              </a:rPr>
              <a:t>QK</a:t>
            </a:r>
            <a:r>
              <a:rPr lang="ko-KR" altLang="ko-KR" baseline="30000" dirty="0">
                <a:solidFill>
                  <a:schemeClr val="tx1"/>
                </a:solidFill>
                <a:latin typeface="Arial Unicode MS"/>
              </a:rPr>
              <a:t>ᵀ</a:t>
            </a:r>
            <a:r>
              <a:rPr lang="ko-KR" altLang="ko-KR" dirty="0">
                <a:solidFill>
                  <a:schemeClr val="tx1"/>
                </a:solidFill>
              </a:rPr>
              <a:t> 계산은 </a:t>
            </a:r>
            <a:r>
              <a:rPr lang="ko-KR" altLang="ko-KR" b="1" dirty="0">
                <a:solidFill>
                  <a:schemeClr val="tx1"/>
                </a:solidFill>
                <a:latin typeface="Arial" panose="020B0604020202020204" pitchFamily="34" charset="0"/>
              </a:rPr>
              <a:t>모든 쿼리-키 쌍에 대해 이루어짐</a:t>
            </a:r>
            <a:r>
              <a:rPr lang="ko-KR" altLang="ko-K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334963" lvl="1" indent="0">
              <a:lnSpc>
                <a:spcPct val="150000"/>
              </a:lnSpc>
              <a:buNone/>
            </a:pPr>
            <a:r>
              <a:rPr lang="ko-KR" altLang="en-US" dirty="0"/>
              <a:t>  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즉</a:t>
            </a:r>
            <a:r>
              <a:rPr lang="en-US" altLang="ko-KR" dirty="0"/>
              <a:t>, attention ＂</a:t>
            </a:r>
            <a:r>
              <a:rPr lang="ko-KR" altLang="en-US" dirty="0"/>
              <a:t>자체</a:t>
            </a:r>
            <a:r>
              <a:rPr lang="en-US" altLang="ko-KR" dirty="0"/>
              <a:t>＂</a:t>
            </a:r>
            <a:r>
              <a:rPr lang="ko-KR" altLang="en-US" dirty="0"/>
              <a:t>는 모든 위치에 대해 수행됨</a:t>
            </a:r>
            <a:endParaRPr lang="en-US" altLang="ko-KR" dirty="0"/>
          </a:p>
          <a:p>
            <a:pPr marL="334963" lvl="1" indent="0">
              <a:lnSpc>
                <a:spcPct val="150000"/>
              </a:lnSpc>
              <a:buNone/>
            </a:pP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ko-KR" altLang="en-US" dirty="0"/>
              <a:t>하지만 마스크</a:t>
            </a:r>
            <a:r>
              <a:rPr lang="en-US" altLang="ko-KR" dirty="0"/>
              <a:t>(mask)</a:t>
            </a:r>
            <a:r>
              <a:rPr lang="ko-KR" altLang="en-US" dirty="0"/>
              <a:t>를 더할 때</a:t>
            </a:r>
            <a:r>
              <a:rPr lang="en-US" altLang="ko-KR" dirty="0"/>
              <a:t>, </a:t>
            </a:r>
          </a:p>
          <a:p>
            <a:pPr marL="334963" lvl="1" indent="0">
              <a:lnSpc>
                <a:spcPct val="160000"/>
              </a:lnSpc>
              <a:buNone/>
            </a:pP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   </a:t>
            </a:r>
            <a:r>
              <a:rPr lang="ko-KR" altLang="en-US" dirty="0">
                <a:solidFill>
                  <a:schemeClr val="tx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미래의 토큰은 </a:t>
            </a:r>
            <a:r>
              <a:rPr lang="ko-KR" altLang="ko-KR" dirty="0">
                <a:solidFill>
                  <a:schemeClr val="tx1"/>
                </a:solidFill>
                <a:latin typeface="Arial" panose="020B0604020202020204" pitchFamily="34" charset="0"/>
              </a:rPr>
              <a:t>금지된 위치</a:t>
            </a:r>
            <a:r>
              <a:rPr lang="ko-KR" altLang="en-US" dirty="0">
                <a:solidFill>
                  <a:schemeClr val="tx1"/>
                </a:solidFill>
                <a:latin typeface="Arial" panose="020B0604020202020204" pitchFamily="34" charset="0"/>
              </a:rPr>
              <a:t>에 </a:t>
            </a:r>
            <a:r>
              <a:rPr lang="ko-KR" altLang="ko-KR" dirty="0">
                <a:solidFill>
                  <a:schemeClr val="tx1"/>
                </a:solidFill>
                <a:latin typeface="Arial Unicode MS"/>
              </a:rPr>
              <a:t>-∞</a:t>
            </a:r>
            <a:r>
              <a:rPr lang="ko-KR" altLang="ko-KR" dirty="0">
                <a:solidFill>
                  <a:schemeClr val="tx1"/>
                </a:solidFill>
              </a:rPr>
              <a:t>를 더함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</a:p>
          <a:p>
            <a:pPr marL="334963" lvl="1" indent="0">
              <a:lnSpc>
                <a:spcPct val="160000"/>
              </a:lnSpc>
              <a:buNone/>
            </a:pP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lang="ko-KR" altLang="ko-KR" dirty="0">
                <a:solidFill>
                  <a:schemeClr val="tx1"/>
                </a:solidFill>
                <a:latin typeface="Arial" panose="020B0604020202020204" pitchFamily="34" charset="0"/>
              </a:rPr>
              <a:t>그 위치는 </a:t>
            </a:r>
            <a:r>
              <a:rPr lang="ko-KR" altLang="ko-KR" dirty="0" err="1">
                <a:solidFill>
                  <a:schemeClr val="tx1"/>
                </a:solidFill>
                <a:latin typeface="Arial" panose="020B0604020202020204" pitchFamily="34" charset="0"/>
              </a:rPr>
              <a:t>softmax확률</a:t>
            </a:r>
            <a:r>
              <a:rPr lang="ko-KR" altLang="ko-KR" dirty="0">
                <a:solidFill>
                  <a:schemeClr val="tx1"/>
                </a:solidFill>
                <a:latin typeface="Arial" panose="020B0604020202020204" pitchFamily="34" charset="0"/>
              </a:rPr>
              <a:t> 0이 됨 → </a:t>
            </a:r>
            <a:r>
              <a:rPr lang="ko-KR" altLang="ko-KR" b="1" dirty="0">
                <a:solidFill>
                  <a:schemeClr val="tx1"/>
                </a:solidFill>
                <a:latin typeface="Arial" panose="020B0604020202020204" pitchFamily="34" charset="0"/>
              </a:rPr>
              <a:t>무시됨</a:t>
            </a:r>
            <a:endParaRPr lang="en-US" altLang="ko-KR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34963" lvl="1" indent="0">
              <a:lnSpc>
                <a:spcPct val="160000"/>
              </a:lnSpc>
              <a:buNone/>
            </a:pPr>
            <a:endParaRPr lang="ko-KR" altLang="ko-KR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951AA8-7B6B-90CB-E811-2E124E99C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50" y="2449681"/>
            <a:ext cx="5405633" cy="74889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6D56BC5-F162-0E52-C960-AD4530D92046}"/>
              </a:ext>
            </a:extLst>
          </p:cNvPr>
          <p:cNvSpPr/>
          <p:nvPr/>
        </p:nvSpPr>
        <p:spPr>
          <a:xfrm>
            <a:off x="6044074" y="2722641"/>
            <a:ext cx="633677" cy="288035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A12C070-7EBC-454C-EDA0-73093CA8B202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패딩 마스크</a:t>
            </a:r>
            <a:r>
              <a:rPr lang="en-US" altLang="ko-KR" sz="2800" b="1" i="0" dirty="0">
                <a:solidFill>
                  <a:srgbClr val="24292F"/>
                </a:solidFill>
                <a:effectLst/>
                <a:latin typeface="Noto Sans KR"/>
              </a:rPr>
              <a:t>(Padding Mask)</a:t>
            </a:r>
            <a:endParaRPr lang="ko-KR" alt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A26A50-53E2-C23E-DE60-8705382E0E94}"/>
              </a:ext>
            </a:extLst>
          </p:cNvPr>
          <p:cNvSpPr txBox="1"/>
          <p:nvPr/>
        </p:nvSpPr>
        <p:spPr>
          <a:xfrm>
            <a:off x="4917642" y="4638747"/>
            <a:ext cx="3917276" cy="1996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ko-KR" altLang="en-US" sz="1400" b="1" dirty="0"/>
              <a:t>입력 토큰</a:t>
            </a:r>
            <a:r>
              <a:rPr lang="en-US" altLang="ko-KR" sz="1400" b="1" dirty="0"/>
              <a:t>: [</a:t>
            </a:r>
            <a:r>
              <a:rPr lang="ko-KR" altLang="en-US" sz="1400" b="1" dirty="0"/>
              <a:t>나는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학교에</a:t>
            </a:r>
            <a:r>
              <a:rPr lang="en-US" altLang="ko-KR" sz="1400" b="1" dirty="0"/>
              <a:t>, </a:t>
            </a:r>
            <a:r>
              <a:rPr lang="en-US" altLang="ko-KR" sz="1400" b="1" dirty="0">
                <a:solidFill>
                  <a:srgbClr val="FF0000"/>
                </a:solidFill>
              </a:rPr>
              <a:t>&lt;pad&gt;, &lt;pad&gt;</a:t>
            </a:r>
            <a:r>
              <a:rPr lang="en-US" altLang="ko-KR" sz="1400" b="1" dirty="0"/>
              <a:t>]</a:t>
            </a:r>
            <a:r>
              <a:rPr lang="ko-KR" altLang="en-US" sz="1400" b="1" dirty="0"/>
              <a:t> </a:t>
            </a:r>
            <a:endParaRPr lang="en-US" altLang="ko-KR" sz="1400" b="1" dirty="0"/>
          </a:p>
          <a:p>
            <a:pPr lvl="1">
              <a:lnSpc>
                <a:spcPct val="150000"/>
              </a:lnSpc>
            </a:pPr>
            <a:r>
              <a:rPr lang="ko-KR" altLang="en-US" sz="1400" b="1" dirty="0"/>
              <a:t>현재 </a:t>
            </a:r>
            <a:r>
              <a:rPr lang="ko-KR" altLang="en-US" sz="1400" b="1" dirty="0" err="1"/>
              <a:t>디코더</a:t>
            </a:r>
            <a:r>
              <a:rPr lang="ko-KR" altLang="en-US" sz="1400" b="1" dirty="0"/>
              <a:t> 시점</a:t>
            </a:r>
            <a:r>
              <a:rPr lang="en-US" altLang="ko-KR" sz="1400" b="1" dirty="0"/>
              <a:t>: t=2 (“</a:t>
            </a:r>
            <a:r>
              <a:rPr lang="ko-KR" altLang="en-US" sz="1400" b="1" dirty="0"/>
              <a:t>학교에</a:t>
            </a:r>
            <a:r>
              <a:rPr lang="en-US" altLang="ko-KR" sz="1400" b="1" dirty="0"/>
              <a:t>””)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1400" b="1" dirty="0"/>
              <a:t>Masked attention</a:t>
            </a:r>
            <a:r>
              <a:rPr lang="ko-KR" altLang="en-US" sz="1400" b="1" dirty="0"/>
              <a:t>에서는</a:t>
            </a:r>
            <a:endParaRPr lang="en-US" altLang="ko-KR" sz="1400" b="1" dirty="0"/>
          </a:p>
          <a:p>
            <a:pPr lvl="1">
              <a:lnSpc>
                <a:spcPct val="150000"/>
              </a:lnSpc>
            </a:pPr>
            <a:r>
              <a:rPr lang="en-US" altLang="ko-KR" sz="1400" b="1" dirty="0"/>
              <a:t>     - [</a:t>
            </a:r>
            <a:r>
              <a:rPr lang="ko-KR" altLang="en-US" sz="1400" b="1" dirty="0"/>
              <a:t>나는</a:t>
            </a:r>
            <a:r>
              <a:rPr lang="en-US" altLang="ko-KR" sz="1400" b="1" dirty="0"/>
              <a:t>]</a:t>
            </a:r>
            <a:r>
              <a:rPr lang="ko-KR" altLang="en-US" sz="1400" b="1" dirty="0"/>
              <a:t>은 </a:t>
            </a:r>
            <a:r>
              <a:rPr lang="ko-KR" altLang="en-US" sz="1400" b="1" dirty="0" err="1"/>
              <a:t>볼수</a:t>
            </a:r>
            <a:r>
              <a:rPr lang="ko-KR" altLang="en-US" sz="1400" b="1" dirty="0"/>
              <a:t> 있음</a:t>
            </a:r>
            <a:endParaRPr lang="en-US" altLang="ko-KR" sz="1400" b="1" dirty="0"/>
          </a:p>
          <a:p>
            <a:pPr lvl="1">
              <a:lnSpc>
                <a:spcPct val="150000"/>
              </a:lnSpc>
            </a:pPr>
            <a:r>
              <a:rPr lang="en-US" altLang="ko-KR" sz="1400" b="1" dirty="0"/>
              <a:t>     - [</a:t>
            </a:r>
            <a:r>
              <a:rPr lang="ko-KR" altLang="en-US" sz="1400" b="1" dirty="0"/>
              <a:t>학교에</a:t>
            </a:r>
            <a:r>
              <a:rPr lang="en-US" altLang="ko-KR" sz="1400" b="1" dirty="0"/>
              <a:t>]</a:t>
            </a:r>
            <a:r>
              <a:rPr lang="ko-KR" altLang="en-US" sz="1400" b="1" dirty="0"/>
              <a:t>는 자기 자신이라 가능</a:t>
            </a:r>
            <a:endParaRPr lang="en-US" altLang="ko-KR" sz="1400" b="1" dirty="0"/>
          </a:p>
          <a:p>
            <a:pPr lvl="1">
              <a:lnSpc>
                <a:spcPct val="150000"/>
              </a:lnSpc>
            </a:pPr>
            <a:r>
              <a:rPr lang="en-US" altLang="ko-KR" sz="1400" b="1" dirty="0"/>
              <a:t>     - </a:t>
            </a:r>
            <a:r>
              <a:rPr lang="ko-KR" altLang="en-US" sz="1400" b="1" dirty="0"/>
              <a:t>그 이후는 </a:t>
            </a:r>
            <a:r>
              <a:rPr lang="en-US" altLang="ko-KR" sz="1400" b="1" dirty="0"/>
              <a:t>pad -&gt; padding mask</a:t>
            </a:r>
            <a:r>
              <a:rPr lang="ko-KR" altLang="en-US" sz="1400" b="1" dirty="0"/>
              <a:t>로 막음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65977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0841D-4111-FCF2-CCE6-5300E9F6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40DA04E-CAEA-8A52-B2D1-47A1C4E0F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182327"/>
            <a:ext cx="8353016" cy="53574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  </a:t>
            </a:r>
            <a:r>
              <a:rPr lang="ko-KR" altLang="en-US" b="1" dirty="0">
                <a:solidFill>
                  <a:srgbClr val="24292F"/>
                </a:solidFill>
                <a:latin typeface="Noto Sans KR"/>
              </a:rPr>
              <a:t>패딩 마스크 예</a:t>
            </a: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/>
              <a:t>기본 문장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패딩 만들기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패딩된</a:t>
            </a:r>
            <a:r>
              <a:rPr lang="ko-KR" altLang="en-US" sz="1600" dirty="0"/>
              <a:t> 결과에서 </a:t>
            </a:r>
            <a:r>
              <a:rPr lang="en-US" altLang="ko-KR" sz="1600" dirty="0"/>
              <a:t>0</a:t>
            </a:r>
            <a:r>
              <a:rPr lang="ko-KR" altLang="en-US" sz="1600" dirty="0"/>
              <a:t>이면 </a:t>
            </a:r>
            <a:r>
              <a:rPr lang="en-US" altLang="ko-KR" sz="1600" dirty="0"/>
              <a:t>1(True), </a:t>
            </a:r>
            <a:r>
              <a:rPr lang="ko-KR" altLang="en-US" sz="1600" dirty="0"/>
              <a:t>아니면 </a:t>
            </a:r>
            <a:r>
              <a:rPr lang="en-US" altLang="ko-KR" sz="1600" dirty="0"/>
              <a:t>0(False)</a:t>
            </a:r>
            <a:r>
              <a:rPr lang="ko-KR" altLang="en-US" sz="1600" dirty="0"/>
              <a:t> 로 마스크를 </a:t>
            </a:r>
            <a:r>
              <a:rPr lang="ko-KR" altLang="en-US" sz="1600" dirty="0" err="1"/>
              <a:t>만듬</a:t>
            </a:r>
            <a:endParaRPr lang="en-US" altLang="ko-KR" sz="14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E240E98-3A6F-26A6-51D1-08C1F0528FCD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패딩 마스크</a:t>
            </a:r>
            <a:r>
              <a:rPr lang="en-US" altLang="ko-KR" sz="2800" b="1" i="0" dirty="0">
                <a:solidFill>
                  <a:srgbClr val="24292F"/>
                </a:solidFill>
                <a:effectLst/>
                <a:latin typeface="Noto Sans KR"/>
              </a:rPr>
              <a:t>(Padding Mask)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940684-5087-2AAF-AC7E-B380B3607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87" y="2161646"/>
            <a:ext cx="4320525" cy="19039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358849A-64E8-CEC4-D862-5AA00A2CB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9" y="5274258"/>
            <a:ext cx="1798263" cy="1478774"/>
          </a:xfrm>
          <a:prstGeom prst="rect">
            <a:avLst/>
          </a:prstGeom>
        </p:spPr>
      </p:pic>
      <p:sp>
        <p:nvSpPr>
          <p:cNvPr id="10" name="화살표: 톱니 모양의 오른쪽 9">
            <a:extLst>
              <a:ext uri="{FF2B5EF4-FFF2-40B4-BE49-F238E27FC236}">
                <a16:creationId xmlns:a16="http://schemas.microsoft.com/office/drawing/2014/main" id="{A57A30AB-9E40-08CA-D305-F7474FA78654}"/>
              </a:ext>
            </a:extLst>
          </p:cNvPr>
          <p:cNvSpPr/>
          <p:nvPr/>
        </p:nvSpPr>
        <p:spPr>
          <a:xfrm>
            <a:off x="4364443" y="5894660"/>
            <a:ext cx="460857" cy="288035"/>
          </a:xfrm>
          <a:prstGeom prst="notchedRightArrow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796572-C220-A057-0E1C-A2B9EA0DC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79" y="4811568"/>
            <a:ext cx="7546518" cy="33713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88A3CAD-28E9-81A4-D964-70FA9816A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0" y="5297205"/>
            <a:ext cx="1933845" cy="143847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2B15721-940C-4431-ED78-B1B731A4D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157" y="2357629"/>
            <a:ext cx="1798263" cy="1478774"/>
          </a:xfrm>
          <a:prstGeom prst="rect">
            <a:avLst/>
          </a:prstGeom>
        </p:spPr>
      </p:pic>
      <p:sp>
        <p:nvSpPr>
          <p:cNvPr id="13" name="화살표: 톱니 모양의 오른쪽 12">
            <a:extLst>
              <a:ext uri="{FF2B5EF4-FFF2-40B4-BE49-F238E27FC236}">
                <a16:creationId xmlns:a16="http://schemas.microsoft.com/office/drawing/2014/main" id="{7B75189D-E11C-46B8-068F-699959E7A9B5}"/>
              </a:ext>
            </a:extLst>
          </p:cNvPr>
          <p:cNvSpPr/>
          <p:nvPr/>
        </p:nvSpPr>
        <p:spPr>
          <a:xfrm>
            <a:off x="5608925" y="2968144"/>
            <a:ext cx="460857" cy="288035"/>
          </a:xfrm>
          <a:prstGeom prst="notchedRightArrow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801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6FDCF-D5B4-B396-6F8D-448C123A4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5D198AD-DCDE-58D2-69ED-FE1DE96CF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124720"/>
            <a:ext cx="8353016" cy="55302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dirty="0"/>
              <a:t> </a:t>
            </a:r>
            <a:r>
              <a:rPr lang="ko-KR" altLang="en-US" dirty="0"/>
              <a:t>패딩 마스크 예</a:t>
            </a:r>
            <a:endParaRPr lang="en-US" altLang="ko-KR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600" dirty="0"/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tf.math.equal(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0)</a:t>
            </a:r>
            <a:r>
              <a:rPr lang="en-US" altLang="ko-KR" b="1" dirty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Arial Unicode MS"/>
                <a:sym typeface="Wingdings" panose="05000000000000000000" pitchFamily="2" charset="2"/>
              </a:rPr>
              <a:t>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텐서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안에서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값이 0인 곳을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로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표시</a:t>
            </a:r>
            <a:r>
              <a:rPr lang="ko-KR" altLang="en-US" dirty="0">
                <a:solidFill>
                  <a:schemeClr val="tx1"/>
                </a:solidFill>
              </a:rPr>
              <a:t>한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다.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즉, 패딩(0) 인 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곳을 찾</a:t>
            </a: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</a:t>
            </a:r>
            <a:r>
              <a:rPr kumimoji="0" lang="en-US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mask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[:,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tf.newaxis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tf.newaxis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:]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334963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ko-KR" b="1" dirty="0">
                <a:solidFill>
                  <a:schemeClr val="tx1"/>
                </a:solidFill>
                <a:latin typeface="Arial Unicode MS"/>
                <a:sym typeface="Wingdings" panose="05000000000000000000" pitchFamily="2" charset="2"/>
              </a:rPr>
              <a:t>    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sym typeface="Wingdings" panose="05000000000000000000" pitchFamily="2" charset="2"/>
              </a:rPr>
              <a:t>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텐서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차원을 바꿔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준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shape이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batch_size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1, 1,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sequence_length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가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된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34963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이렇게 변형하는 이유는</a:t>
            </a:r>
            <a:r>
              <a:rPr kumimoji="0" lang="en-US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(쿼리)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와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 (키)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를 어텐션 계산할 때,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스코어 행렬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34963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shape이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batch_size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num_heads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query_seq_len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key_seq_len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이 때문이다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34963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이 있는 곳은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큰 음수 (-1e9 등)를 더해서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결과를 0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으로 만들고,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인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34963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곳은 그냥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AE40979-E962-A314-2BC5-4CD540794324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패딩 마스크</a:t>
            </a:r>
            <a:r>
              <a:rPr lang="en-US" altLang="ko-KR" sz="2800" b="1" i="0" dirty="0">
                <a:solidFill>
                  <a:srgbClr val="24292F"/>
                </a:solidFill>
                <a:effectLst/>
                <a:latin typeface="Noto Sans KR"/>
              </a:rPr>
              <a:t>(Padding Mask)</a:t>
            </a:r>
            <a:endParaRPr lang="ko-KR" altLang="en-US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E41C9BC-0197-1A2E-4169-80BB9B2AF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45" y="1700790"/>
            <a:ext cx="5818307" cy="150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28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F5CC-5CB2-47DB-E151-58E50A8C8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AF07889-0643-CFC5-B11A-B62D4F3C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182328"/>
            <a:ext cx="8237802" cy="551829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  </a:t>
            </a:r>
            <a:r>
              <a:rPr lang="ko-KR" altLang="en-US" b="1" dirty="0">
                <a:solidFill>
                  <a:srgbClr val="24292F"/>
                </a:solidFill>
                <a:latin typeface="Noto Sans KR"/>
              </a:rPr>
              <a:t>패딩 마스크 예</a:t>
            </a: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b="1" dirty="0">
                <a:solidFill>
                  <a:srgbClr val="24292F"/>
                </a:solidFill>
                <a:latin typeface="Noto Sans KR"/>
              </a:rPr>
              <a:t>패딩 마스크 </a:t>
            </a: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Attention</a:t>
            </a:r>
            <a:r>
              <a:rPr lang="ko-KR" altLang="en-US" b="1" dirty="0">
                <a:solidFill>
                  <a:srgbClr val="24292F"/>
                </a:solidFill>
                <a:latin typeface="Noto Sans KR"/>
              </a:rPr>
              <a:t>에</a:t>
            </a: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b="1" dirty="0">
                <a:solidFill>
                  <a:srgbClr val="24292F"/>
                </a:solidFill>
                <a:latin typeface="Noto Sans KR"/>
              </a:rPr>
              <a:t>적용</a:t>
            </a: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logits </a:t>
            </a:r>
            <a:r>
              <a:rPr lang="ko-KR" altLang="en-US" b="1" dirty="0">
                <a:solidFill>
                  <a:srgbClr val="24292F"/>
                </a:solidFill>
                <a:latin typeface="Noto Sans KR"/>
              </a:rPr>
              <a:t>값 계산</a:t>
            </a: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 logits = logits + (mask * -le9)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mask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값이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1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이면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logit + -</a:t>
            </a:r>
            <a:r>
              <a:rPr lang="en-US" altLang="ko-KR" sz="1600" b="1" dirty="0">
                <a:solidFill>
                  <a:srgbClr val="24292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 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(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마스크 처리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)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  <a:sym typeface="Wingdings" panose="05000000000000000000" pitchFamily="2" charset="2"/>
              </a:rPr>
              <a:t> 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  <a:sym typeface="Wingdings" panose="05000000000000000000" pitchFamily="2" charset="2"/>
              </a:rPr>
              <a:t>매우 작은 값이므로 </a:t>
            </a:r>
            <a:r>
              <a:rPr lang="ko-KR" altLang="en-US" sz="1600" b="1" dirty="0" err="1">
                <a:solidFill>
                  <a:srgbClr val="24292F"/>
                </a:solidFill>
                <a:latin typeface="Noto Sans KR"/>
                <a:sym typeface="Wingdings" panose="05000000000000000000" pitchFamily="2" charset="2"/>
              </a:rPr>
              <a:t>소프트맥스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  <a:sym typeface="Wingdings" panose="05000000000000000000" pitchFamily="2" charset="2"/>
              </a:rPr>
              <a:t> 함수를 지나면 행렬의 해당 위치의 값은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  <a:sym typeface="Wingdings" panose="05000000000000000000" pitchFamily="2" charset="2"/>
              </a:rPr>
              <a:t>0</a:t>
            </a:r>
            <a:r>
              <a:rPr lang="ko-KR" altLang="en-US" sz="1600" b="1" dirty="0" err="1">
                <a:solidFill>
                  <a:srgbClr val="24292F"/>
                </a:solidFill>
                <a:latin typeface="Noto Sans KR"/>
                <a:sym typeface="Wingdings" panose="05000000000000000000" pitchFamily="2" charset="2"/>
              </a:rPr>
              <a:t>이된다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  <a:sym typeface="Wingdings" panose="05000000000000000000" pitchFamily="2" charset="2"/>
              </a:rPr>
              <a:t>.</a:t>
            </a:r>
            <a:endParaRPr lang="en-US" altLang="ko-KR" sz="1600" b="1" dirty="0">
              <a:solidFill>
                <a:srgbClr val="24292F"/>
              </a:solidFill>
              <a:latin typeface="Noto Sans KR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Mask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값이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0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이면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logit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+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0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으로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(</a:t>
            </a:r>
            <a:r>
              <a:rPr lang="ko-KR" altLang="en-US" sz="1600" b="1" dirty="0" err="1">
                <a:solidFill>
                  <a:srgbClr val="24292F"/>
                </a:solidFill>
                <a:latin typeface="Noto Sans KR"/>
              </a:rPr>
              <a:t>변동없음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)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FD8568AA-F3FE-3231-7D48-359047FDB907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패딩 마스크</a:t>
            </a:r>
            <a:r>
              <a:rPr lang="en-US" altLang="ko-KR" sz="2800" b="1" i="0" dirty="0">
                <a:solidFill>
                  <a:srgbClr val="24292F"/>
                </a:solidFill>
                <a:effectLst/>
                <a:latin typeface="Noto Sans KR"/>
              </a:rPr>
              <a:t>(Padding Mask)</a:t>
            </a:r>
            <a:endParaRPr lang="ko-KR" altLang="en-US" sz="28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560C38D-52F3-3859-0A56-84552A2D8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87" y="3681959"/>
            <a:ext cx="5074471" cy="31559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60FCADF-98F4-7ACC-C9AA-622C69EF3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87" y="4150823"/>
            <a:ext cx="3435233" cy="77595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2497933-499E-00E3-4380-39BE0E978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59" y="1585814"/>
            <a:ext cx="3514027" cy="155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06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C5CD1-CB3A-3EF8-7C45-70A47FA5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CA76EA3-B920-FD09-B99F-DA2870C47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951898"/>
            <a:ext cx="8237802" cy="57030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  </a:t>
            </a:r>
            <a:r>
              <a:rPr lang="ko-KR" altLang="en-US" b="1" dirty="0">
                <a:solidFill>
                  <a:srgbClr val="24292F"/>
                </a:solidFill>
                <a:latin typeface="Noto Sans KR"/>
              </a:rPr>
              <a:t>패딩 마스크</a:t>
            </a: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mask[:, </a:t>
            </a:r>
            <a:r>
              <a:rPr lang="en-US" altLang="ko-KR" dirty="0" err="1"/>
              <a:t>tf.newaxis</a:t>
            </a:r>
            <a:r>
              <a:rPr lang="en-US" altLang="ko-KR" dirty="0"/>
              <a:t>, </a:t>
            </a:r>
            <a:r>
              <a:rPr lang="en-US" altLang="ko-KR" dirty="0" err="1"/>
              <a:t>tf.newaxis</a:t>
            </a:r>
            <a:r>
              <a:rPr lang="en-US" altLang="ko-KR" dirty="0"/>
              <a:t>, :]</a:t>
            </a:r>
            <a:r>
              <a:rPr lang="ko-KR" altLang="en-US" dirty="0"/>
              <a:t>의 의미</a:t>
            </a:r>
            <a:endParaRPr lang="en-US" altLang="ko-KR" dirty="0"/>
          </a:p>
          <a:p>
            <a:pPr marL="334963" lvl="1" indent="0">
              <a:lnSpc>
                <a:spcPct val="15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이 부분은 차원 확장</a:t>
            </a:r>
            <a:r>
              <a:rPr lang="en-US" altLang="ko-KR" dirty="0"/>
              <a:t>(=</a:t>
            </a:r>
            <a:r>
              <a:rPr lang="ko-KR" altLang="en-US" dirty="0" err="1"/>
              <a:t>브로드캐스팅을</a:t>
            </a:r>
            <a:r>
              <a:rPr lang="ko-KR" altLang="en-US" dirty="0"/>
              <a:t> 위한 </a:t>
            </a:r>
            <a:r>
              <a:rPr lang="en-US" altLang="ko-KR" dirty="0"/>
              <a:t>reshape)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원래 </a:t>
            </a:r>
            <a:r>
              <a:rPr lang="en-US" altLang="ko-KR" sz="1600" dirty="0"/>
              <a:t>mask</a:t>
            </a:r>
            <a:r>
              <a:rPr lang="ko-KR" altLang="en-US" sz="1600" dirty="0"/>
              <a:t>의 </a:t>
            </a:r>
            <a:r>
              <a:rPr lang="en-US" altLang="ko-KR" sz="1600" dirty="0"/>
              <a:t>shape: (</a:t>
            </a:r>
            <a:r>
              <a:rPr lang="en-US" altLang="ko-KR" sz="1600" dirty="0" err="1"/>
              <a:t>batch_size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seq_len</a:t>
            </a:r>
            <a:r>
              <a:rPr lang="en-US" altLang="ko-KR" sz="1600" dirty="0"/>
              <a:t>) </a:t>
            </a:r>
            <a:r>
              <a:rPr lang="en-US" altLang="ko-KR" sz="1600" dirty="0">
                <a:sym typeface="Wingdings" panose="05000000000000000000" pitchFamily="2" charset="2"/>
              </a:rPr>
              <a:t> (</a:t>
            </a:r>
            <a:r>
              <a:rPr lang="en-US" altLang="ko-KR" sz="1600" dirty="0" err="1">
                <a:sym typeface="Wingdings" panose="05000000000000000000" pitchFamily="2" charset="2"/>
              </a:rPr>
              <a:t>batch_size</a:t>
            </a:r>
            <a:r>
              <a:rPr lang="en-US" altLang="ko-KR" sz="1600" dirty="0">
                <a:sym typeface="Wingdings" panose="05000000000000000000" pitchFamily="2" charset="2"/>
              </a:rPr>
              <a:t>, 1, 1, </a:t>
            </a:r>
            <a:r>
              <a:rPr lang="en-US" altLang="ko-KR" sz="1600" dirty="0" err="1">
                <a:sym typeface="Wingdings" panose="05000000000000000000" pitchFamily="2" charset="2"/>
              </a:rPr>
              <a:t>seq_len</a:t>
            </a:r>
            <a:r>
              <a:rPr lang="en-US" altLang="ko-KR" sz="1600" dirty="0">
                <a:sym typeface="Wingdings" panose="05000000000000000000" pitchFamily="2" charset="2"/>
              </a:rPr>
              <a:t>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tf.newaxis</a:t>
            </a:r>
            <a:r>
              <a:rPr lang="ko-KR" altLang="en-US" sz="1600" dirty="0"/>
              <a:t>는 새로운 축</a:t>
            </a:r>
            <a:r>
              <a:rPr lang="en-US" altLang="ko-KR" sz="1600" dirty="0"/>
              <a:t>(axis)</a:t>
            </a:r>
            <a:r>
              <a:rPr lang="ko-KR" altLang="en-US" sz="1600" dirty="0"/>
              <a:t>을 추가하는 역할을 한다</a:t>
            </a:r>
            <a:r>
              <a:rPr lang="en-US" altLang="ko-KR" sz="1600" dirty="0"/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이렇게 하면 </a:t>
            </a:r>
            <a:r>
              <a:rPr lang="ko-KR" altLang="en-US" sz="1600" b="1" dirty="0"/>
              <a:t>마스크를 어텐션 스코어 행렬과 호환 가능하도록 </a:t>
            </a:r>
            <a:r>
              <a:rPr lang="ko-KR" altLang="en-US" sz="1600" b="1" dirty="0" err="1"/>
              <a:t>브로드캐스팅</a:t>
            </a:r>
            <a:r>
              <a:rPr lang="ko-KR" altLang="en-US" sz="1600" dirty="0" err="1"/>
              <a:t>할</a:t>
            </a:r>
            <a:r>
              <a:rPr lang="ko-KR" altLang="en-US" sz="1600" dirty="0"/>
              <a:t> 수 있다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왜 이런 형태로 바꾸나</a:t>
            </a:r>
            <a:r>
              <a:rPr lang="en-US" altLang="ko-KR" dirty="0"/>
              <a:t>?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어텐션 스코어</a:t>
            </a:r>
            <a:r>
              <a:rPr lang="en-US" altLang="ko-KR" sz="1600" dirty="0"/>
              <a:t>(</a:t>
            </a:r>
            <a:r>
              <a:rPr lang="ko-KR" altLang="en-US" sz="1600" dirty="0"/>
              <a:t>점수</a:t>
            </a:r>
            <a:r>
              <a:rPr lang="en-US" altLang="ko-KR" sz="1600" dirty="0"/>
              <a:t>) </a:t>
            </a:r>
            <a:r>
              <a:rPr lang="ko-KR" altLang="en-US" sz="1600" dirty="0"/>
              <a:t>행렬의 </a:t>
            </a:r>
            <a:r>
              <a:rPr lang="en-US" altLang="ko-KR" sz="1600" dirty="0"/>
              <a:t>shape</a:t>
            </a:r>
            <a:r>
              <a:rPr lang="ko-KR" altLang="en-US" sz="1600" dirty="0"/>
              <a:t>은 다음과 같다</a:t>
            </a:r>
            <a:r>
              <a:rPr lang="en-US" altLang="ko-KR" sz="1600" dirty="0"/>
              <a:t>:</a:t>
            </a:r>
            <a:endParaRPr lang="en-US" altLang="ko-KR" sz="1600" b="0" dirty="0"/>
          </a:p>
          <a:p>
            <a:pPr marL="677862" lvl="2" indent="0">
              <a:lnSpc>
                <a:spcPct val="150000"/>
              </a:lnSpc>
              <a:buNone/>
            </a:pPr>
            <a:endParaRPr lang="en-US" altLang="ko-KR" sz="1600" b="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ko-KR" altLang="en-US" sz="1600" dirty="0"/>
              <a:t>마스크를 이 </a:t>
            </a:r>
            <a:r>
              <a:rPr lang="en-US" altLang="ko-KR" sz="1600" dirty="0"/>
              <a:t>shape</a:t>
            </a:r>
            <a:r>
              <a:rPr lang="ko-KR" altLang="en-US" sz="1600" dirty="0"/>
              <a:t>에 맞게 적용하려면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en-US" altLang="ko-KR" sz="1600" dirty="0"/>
              <a:t>mask</a:t>
            </a:r>
            <a:r>
              <a:rPr lang="ko-KR" altLang="en-US" sz="1600" dirty="0"/>
              <a:t>도 </a:t>
            </a:r>
            <a:r>
              <a:rPr lang="ko-KR" altLang="en-US" sz="1600" dirty="0" err="1"/>
              <a:t>브로드캐스팅이</a:t>
            </a:r>
            <a:r>
              <a:rPr lang="ko-KR" altLang="en-US" sz="1600" dirty="0"/>
              <a:t> 가능해야 하므로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batch_size</a:t>
            </a:r>
            <a:r>
              <a:rPr lang="en-US" altLang="ko-KR" sz="1600" dirty="0"/>
              <a:t>, 1, 1, </a:t>
            </a:r>
            <a:r>
              <a:rPr lang="en-US" altLang="ko-KR" sz="1600" dirty="0" err="1"/>
              <a:t>key_seq_len</a:t>
            </a:r>
            <a:r>
              <a:rPr lang="en-US" altLang="ko-KR" sz="1600" dirty="0"/>
              <a:t>)</a:t>
            </a:r>
            <a:r>
              <a:rPr lang="ko-KR" altLang="en-US" sz="1600" dirty="0"/>
              <a:t> 형태로 만든다</a:t>
            </a:r>
            <a:r>
              <a:rPr lang="en-US" altLang="ko-KR" sz="1600" dirty="0"/>
              <a:t>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ko-KR" altLang="en-US" sz="1600" dirty="0"/>
              <a:t>그렇게 하면</a:t>
            </a:r>
            <a:r>
              <a:rPr lang="en-US" altLang="ko-KR" sz="1600" dirty="0"/>
              <a:t>, scores += (mask * -1e9) </a:t>
            </a:r>
            <a:r>
              <a:rPr lang="ko-KR" altLang="en-US" sz="1600" dirty="0"/>
              <a:t>와 같이 연산해도 </a:t>
            </a:r>
            <a:r>
              <a:rPr lang="en-US" altLang="ko-KR" sz="1600" dirty="0"/>
              <a:t>shape mismatch</a:t>
            </a:r>
            <a:r>
              <a:rPr lang="ko-KR" altLang="en-US" sz="1600" dirty="0"/>
              <a:t>가 발생하지 않는다</a:t>
            </a:r>
            <a:r>
              <a:rPr lang="en-US" altLang="ko-KR" sz="16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C318B1A-56A4-4891-3E8E-CA9F02BE654E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패딩 마스크</a:t>
            </a:r>
            <a:r>
              <a:rPr lang="en-US" altLang="ko-KR" sz="2800" b="1" i="0" dirty="0">
                <a:solidFill>
                  <a:srgbClr val="24292F"/>
                </a:solidFill>
                <a:effectLst/>
                <a:latin typeface="Noto Sans KR"/>
              </a:rPr>
              <a:t>(Padding Mask)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50EA0D-388B-9199-4442-D768512B7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57" y="4638747"/>
            <a:ext cx="6536870" cy="46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84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CC65-6C71-4BB0-C388-A85C3A8F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68816A-1BB1-A1EB-8BEF-49017DB83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945322"/>
            <a:ext cx="8107710" cy="53640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ko-KR" altLang="en-US" b="1" dirty="0">
                <a:solidFill>
                  <a:srgbClr val="24292F"/>
                </a:solidFill>
                <a:latin typeface="Noto Sans KR"/>
              </a:rPr>
              <a:t>브로드캐스팅</a:t>
            </a:r>
            <a:endParaRPr lang="en-US" altLang="ko-KR" b="1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브로드캐스팅</a:t>
            </a:r>
            <a:r>
              <a:rPr lang="en-US" altLang="ko-KR" dirty="0"/>
              <a:t>(broadcasting)</a:t>
            </a:r>
            <a:r>
              <a:rPr lang="ko-KR" altLang="en-US" dirty="0"/>
              <a:t>은 </a:t>
            </a:r>
            <a:r>
              <a:rPr lang="ko-KR" altLang="en-US" dirty="0" err="1"/>
              <a:t>텐서</a:t>
            </a:r>
            <a:r>
              <a:rPr lang="ko-KR" altLang="en-US" dirty="0"/>
              <a:t> 연산 시 </a:t>
            </a:r>
            <a:r>
              <a:rPr lang="en-US" altLang="ko-KR" b="1" dirty="0"/>
              <a:t>shape</a:t>
            </a:r>
            <a:r>
              <a:rPr lang="ko-KR" altLang="en-US" b="1" dirty="0"/>
              <a:t>이 다른 두 </a:t>
            </a:r>
            <a:r>
              <a:rPr lang="ko-KR" altLang="en-US" b="1" dirty="0" err="1"/>
              <a:t>텐서를</a:t>
            </a:r>
            <a:r>
              <a:rPr lang="ko-KR" altLang="en-US" b="1" dirty="0"/>
              <a:t> 자동으로 맞춰주는 기능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크기가 서로 다른 </a:t>
            </a:r>
            <a:r>
              <a:rPr lang="ko-KR" altLang="en-US" dirty="0" err="1"/>
              <a:t>텐서라도</a:t>
            </a:r>
            <a:r>
              <a:rPr lang="ko-KR" altLang="en-US" dirty="0"/>
              <a:t> 규칙에 맞으면 연산이 가능하다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기본 개념</a:t>
            </a:r>
            <a:endParaRPr lang="en-US" altLang="ko-KR" b="1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브로드캐스팅은 </a:t>
            </a:r>
            <a:r>
              <a:rPr lang="ko-KR" altLang="en-US" sz="1600" b="1" dirty="0"/>
              <a:t>작은 </a:t>
            </a:r>
            <a:r>
              <a:rPr lang="ko-KR" altLang="en-US" sz="1600" b="1" dirty="0" err="1"/>
              <a:t>텐서를</a:t>
            </a:r>
            <a:r>
              <a:rPr lang="ko-KR" altLang="en-US" sz="1600" b="1" dirty="0"/>
              <a:t> 큰 </a:t>
            </a:r>
            <a:r>
              <a:rPr lang="ko-KR" altLang="en-US" sz="1600" b="1" dirty="0" err="1"/>
              <a:t>텐서의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shape</a:t>
            </a:r>
            <a:r>
              <a:rPr lang="ko-KR" altLang="en-US" sz="1600" b="1" dirty="0"/>
              <a:t>에 맞게 “늘려서” 연산</a:t>
            </a:r>
            <a:r>
              <a:rPr lang="ko-KR" altLang="en-US" sz="1600" dirty="0"/>
              <a:t>하는 방식이다</a:t>
            </a:r>
            <a:r>
              <a:rPr lang="en-US" altLang="ko-KR" sz="1600" dirty="0"/>
              <a:t>. </a:t>
            </a:r>
            <a:r>
              <a:rPr lang="ko-KR" altLang="en-US" sz="1600" dirty="0"/>
              <a:t>단</a:t>
            </a:r>
            <a:r>
              <a:rPr lang="en-US" altLang="ko-KR" sz="1600" dirty="0"/>
              <a:t>, </a:t>
            </a:r>
            <a:r>
              <a:rPr lang="ko-KR" altLang="en-US" sz="1600" dirty="0"/>
              <a:t>실제 메모리를 복제하는 것이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내부적으로 확장된 것처럼 </a:t>
            </a:r>
            <a:r>
              <a:rPr lang="ko-KR" altLang="en-US" sz="1600" b="1" dirty="0"/>
              <a:t>계산만 그렇게 수행</a:t>
            </a:r>
            <a:r>
              <a:rPr lang="ko-KR" altLang="en-US" sz="1600" dirty="0"/>
              <a:t>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예시</a:t>
            </a:r>
            <a:endParaRPr lang="en-US" altLang="ko-KR" b="1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ko-KR" sz="1600" dirty="0" err="1">
                <a:solidFill>
                  <a:schemeClr val="tx1"/>
                </a:solidFill>
                <a:latin typeface="Arial Unicode MS"/>
              </a:rPr>
              <a:t>a</a:t>
            </a:r>
            <a:r>
              <a:rPr lang="ko-KR" altLang="ko-KR" sz="1600" dirty="0">
                <a:solidFill>
                  <a:schemeClr val="tx1"/>
                </a:solidFill>
              </a:rPr>
              <a:t> : (2, 3)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ko-KR" sz="1600" dirty="0" err="1">
                <a:solidFill>
                  <a:schemeClr val="tx1"/>
                </a:solidFill>
                <a:latin typeface="Arial Unicode MS"/>
              </a:rPr>
              <a:t>b</a:t>
            </a:r>
            <a:r>
              <a:rPr lang="ko-KR" altLang="ko-KR" sz="1600" dirty="0">
                <a:solidFill>
                  <a:schemeClr val="tx1"/>
                </a:solidFill>
              </a:rPr>
              <a:t> : (3,) → </a:t>
            </a:r>
            <a:r>
              <a:rPr lang="ko-KR" altLang="ko-KR" sz="1600" b="1" dirty="0">
                <a:solidFill>
                  <a:schemeClr val="tx1"/>
                </a:solidFill>
                <a:latin typeface="Arial" panose="020B0604020202020204" pitchFamily="34" charset="0"/>
              </a:rPr>
              <a:t>자동으로 (1, 3)</a:t>
            </a: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ko-KR" altLang="ko-KR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으로</a:t>
            </a: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 확장됨</a:t>
            </a:r>
            <a:endParaRPr lang="en-US" altLang="ko-KR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연산 시 </a:t>
            </a:r>
            <a:r>
              <a:rPr lang="ko-KR" altLang="ko-KR" sz="1600" dirty="0" err="1">
                <a:solidFill>
                  <a:schemeClr val="tx1"/>
                </a:solidFill>
                <a:latin typeface="Arial Unicode MS"/>
              </a:rPr>
              <a:t>b</a:t>
            </a:r>
            <a:r>
              <a:rPr lang="ko-KR" altLang="ko-KR" sz="1600" dirty="0" err="1">
                <a:solidFill>
                  <a:schemeClr val="tx1"/>
                </a:solidFill>
              </a:rPr>
              <a:t>가</a:t>
            </a:r>
            <a:r>
              <a:rPr lang="ko-KR" altLang="ko-KR" sz="1600" dirty="0">
                <a:solidFill>
                  <a:schemeClr val="tx1"/>
                </a:solidFill>
              </a:rPr>
              <a:t> </a:t>
            </a:r>
            <a:r>
              <a:rPr lang="ko-KR" altLang="ko-KR" sz="1600" dirty="0" err="1">
                <a:solidFill>
                  <a:schemeClr val="tx1"/>
                </a:solidFill>
                <a:latin typeface="Arial Unicode MS"/>
              </a:rPr>
              <a:t>a</a:t>
            </a:r>
            <a:r>
              <a:rPr lang="ko-KR" altLang="ko-KR" sz="1600" dirty="0" err="1">
                <a:solidFill>
                  <a:schemeClr val="tx1"/>
                </a:solidFill>
              </a:rPr>
              <a:t>의</a:t>
            </a:r>
            <a:r>
              <a:rPr lang="ko-KR" altLang="ko-KR" sz="1600" dirty="0">
                <a:solidFill>
                  <a:schemeClr val="tx1"/>
                </a:solidFill>
              </a:rPr>
              <a:t> 첫 번째 차원(</a:t>
            </a:r>
            <a:r>
              <a:rPr lang="ko-KR" altLang="ko-KR" sz="1600" dirty="0" err="1">
                <a:solidFill>
                  <a:schemeClr val="tx1"/>
                </a:solidFill>
              </a:rPr>
              <a:t>batch</a:t>
            </a:r>
            <a:r>
              <a:rPr lang="ko-KR" altLang="ko-KR" sz="1600" dirty="0">
                <a:solidFill>
                  <a:schemeClr val="tx1"/>
                </a:solidFill>
              </a:rPr>
              <a:t> 차원)</a:t>
            </a:r>
            <a:r>
              <a:rPr lang="ko-KR" altLang="ko-KR" sz="1600" dirty="0" err="1">
                <a:solidFill>
                  <a:schemeClr val="tx1"/>
                </a:solidFill>
              </a:rPr>
              <a:t>에</a:t>
            </a:r>
            <a:r>
              <a:rPr lang="ko-KR" altLang="ko-KR" sz="1600" dirty="0">
                <a:solidFill>
                  <a:schemeClr val="tx1"/>
                </a:solidFill>
              </a:rPr>
              <a:t>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677862" lvl="2" indent="0">
              <a:lnSpc>
                <a:spcPct val="15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</a:rPr>
              <a:t>   </a:t>
            </a:r>
            <a:r>
              <a:rPr lang="ko-KR" altLang="ko-KR" sz="1600" dirty="0">
                <a:solidFill>
                  <a:schemeClr val="tx1"/>
                </a:solidFill>
              </a:rPr>
              <a:t>복제되어 (2, 3)이 됨</a:t>
            </a:r>
            <a:endParaRPr lang="ko-KR" altLang="ko-KR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7A75EFC-63DE-4ED2-1B96-956FBA5F8611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i="0" dirty="0">
                <a:solidFill>
                  <a:srgbClr val="24292F"/>
                </a:solidFill>
                <a:effectLst/>
                <a:latin typeface="Noto Sans KR"/>
              </a:rPr>
              <a:t>패딩 마스크</a:t>
            </a:r>
            <a:r>
              <a:rPr lang="en-US" altLang="ko-KR" sz="2800" b="1" i="0" dirty="0">
                <a:solidFill>
                  <a:srgbClr val="24292F"/>
                </a:solidFill>
                <a:effectLst/>
                <a:latin typeface="Noto Sans KR"/>
              </a:rPr>
              <a:t>(Padding Mask)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373874-B8B1-B341-37D7-46D3B412B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319" y="4062677"/>
            <a:ext cx="3410426" cy="15813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97262AD-FAFF-F1C5-E8E1-7214BEAFF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673" y="6030449"/>
            <a:ext cx="1209747" cy="6598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F270B6D9-6EC7-446C-944F-4C09AE9B266F}"/>
              </a:ext>
            </a:extLst>
          </p:cNvPr>
          <p:cNvSpPr/>
          <p:nvPr/>
        </p:nvSpPr>
        <p:spPr>
          <a:xfrm>
            <a:off x="7256532" y="5733280"/>
            <a:ext cx="311032" cy="179398"/>
          </a:xfrm>
          <a:prstGeom prst="downArrow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082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F5F0-2F1A-1CD8-B0C9-96763ECE8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82CBEBE-E5A9-A8D4-38E6-F71E390F4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174" y="1124720"/>
            <a:ext cx="5167538" cy="55302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100" b="1" dirty="0" err="1"/>
              <a:t>디코더</a:t>
            </a:r>
            <a:r>
              <a:rPr lang="en-US" altLang="ko-KR" sz="2100" b="1" dirty="0"/>
              <a:t>(Decoder)</a:t>
            </a:r>
            <a:r>
              <a:rPr lang="ko-KR" altLang="en-US" sz="1600" dirty="0"/>
              <a:t> 구조는 인코더와 유사하지만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몇 가지 중요한 차이점이 있다</a:t>
            </a:r>
            <a:r>
              <a:rPr lang="en-US" altLang="ko-KR" sz="1600" dirty="0"/>
              <a:t>. </a:t>
            </a:r>
            <a:r>
              <a:rPr lang="ko-KR" altLang="en-US" sz="1600" dirty="0" err="1"/>
              <a:t>디코더는</a:t>
            </a:r>
            <a:r>
              <a:rPr lang="ko-KR" altLang="en-US" sz="1600" dirty="0"/>
              <a:t> 인코더의 출력을 받아서 최종적인 예측을 생성하는 역할을 한다</a:t>
            </a:r>
            <a:r>
              <a:rPr lang="en-US" altLang="ko-KR" sz="1600" dirty="0"/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600" dirty="0"/>
              <a:t> </a:t>
            </a:r>
            <a:r>
              <a:rPr lang="ko-KR" altLang="en-US" b="1" dirty="0" err="1"/>
              <a:t>디코더는</a:t>
            </a:r>
            <a:r>
              <a:rPr lang="ko-KR" altLang="en-US" b="1" dirty="0"/>
              <a:t> 구성 요소</a:t>
            </a:r>
            <a:endParaRPr lang="en-US" altLang="ko-KR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1.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디코더의 입력은 일반적으로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이전 출력 단어의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임베딩</a:t>
            </a:r>
            <a:r>
              <a:rPr kumimoji="0" lang="ko-KR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2.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Positional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Encoding</a:t>
            </a:r>
            <a:r>
              <a:rPr lang="en-US" altLang="ko-KR" sz="16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순서 정보를 제공하기 위한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위치 인코딩이 추가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3.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Masked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Self-Attention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이전 단어들을 기반으로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 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현재 단어를 예측.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4.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Encoder-Decoder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인코더에서 나온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정보와 디코더의 출력을 결합.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1600" b="1" dirty="0">
                <a:solidFill>
                  <a:schemeClr val="tx1"/>
                </a:solidFill>
                <a:latin typeface="Arial" panose="020B0604020202020204" pitchFamily="34" charset="0"/>
              </a:rPr>
              <a:t>    5.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Feedforward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Network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각 단어의 표현을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변환.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1600" b="1" dirty="0">
                <a:solidFill>
                  <a:schemeClr val="tx1"/>
                </a:solidFill>
                <a:latin typeface="Arial" panose="020B0604020202020204" pitchFamily="34" charset="0"/>
              </a:rPr>
              <a:t>    6.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디코더는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최종적으로 출력 벡터를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생성하고, 이를 통해 예측을 수행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420A65-D6BB-BEDC-1116-266ED5305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105" y="1124720"/>
            <a:ext cx="3629241" cy="528676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90196C3-12E5-91B7-B035-BFE10F72BA57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dirty="0" err="1">
                <a:solidFill>
                  <a:srgbClr val="24292F"/>
                </a:solidFill>
                <a:latin typeface="Noto Sans KR"/>
              </a:rPr>
              <a:t>디코더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61385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8784D-C86D-31E7-4C16-1C662442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F790346-0D51-C0DC-00EC-20D7D53EC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029353"/>
            <a:ext cx="8353016" cy="5594456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디코더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전체 구조</a:t>
            </a:r>
            <a:endParaRPr lang="en-US" altLang="ko-KR" b="1" i="0" dirty="0">
              <a:solidFill>
                <a:srgbClr val="24292F"/>
              </a:solidFill>
              <a:effectLst/>
              <a:latin typeface="Noto Sans KR"/>
            </a:endParaRPr>
          </a:p>
          <a:p>
            <a:pPr lvl="1">
              <a:lnSpc>
                <a:spcPct val="150000"/>
              </a:lnSpc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인코더는 총 </a:t>
            </a:r>
            <a:r>
              <a:rPr lang="en-US" altLang="ko-KR" dirty="0" err="1"/>
              <a:t>num_layers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만큼의 층 연산을 순차적으로 한 후에 마지막 층의 인코더의 출력을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디코더에게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전달한다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sz="1400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endParaRPr lang="en-US" altLang="ko-KR" sz="1400" dirty="0">
              <a:solidFill>
                <a:srgbClr val="24292F"/>
              </a:solidFill>
              <a:latin typeface="Noto Sans KR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B97F3EC-444D-6CD4-AD3E-24495274CE7A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dirty="0" err="1">
                <a:solidFill>
                  <a:srgbClr val="24292F"/>
                </a:solidFill>
                <a:latin typeface="Noto Sans KR"/>
              </a:rPr>
              <a:t>디코더</a:t>
            </a:r>
            <a:endParaRPr lang="ko-KR" altLang="en-US" sz="2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8FE9BA2-D959-FB97-2B7F-D140898D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01" y="2431930"/>
            <a:ext cx="6101214" cy="405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1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A544-3C30-670C-C4CD-31CC04AF5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768BB10-680F-1EE5-A22A-1E17A0804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029353"/>
            <a:ext cx="4838989" cy="559445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디코더의 첫번째 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서브층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: 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룩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어헤드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마스크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(look-ahead mask)</a:t>
            </a:r>
            <a:endParaRPr lang="ko-KR" altLang="en-US" b="1" i="0" dirty="0">
              <a:solidFill>
                <a:srgbClr val="24292F"/>
              </a:solidFill>
              <a:effectLst/>
              <a:latin typeface="Noto Sans KR"/>
            </a:endParaRPr>
          </a:p>
          <a:p>
            <a:pPr lvl="1">
              <a:lnSpc>
                <a:spcPct val="150000"/>
              </a:lnSpc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디코더는 교사 강요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(Teacher Forcing)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을 사용하여 훈련되므로 학습 과정에서 디코더는 번역할 문장에 해당되는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“</a:t>
            </a:r>
            <a:r>
              <a:rPr lang="en-US" altLang="ko-KR" b="0" i="0" dirty="0">
                <a:solidFill>
                  <a:srgbClr val="C7254E"/>
                </a:solidFill>
                <a:effectLst/>
                <a:latin typeface="SF Mono"/>
              </a:rPr>
              <a:t>&lt;</a:t>
            </a:r>
            <a:r>
              <a:rPr lang="en-US" altLang="ko-KR" b="0" i="0" dirty="0" err="1">
                <a:solidFill>
                  <a:srgbClr val="C7254E"/>
                </a:solidFill>
                <a:effectLst/>
                <a:latin typeface="SF Mono"/>
              </a:rPr>
              <a:t>sos</a:t>
            </a:r>
            <a:r>
              <a:rPr lang="en-US" altLang="ko-KR" b="0" i="0" dirty="0">
                <a:solidFill>
                  <a:srgbClr val="C7254E"/>
                </a:solidFill>
                <a:effectLst/>
                <a:latin typeface="SF Mono"/>
              </a:rPr>
              <a:t>&gt; je suis </a:t>
            </a:r>
            <a:r>
              <a:rPr lang="en-US" altLang="ko-KR" b="0" i="0" dirty="0" err="1">
                <a:solidFill>
                  <a:srgbClr val="C7254E"/>
                </a:solidFill>
                <a:effectLst/>
                <a:latin typeface="SF Mono"/>
              </a:rPr>
              <a:t>étudiant</a:t>
            </a:r>
            <a:r>
              <a:rPr lang="en-US" altLang="ko-KR" dirty="0">
                <a:solidFill>
                  <a:srgbClr val="24292F"/>
                </a:solidFill>
                <a:latin typeface="Noto Sans KR"/>
              </a:rPr>
              <a:t>”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의 문장 행렬을 한 번에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입력받는다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이후 디코더는 이 문장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행렬로부터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각 시점의 단어를 예측하도록 훈련된다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RNN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계열의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seq2seq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의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디코더라면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현재까지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디코더에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입력된 단어는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&lt;</a:t>
            </a:r>
            <a:r>
              <a:rPr lang="en-US" altLang="ko-KR" b="0" i="0" dirty="0" err="1">
                <a:solidFill>
                  <a:srgbClr val="24292F"/>
                </a:solidFill>
                <a:effectLst/>
                <a:latin typeface="Noto Sans KR"/>
              </a:rPr>
              <a:t>sos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&gt;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와 </a:t>
            </a:r>
            <a:r>
              <a:rPr lang="en-US" altLang="ko-KR" b="0" i="0" dirty="0">
                <a:solidFill>
                  <a:srgbClr val="C7254E"/>
                </a:solidFill>
                <a:effectLst/>
                <a:latin typeface="SF Mono"/>
              </a:rPr>
              <a:t> je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뿐일 것이다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반면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트랜스포머는 이미 문장 행렬로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“</a:t>
            </a:r>
            <a:r>
              <a:rPr lang="en-US" altLang="ko-KR" b="0" i="0" dirty="0">
                <a:solidFill>
                  <a:srgbClr val="C7254E"/>
                </a:solidFill>
                <a:effectLst/>
                <a:latin typeface="SF Mono"/>
              </a:rPr>
              <a:t>&lt;</a:t>
            </a:r>
            <a:r>
              <a:rPr lang="en-US" altLang="ko-KR" b="0" i="0" dirty="0" err="1">
                <a:solidFill>
                  <a:srgbClr val="C7254E"/>
                </a:solidFill>
                <a:effectLst/>
                <a:latin typeface="SF Mono"/>
              </a:rPr>
              <a:t>sos</a:t>
            </a:r>
            <a:r>
              <a:rPr lang="en-US" altLang="ko-KR" b="0" i="0" dirty="0">
                <a:solidFill>
                  <a:srgbClr val="C7254E"/>
                </a:solidFill>
                <a:effectLst/>
                <a:latin typeface="SF Mono"/>
              </a:rPr>
              <a:t>&gt; je suis </a:t>
            </a:r>
            <a:r>
              <a:rPr lang="en-US" altLang="ko-KR" b="0" i="0" dirty="0" err="1">
                <a:solidFill>
                  <a:srgbClr val="C7254E"/>
                </a:solidFill>
                <a:effectLst/>
                <a:latin typeface="SF Mono"/>
              </a:rPr>
              <a:t>étudiant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“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를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입력 받았다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이를 위해 트랜스포머의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디코더에서는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현재 시점의 예측에서 현재 시점보다 미래에 있는 단어들을 참고하지 못하도록 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룩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어헤드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마스크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(look-ahead mask)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를 도입했다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 </a:t>
            </a:r>
            <a:endParaRPr lang="en-US" altLang="ko-KR" sz="1400" dirty="0">
              <a:solidFill>
                <a:srgbClr val="24292F"/>
              </a:solidFill>
              <a:latin typeface="Noto Sans KR"/>
            </a:endParaRPr>
          </a:p>
          <a:p>
            <a:pPr lvl="1">
              <a:lnSpc>
                <a:spcPct val="150000"/>
              </a:lnSpc>
            </a:pPr>
            <a:endParaRPr lang="en-US" altLang="ko-KR" sz="1400" dirty="0">
              <a:solidFill>
                <a:srgbClr val="24292F"/>
              </a:solidFill>
              <a:latin typeface="Noto Sans KR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66C9BD5-82D7-4D79-814B-333378C4217A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dirty="0" err="1">
                <a:solidFill>
                  <a:srgbClr val="24292F"/>
                </a:solidFill>
                <a:latin typeface="Noto Sans KR"/>
              </a:rPr>
              <a:t>디코더</a:t>
            </a:r>
            <a:endParaRPr lang="ko-KR" altLang="en-US" sz="28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A7283B2-05EB-6435-1101-62BC6C645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971" y="1412755"/>
            <a:ext cx="3168386" cy="491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67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6A24A-C50F-AEED-DA56-6A087F41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5305E77-EC05-254C-4F39-317EC324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76" y="951898"/>
            <a:ext cx="8295408" cy="570309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en-US" altLang="ko-KR" sz="1900" b="1" dirty="0"/>
              <a:t>Teacher Forcing</a:t>
            </a:r>
            <a:r>
              <a:rPr lang="ko-KR" altLang="en-US" sz="1900" b="1" dirty="0"/>
              <a:t>이란</a:t>
            </a:r>
            <a:r>
              <a:rPr lang="en-US" altLang="ko-KR" sz="1900" b="1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일반적인 시퀀스 생성 모델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번역</a:t>
            </a:r>
            <a:r>
              <a:rPr lang="en-US" altLang="ko-KR" dirty="0"/>
              <a:t>, </a:t>
            </a:r>
            <a:r>
              <a:rPr lang="ko-KR" altLang="en-US" dirty="0"/>
              <a:t>문장 생성 등</a:t>
            </a:r>
            <a:r>
              <a:rPr lang="en-US" altLang="ko-KR" dirty="0"/>
              <a:t>)</a:t>
            </a:r>
            <a:r>
              <a:rPr lang="ko-KR" altLang="en-US" dirty="0"/>
              <a:t>은 이전 시점의 </a:t>
            </a:r>
            <a:r>
              <a:rPr lang="ko-KR" altLang="en-US" b="1" dirty="0"/>
              <a:t>모델의 예측 결과</a:t>
            </a:r>
            <a:r>
              <a:rPr lang="ko-KR" altLang="en-US" dirty="0"/>
              <a:t>를 다음 시점의 입력으로 사용한다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모델이 학습 초기에 잘못된 예측을 하면 그 오차가 다음 입력에도 영향을 주어 연속적으로 </a:t>
            </a:r>
            <a:r>
              <a:rPr lang="ko-KR" altLang="en-US" b="1" dirty="0"/>
              <a:t>오답이 누적되는 문제</a:t>
            </a:r>
            <a:r>
              <a:rPr lang="ko-KR" altLang="en-US" dirty="0"/>
              <a:t>가 생긴다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이를 방지하기 위해</a:t>
            </a:r>
            <a:r>
              <a:rPr lang="en-US" altLang="ko-KR" dirty="0"/>
              <a:t>,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solidFill>
                  <a:srgbClr val="0070C0"/>
                </a:solidFill>
              </a:rPr>
              <a:t>학습 시에는 “모델의 </a:t>
            </a:r>
            <a:r>
              <a:rPr lang="ko-KR" altLang="en-US" sz="1600" dirty="0" err="1">
                <a:solidFill>
                  <a:srgbClr val="0070C0"/>
                </a:solidFill>
              </a:rPr>
              <a:t>예측값</a:t>
            </a:r>
            <a:r>
              <a:rPr lang="ko-KR" altLang="en-US" sz="1600" dirty="0">
                <a:solidFill>
                  <a:srgbClr val="0070C0"/>
                </a:solidFill>
              </a:rPr>
              <a:t>” 대신 “실제 정답</a:t>
            </a:r>
            <a:r>
              <a:rPr lang="en-US" altLang="ko-KR" sz="1600" dirty="0">
                <a:solidFill>
                  <a:srgbClr val="0070C0"/>
                </a:solidFill>
              </a:rPr>
              <a:t>(ground truth)”</a:t>
            </a:r>
            <a:r>
              <a:rPr lang="ko-KR" altLang="en-US" sz="1600" dirty="0">
                <a:solidFill>
                  <a:srgbClr val="0070C0"/>
                </a:solidFill>
              </a:rPr>
              <a:t>을</a:t>
            </a:r>
            <a:br>
              <a:rPr lang="ko-KR" altLang="en-US" sz="1600" dirty="0">
                <a:solidFill>
                  <a:srgbClr val="0070C0"/>
                </a:solidFill>
              </a:rPr>
            </a:br>
            <a:r>
              <a:rPr lang="ko-KR" altLang="en-US" sz="1600" dirty="0">
                <a:solidFill>
                  <a:srgbClr val="0070C0"/>
                </a:solidFill>
              </a:rPr>
              <a:t>다음 시점의 입력으로 강제로 넣어주는 방법이 </a:t>
            </a:r>
            <a:r>
              <a:rPr lang="ko-KR" altLang="en-US" sz="1600" b="1" dirty="0">
                <a:solidFill>
                  <a:srgbClr val="0070C0"/>
                </a:solidFill>
              </a:rPr>
              <a:t>교사 강제법</a:t>
            </a:r>
            <a:r>
              <a:rPr lang="ko-KR" altLang="en-US" sz="1600" dirty="0">
                <a:solidFill>
                  <a:srgbClr val="0070C0"/>
                </a:solidFill>
              </a:rPr>
              <a:t>이다</a:t>
            </a:r>
            <a:r>
              <a:rPr lang="en-US" altLang="ko-KR" sz="1600" dirty="0">
                <a:solidFill>
                  <a:srgbClr val="0070C0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예시</a:t>
            </a:r>
            <a:endParaRPr lang="en-US" altLang="ko-KR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학습 시에는 “모델의 </a:t>
            </a:r>
            <a:r>
              <a:rPr lang="ko-KR" altLang="en-US" sz="1600" dirty="0" err="1"/>
              <a:t>예측값</a:t>
            </a:r>
            <a:r>
              <a:rPr lang="ko-KR" altLang="en-US" sz="1600" dirty="0"/>
              <a:t>” 대신 “실제 정답</a:t>
            </a:r>
            <a:r>
              <a:rPr lang="en-US" altLang="ko-KR" sz="1600" dirty="0"/>
              <a:t>(ground truth)”</a:t>
            </a:r>
            <a:r>
              <a:rPr lang="ko-KR" altLang="en-US" sz="1600" dirty="0"/>
              <a:t>을 사용한다</a:t>
            </a:r>
            <a:r>
              <a:rPr lang="en-US" altLang="ko-KR" sz="1600" dirty="0"/>
              <a:t>.</a:t>
            </a:r>
          </a:p>
          <a:p>
            <a:pPr marL="677862" lvl="2" indent="0">
              <a:lnSpc>
                <a:spcPct val="150000"/>
              </a:lnSpc>
              <a:buNone/>
            </a:pPr>
            <a:r>
              <a:rPr lang="ko-KR" altLang="en-US" sz="1600" dirty="0"/>
              <a:t>   </a:t>
            </a:r>
            <a:r>
              <a:rPr lang="en-US" altLang="ko-KR" sz="1600" dirty="0">
                <a:sym typeface="Wingdings" panose="05000000000000000000" pitchFamily="2" charset="2"/>
              </a:rPr>
              <a:t> </a:t>
            </a:r>
            <a:r>
              <a:rPr lang="ko-KR" altLang="en-US" sz="1600" dirty="0"/>
              <a:t>입력</a:t>
            </a:r>
            <a:r>
              <a:rPr lang="en-US" altLang="ko-KR" sz="1600" dirty="0"/>
              <a:t>: "</a:t>
            </a:r>
            <a:r>
              <a:rPr lang="ko-KR" altLang="en-US" sz="1600" dirty="0"/>
              <a:t>나는 밥을</a:t>
            </a:r>
            <a:r>
              <a:rPr lang="en-US" altLang="ko-KR" sz="1600" dirty="0"/>
              <a:t>“  </a:t>
            </a:r>
            <a:r>
              <a:rPr lang="en-US" altLang="ko-KR" sz="1600" dirty="0">
                <a:sym typeface="Wingdings" panose="05000000000000000000" pitchFamily="2" charset="2"/>
              </a:rPr>
              <a:t> </a:t>
            </a:r>
            <a:r>
              <a:rPr lang="ko-KR" altLang="en-US" sz="1600" dirty="0"/>
              <a:t>출력</a:t>
            </a:r>
            <a:r>
              <a:rPr lang="en-US" altLang="ko-KR" sz="1600" dirty="0"/>
              <a:t>: "I eat rice"</a:t>
            </a:r>
          </a:p>
          <a:p>
            <a:pPr marL="677862" lvl="2" indent="0">
              <a:lnSpc>
                <a:spcPct val="150000"/>
              </a:lnSpc>
              <a:buNone/>
            </a:pPr>
            <a:r>
              <a:rPr lang="en-US" altLang="ko-KR" sz="1600" dirty="0"/>
              <a:t>        </a:t>
            </a:r>
            <a:r>
              <a:rPr lang="ko-KR" altLang="en-US" sz="1600" dirty="0"/>
              <a:t>출력             입력</a:t>
            </a:r>
            <a:endParaRPr lang="en-US" altLang="ko-KR" sz="1600" dirty="0"/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700" dirty="0"/>
              <a:t>t=1 “I”         &lt;SOS&gt;</a:t>
            </a: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700" dirty="0"/>
              <a:t>t=2 “eat”     </a:t>
            </a:r>
            <a:r>
              <a:rPr lang="ko-KR" altLang="en-US" sz="1700" dirty="0"/>
              <a:t>실제 정답 “</a:t>
            </a:r>
            <a:r>
              <a:rPr lang="en-US" altLang="ko-KR" sz="1700" dirty="0"/>
              <a:t>I” </a:t>
            </a:r>
            <a:r>
              <a:rPr lang="ko-KR" altLang="en-US" sz="1700" dirty="0"/>
              <a:t>사용 </a:t>
            </a:r>
            <a:r>
              <a:rPr lang="en-US" altLang="ko-KR" sz="1700" dirty="0"/>
              <a:t>(</a:t>
            </a:r>
            <a:r>
              <a:rPr lang="ko-KR" altLang="en-US" sz="1700" dirty="0"/>
              <a:t>교사 </a:t>
            </a:r>
            <a:r>
              <a:rPr lang="ko-KR" altLang="en-US" sz="1700" dirty="0" err="1"/>
              <a:t>강제법</a:t>
            </a:r>
            <a:r>
              <a:rPr lang="en-US" altLang="ko-KR" sz="1700" dirty="0"/>
              <a:t>) </a:t>
            </a: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700" dirty="0"/>
              <a:t>t=3 “rice”    </a:t>
            </a:r>
            <a:r>
              <a:rPr lang="ko-KR" altLang="en-US" sz="1700" dirty="0"/>
              <a:t>실제 정답 “</a:t>
            </a:r>
            <a:r>
              <a:rPr lang="en-US" altLang="ko-KR" sz="1700" dirty="0"/>
              <a:t>eat” </a:t>
            </a:r>
            <a:r>
              <a:rPr lang="ko-KR" altLang="en-US" sz="1700" dirty="0"/>
              <a:t>사용 </a:t>
            </a:r>
            <a:r>
              <a:rPr lang="en-US" altLang="ko-KR" sz="1700" dirty="0"/>
              <a:t>(</a:t>
            </a:r>
            <a:r>
              <a:rPr lang="ko-KR" altLang="en-US" sz="1700" dirty="0"/>
              <a:t>교사 </a:t>
            </a:r>
            <a:r>
              <a:rPr lang="ko-KR" altLang="en-US" sz="1700" dirty="0" err="1"/>
              <a:t>강제법</a:t>
            </a:r>
            <a:r>
              <a:rPr lang="en-US" altLang="ko-KR" sz="1700" dirty="0"/>
              <a:t>)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800" dirty="0"/>
              <a:t>모델이 이전 시점에서 틀렸더라도</a:t>
            </a:r>
            <a:r>
              <a:rPr lang="en-US" altLang="ko-KR" sz="1800" dirty="0"/>
              <a:t>,</a:t>
            </a:r>
            <a:br>
              <a:rPr lang="en-US" altLang="ko-KR" sz="1800" dirty="0"/>
            </a:br>
            <a:r>
              <a:rPr lang="ko-KR" altLang="en-US" sz="1800" dirty="0"/>
              <a:t>다음 시점 입력에는 여전히 올바른 단어</a:t>
            </a:r>
            <a:r>
              <a:rPr lang="en-US" altLang="ko-KR" sz="1800" dirty="0"/>
              <a:t>(</a:t>
            </a:r>
            <a:r>
              <a:rPr lang="ko-KR" altLang="en-US" sz="1800" dirty="0"/>
              <a:t>정답</a:t>
            </a:r>
            <a:r>
              <a:rPr lang="en-US" altLang="ko-KR" sz="1800" dirty="0"/>
              <a:t>)</a:t>
            </a:r>
            <a:r>
              <a:rPr lang="ko-KR" altLang="en-US" sz="1800" dirty="0"/>
              <a:t>가 들어간다</a:t>
            </a:r>
            <a:r>
              <a:rPr lang="en-US" altLang="ko-KR" sz="1800" dirty="0"/>
              <a:t>.</a:t>
            </a:r>
            <a:endParaRPr lang="en-US" altLang="ko-KR" sz="17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28296ED-9BF3-702E-4728-6DD0F7046EEB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교사 </a:t>
            </a:r>
            <a:r>
              <a:rPr lang="ko-KR" altLang="en-US" sz="2800" b="1" dirty="0" err="1">
                <a:solidFill>
                  <a:srgbClr val="24292F"/>
                </a:solidFill>
                <a:latin typeface="Noto Sans KR"/>
              </a:rPr>
              <a:t>강제법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(</a:t>
            </a:r>
            <a:r>
              <a:rPr lang="en-US" altLang="ko-KR" sz="2800" b="1" dirty="0"/>
              <a:t>Teacher Forcing)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08258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10B28-0254-A1AD-3992-067708DEC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8CFD53-5AAF-8ABC-1CA0-68EC6F600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76" y="951899"/>
            <a:ext cx="8295408" cy="564548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/>
              <a:t>트랜스포머에서 </a:t>
            </a:r>
            <a:r>
              <a:rPr lang="en-US" altLang="ko-KR" dirty="0"/>
              <a:t>Teacher Forcing</a:t>
            </a:r>
            <a:r>
              <a:rPr lang="ko-KR" altLang="en-US" dirty="0"/>
              <a:t>의 동작 방식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Teacher Forcing</a:t>
            </a:r>
            <a:r>
              <a:rPr lang="ko-KR" altLang="en-US" dirty="0"/>
              <a:t>을 사용할 때는 </a:t>
            </a:r>
            <a:r>
              <a:rPr lang="ko-KR" altLang="en-US" dirty="0" err="1"/>
              <a:t>디코더가</a:t>
            </a:r>
            <a:r>
              <a:rPr lang="ko-KR" altLang="en-US" dirty="0"/>
              <a:t> 예측한 값 대신</a:t>
            </a:r>
            <a:r>
              <a:rPr lang="en-US" altLang="ko-KR" dirty="0"/>
              <a:t>, </a:t>
            </a:r>
            <a:r>
              <a:rPr lang="ko-KR" altLang="en-US" b="1" dirty="0"/>
              <a:t>실제 정답 단어</a:t>
            </a:r>
            <a:r>
              <a:rPr lang="ko-KR" altLang="en-US" dirty="0"/>
              <a:t>를 입력으로 사용한다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/>
              <a:t>훈련 중</a:t>
            </a:r>
            <a:r>
              <a:rPr lang="en-US" altLang="ko-KR" dirty="0"/>
              <a:t>: 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en-US" altLang="ko-KR" b="1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en-US" altLang="ko-KR" b="1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en-US" altLang="ko-KR" b="1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en-US" altLang="ko-KR" b="1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en-US" altLang="ko-KR" b="1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en-US" altLang="ko-KR" b="1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en-US" altLang="ko-KR" b="1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en-US" altLang="ko-KR" b="1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/>
              <a:t>테스트</a:t>
            </a:r>
            <a:r>
              <a:rPr lang="en-US" altLang="ko-KR" b="1" dirty="0"/>
              <a:t>/</a:t>
            </a:r>
            <a:r>
              <a:rPr lang="ko-KR" altLang="en-US" b="1" dirty="0"/>
              <a:t>추론 중</a:t>
            </a:r>
            <a:r>
              <a:rPr lang="en-US" altLang="ko-KR" dirty="0"/>
              <a:t>: </a:t>
            </a:r>
          </a:p>
          <a:p>
            <a:pPr marL="1030287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훈련 시 </a:t>
            </a:r>
            <a:r>
              <a:rPr lang="en-US" altLang="ko-KR" sz="1600" b="1" dirty="0"/>
              <a:t>Teacher Forcing</a:t>
            </a:r>
            <a:r>
              <a:rPr lang="ko-KR" altLang="en-US" sz="1600" dirty="0"/>
              <a:t>을 사용하여 실제 값을 입력으로 제공했지만</a:t>
            </a:r>
            <a:r>
              <a:rPr lang="en-US" altLang="ko-KR" sz="1600" dirty="0"/>
              <a:t>, </a:t>
            </a:r>
            <a:r>
              <a:rPr lang="ko-KR" altLang="en-US" sz="1600" dirty="0"/>
              <a:t>테스트에서는 모델이 </a:t>
            </a:r>
            <a:r>
              <a:rPr lang="ko-KR" altLang="en-US" sz="1600" b="1" dirty="0"/>
              <a:t>자기 예측</a:t>
            </a:r>
            <a:r>
              <a:rPr lang="ko-KR" altLang="en-US" sz="1600" dirty="0"/>
              <a:t>을 기반으로 다음 단어를 예측해야 한다</a:t>
            </a:r>
            <a:r>
              <a:rPr lang="en-US" altLang="ko-KR" sz="1600" dirty="0"/>
              <a:t>. </a:t>
            </a: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디코더는 </a:t>
            </a:r>
            <a:r>
              <a:rPr lang="ko-KR" altLang="en-US" sz="1600" b="1" dirty="0"/>
              <a:t>자기 예측 결과</a:t>
            </a:r>
            <a:r>
              <a:rPr lang="ko-KR" altLang="en-US" sz="1600" dirty="0"/>
              <a:t>를 입력으로 사용하여 문장을 생성하게 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CE55374-75BE-A7F8-7E81-F0028338D84F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교사 </a:t>
            </a:r>
            <a:r>
              <a:rPr lang="ko-KR" altLang="en-US" sz="2800" b="1" dirty="0" err="1">
                <a:solidFill>
                  <a:srgbClr val="24292F"/>
                </a:solidFill>
                <a:latin typeface="Noto Sans KR"/>
              </a:rPr>
              <a:t>강제법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(</a:t>
            </a:r>
            <a:r>
              <a:rPr lang="en-US" altLang="ko-KR" sz="2800" b="1" dirty="0"/>
              <a:t>Teacher Forcing)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EBC7F3-DC51-CC12-372E-D2208FEBB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94" y="2393324"/>
            <a:ext cx="6868484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59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BAE8A-062E-301B-F0CF-A9DFBE345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EB54041-F6FE-1364-3F23-4E119DBA9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1" y="1029353"/>
            <a:ext cx="8525837" cy="574085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룩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어헤드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마스크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(look-ahead mask)</a:t>
            </a:r>
            <a:endParaRPr lang="ko-KR" altLang="en-US" b="1" i="0" dirty="0">
              <a:solidFill>
                <a:srgbClr val="24292F"/>
              </a:solidFill>
              <a:effectLst/>
              <a:latin typeface="Noto Sans KR"/>
            </a:endParaRPr>
          </a:p>
          <a:p>
            <a:pPr lvl="1">
              <a:lnSpc>
                <a:spcPct val="150000"/>
              </a:lnSpc>
            </a:pPr>
            <a:r>
              <a:rPr lang="en-US" altLang="ko-KR" sz="1700" dirty="0"/>
              <a:t>Transformer</a:t>
            </a:r>
            <a:r>
              <a:rPr lang="ko-KR" altLang="en-US" sz="1700" dirty="0"/>
              <a:t>의 </a:t>
            </a:r>
            <a:r>
              <a:rPr lang="ko-KR" altLang="en-US" sz="1700" b="1" dirty="0" err="1"/>
              <a:t>디코더</a:t>
            </a:r>
            <a:r>
              <a:rPr lang="en-US" altLang="ko-KR" sz="1700" b="1" dirty="0"/>
              <a:t>(Self-Attention)</a:t>
            </a:r>
            <a:r>
              <a:rPr lang="ko-KR" altLang="en-US" sz="1700" dirty="0"/>
              <a:t>가 </a:t>
            </a:r>
            <a:r>
              <a:rPr lang="ko-KR" altLang="en-US" sz="1700" b="1" dirty="0"/>
              <a:t>문장을 생성할 때 미래 단어 정보를 보지 않게 하는 규칙</a:t>
            </a:r>
            <a:r>
              <a:rPr lang="ko-KR" altLang="en-US" sz="1700" dirty="0"/>
              <a:t>을 </a:t>
            </a:r>
            <a:r>
              <a:rPr lang="ko-KR" altLang="en-US" sz="1700" b="1" dirty="0"/>
              <a:t>“</a:t>
            </a:r>
            <a:r>
              <a:rPr lang="en-US" altLang="ko-KR" sz="1700" b="1" dirty="0"/>
              <a:t>Look-Ahead Mask”</a:t>
            </a:r>
            <a:r>
              <a:rPr lang="ko-KR" altLang="en-US" sz="1700" dirty="0"/>
              <a:t> 라고도 불린다</a:t>
            </a:r>
            <a:r>
              <a:rPr lang="en-US" altLang="ko-KR" sz="17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문제 상황</a:t>
            </a:r>
            <a:r>
              <a:rPr lang="en-US" altLang="ko-KR" b="1" dirty="0"/>
              <a:t>: </a:t>
            </a:r>
            <a:r>
              <a:rPr lang="ko-KR" altLang="en-US" b="1" dirty="0"/>
              <a:t>미래 단어를 보면 안 되는 이유</a:t>
            </a:r>
            <a:endParaRPr lang="en-US" altLang="ko-KR" b="1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Transformer</a:t>
            </a:r>
            <a:r>
              <a:rPr lang="ko-KR" altLang="en-US" sz="1600" dirty="0"/>
              <a:t>의 </a:t>
            </a:r>
            <a:r>
              <a:rPr lang="en-US" altLang="ko-KR" sz="1600" b="1" dirty="0"/>
              <a:t>Self-Attention</a:t>
            </a:r>
            <a:r>
              <a:rPr lang="ko-KR" altLang="en-US" sz="1600" dirty="0"/>
              <a:t>은 입력 시퀀스의 모든 단어가 서로를 참고할 수 있는 구조이다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각 단어가 다른 모든 단어와의 관계</a:t>
            </a:r>
            <a:r>
              <a:rPr lang="en-US" altLang="ko-KR" sz="1600" dirty="0"/>
              <a:t>(</a:t>
            </a:r>
            <a:r>
              <a:rPr lang="ko-KR" altLang="en-US" sz="1600" dirty="0"/>
              <a:t>유사도</a:t>
            </a:r>
            <a:r>
              <a:rPr lang="en-US" altLang="ko-KR" sz="1600" dirty="0"/>
              <a:t>)</a:t>
            </a:r>
            <a:r>
              <a:rPr lang="ko-KR" altLang="en-US" sz="1600" dirty="0"/>
              <a:t>를 계산한다</a:t>
            </a:r>
            <a:r>
              <a:rPr lang="en-US" altLang="ko-KR" sz="1600" dirty="0"/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예를 들어 문장 “나는 밥을 먹는다” 가 있을 때</a:t>
            </a:r>
            <a:r>
              <a:rPr lang="en-US" altLang="ko-KR" sz="1600" dirty="0"/>
              <a:t>, “</a:t>
            </a:r>
            <a:r>
              <a:rPr lang="ko-KR" altLang="en-US" sz="1600" dirty="0" err="1"/>
              <a:t>밥을”이라는</a:t>
            </a:r>
            <a:r>
              <a:rPr lang="ko-KR" altLang="en-US" sz="1600" dirty="0"/>
              <a:t> 단어의 </a:t>
            </a:r>
            <a:r>
              <a:rPr lang="ko-KR" altLang="en-US" sz="1600" dirty="0" err="1"/>
              <a:t>어텐션은</a:t>
            </a:r>
            <a:r>
              <a:rPr lang="ko-KR" altLang="en-US" sz="1600" dirty="0"/>
              <a:t> 기본적으로 “나는”</a:t>
            </a:r>
            <a:r>
              <a:rPr lang="en-US" altLang="ko-KR" sz="1600" dirty="0"/>
              <a:t>, “</a:t>
            </a:r>
            <a:r>
              <a:rPr lang="ko-KR" altLang="en-US" sz="1600" dirty="0"/>
              <a:t>밥을”</a:t>
            </a:r>
            <a:r>
              <a:rPr lang="en-US" altLang="ko-KR" sz="1600" dirty="0"/>
              <a:t>, “</a:t>
            </a:r>
            <a:r>
              <a:rPr lang="ko-KR" altLang="en-US" sz="1600" dirty="0"/>
              <a:t>먹는다” 모두를 볼 수 있다</a:t>
            </a:r>
            <a:r>
              <a:rPr lang="en-US" altLang="ko-KR" sz="1600" dirty="0"/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그런데 </a:t>
            </a:r>
            <a:r>
              <a:rPr lang="ko-KR" altLang="en-US" sz="1600" b="1" dirty="0" err="1"/>
              <a:t>디코더는</a:t>
            </a:r>
            <a:r>
              <a:rPr lang="ko-KR" altLang="en-US" sz="1600" b="1" dirty="0"/>
              <a:t> 다음 단어를 “순차적으로 </a:t>
            </a:r>
            <a:r>
              <a:rPr lang="ko-KR" altLang="en-US" sz="1600" b="1" dirty="0" err="1"/>
              <a:t>생성”해야</a:t>
            </a:r>
            <a:r>
              <a:rPr lang="ko-KR" altLang="en-US" sz="1600" b="1" dirty="0"/>
              <a:t> 한다</a:t>
            </a:r>
            <a:r>
              <a:rPr lang="en-US" altLang="ko-KR" sz="1600" b="1" dirty="0"/>
              <a:t>.</a:t>
            </a: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t=1 → &lt;BOS&gt;</a:t>
            </a:r>
            <a:r>
              <a:rPr lang="ko-KR" altLang="en-US" sz="1600" dirty="0"/>
              <a:t> 보고 첫 단어 예측 </a:t>
            </a:r>
            <a:r>
              <a:rPr lang="en-US" altLang="ko-KR" sz="1600" dirty="0"/>
              <a:t>(“</a:t>
            </a:r>
            <a:r>
              <a:rPr lang="ko-KR" altLang="en-US" sz="1600" dirty="0"/>
              <a:t>나는”</a:t>
            </a:r>
            <a:r>
              <a:rPr lang="en-US" altLang="ko-KR" sz="1600" dirty="0"/>
              <a:t>)</a:t>
            </a: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t=2 → “</a:t>
            </a:r>
            <a:r>
              <a:rPr lang="ko-KR" altLang="en-US" sz="1600" dirty="0"/>
              <a:t>나는” 보고 두 번째 단어 예측 </a:t>
            </a:r>
            <a:r>
              <a:rPr lang="en-US" altLang="ko-KR" sz="1600" dirty="0"/>
              <a:t>(“</a:t>
            </a:r>
            <a:r>
              <a:rPr lang="ko-KR" altLang="en-US" sz="1600" dirty="0"/>
              <a:t>밥을”</a:t>
            </a:r>
            <a:r>
              <a:rPr lang="en-US" altLang="ko-KR" sz="1600" dirty="0"/>
              <a:t>)</a:t>
            </a: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t=3 → “</a:t>
            </a:r>
            <a:r>
              <a:rPr lang="ko-KR" altLang="en-US" sz="1600" dirty="0"/>
              <a:t>나는 밥을” 보고 세 번째 단어 예측 </a:t>
            </a:r>
            <a:r>
              <a:rPr lang="en-US" altLang="ko-KR" sz="1600" dirty="0"/>
              <a:t>(“</a:t>
            </a:r>
            <a:r>
              <a:rPr lang="ko-KR" altLang="en-US" sz="1600" dirty="0"/>
              <a:t>먹는다”</a:t>
            </a:r>
            <a:r>
              <a:rPr lang="en-US" altLang="ko-KR" sz="1600" dirty="0"/>
              <a:t>)</a:t>
            </a: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 때 모델이 </a:t>
            </a:r>
            <a:r>
              <a:rPr lang="ko-KR" altLang="en-US" sz="1600" b="1" dirty="0"/>
              <a:t>“아직 생성하지 않은 미래 단어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예</a:t>
            </a:r>
            <a:r>
              <a:rPr lang="en-US" altLang="ko-KR" sz="1600" b="1" dirty="0"/>
              <a:t>: ‘</a:t>
            </a:r>
            <a:r>
              <a:rPr lang="ko-KR" altLang="en-US" sz="1600" b="1" dirty="0"/>
              <a:t>먹는다’</a:t>
            </a:r>
            <a:r>
              <a:rPr lang="en-US" altLang="ko-KR" sz="1600" b="1" dirty="0"/>
              <a:t>)”</a:t>
            </a:r>
            <a:r>
              <a:rPr lang="ko-KR" altLang="en-US" sz="1600" b="1" dirty="0"/>
              <a:t>를 미리 참고하면 안 된다</a:t>
            </a:r>
            <a:r>
              <a:rPr lang="en-US" altLang="ko-KR" sz="1600" b="1" dirty="0"/>
              <a:t>. </a:t>
            </a:r>
            <a:r>
              <a:rPr lang="ko-KR" altLang="en-US" sz="1600" dirty="0"/>
              <a:t>그건 마치 </a:t>
            </a:r>
            <a:r>
              <a:rPr lang="ko-KR" altLang="en-US" sz="1600" b="1" dirty="0"/>
              <a:t>시험 문제의 답을 미리 보는 것</a:t>
            </a:r>
            <a:r>
              <a:rPr lang="ko-KR" altLang="en-US" sz="1600" dirty="0"/>
              <a:t>과 같다</a:t>
            </a:r>
            <a:r>
              <a:rPr lang="en-US" altLang="ko-KR" sz="1600" dirty="0"/>
              <a:t>.</a:t>
            </a:r>
          </a:p>
          <a:p>
            <a:pPr marL="677862" lvl="2" indent="0">
              <a:lnSpc>
                <a:spcPct val="150000"/>
              </a:lnSpc>
              <a:buNone/>
            </a:pPr>
            <a:r>
              <a:rPr lang="en-US" altLang="ko-KR" sz="1600" dirty="0">
                <a:sym typeface="Wingdings" panose="05000000000000000000" pitchFamily="2" charset="2"/>
              </a:rPr>
              <a:t> </a:t>
            </a:r>
            <a:r>
              <a:rPr lang="ko-KR" altLang="en-US" sz="1600" dirty="0"/>
              <a:t>그래서 “미래 단어를 가려주는</a:t>
            </a:r>
            <a:r>
              <a:rPr lang="en-US" altLang="ko-KR" sz="1600" dirty="0"/>
              <a:t>(masking)” </a:t>
            </a:r>
            <a:r>
              <a:rPr lang="ko-KR" altLang="en-US" sz="1600" dirty="0"/>
              <a:t>과정이 필요하다</a:t>
            </a:r>
            <a:r>
              <a:rPr lang="en-US" altLang="ko-KR" sz="1600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C0B1D5A-F5AA-337F-BBA5-C73FCB47987C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Masked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02993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FEA4D-C967-17B7-8BAC-FA499BB6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BC6DA2CC-8717-A9E4-EA9E-FBF364424E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901" y="1029353"/>
                <a:ext cx="8525837" cy="5740854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룩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-</a:t>
                </a:r>
                <a:r>
                  <a:rPr lang="ko-KR" altLang="en-US" b="1" i="0" dirty="0" err="1">
                    <a:solidFill>
                      <a:srgbClr val="24292F"/>
                    </a:solidFill>
                    <a:effectLst/>
                    <a:latin typeface="Noto Sans KR"/>
                  </a:rPr>
                  <a:t>어헤드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마스크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(look-ahead mask)</a:t>
                </a:r>
                <a:endParaRPr lang="ko-KR" altLang="en-US" b="1" i="0" dirty="0">
                  <a:solidFill>
                    <a:srgbClr val="24292F"/>
                  </a:solidFill>
                  <a:effectLst/>
                  <a:latin typeface="Noto Sans KR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해결방법</a:t>
                </a:r>
                <a:endParaRPr lang="en-US" altLang="ko-KR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Transformer</a:t>
                </a:r>
                <a:r>
                  <a:rPr lang="ko-KR" altLang="en-US" sz="1600" dirty="0"/>
                  <a:t>는 </a:t>
                </a:r>
                <a:r>
                  <a:rPr lang="ko-KR" altLang="en-US" sz="1600" b="1" dirty="0"/>
                  <a:t>미래 단어를 가리는 </a:t>
                </a:r>
                <a:r>
                  <a:rPr lang="ko-KR" altLang="en-US" sz="1600" b="1" dirty="0" err="1"/>
                  <a:t>하삼각</a:t>
                </a:r>
                <a:r>
                  <a:rPr lang="ko-KR" altLang="en-US" sz="1600" b="1" dirty="0"/>
                  <a:t> 행렬</a:t>
                </a:r>
                <a:r>
                  <a:rPr lang="en-US" altLang="ko-KR" sz="1600" b="1" dirty="0"/>
                  <a:t>(mask matrix)</a:t>
                </a:r>
                <a:r>
                  <a:rPr lang="ko-KR" altLang="en-US" sz="1600" dirty="0"/>
                  <a:t> 를 사용한다</a:t>
                </a:r>
                <a:r>
                  <a:rPr lang="en-US" altLang="ko-KR" sz="1600" dirty="0"/>
                  <a:t>.</a:t>
                </a:r>
                <a:br>
                  <a:rPr lang="en-US" altLang="ko-KR" sz="1600" dirty="0"/>
                </a:br>
                <a:r>
                  <a:rPr lang="ko-KR" altLang="en-US" sz="1600" dirty="0"/>
                  <a:t>예를 들어 시퀀스 길이가 </a:t>
                </a:r>
                <a:r>
                  <a:rPr lang="en-US" altLang="ko-KR" sz="1600" dirty="0"/>
                  <a:t>5</a:t>
                </a:r>
                <a:r>
                  <a:rPr lang="ko-KR" altLang="en-US" sz="1600" dirty="0"/>
                  <a:t>인 경우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마스크는 아래와 같다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0</a:t>
                </a:r>
                <a:r>
                  <a:rPr lang="ko-KR" altLang="en-US" sz="1600" dirty="0"/>
                  <a:t>은 “참고할 수 있음”</a:t>
                </a:r>
                <a:endParaRPr lang="en-US" altLang="ko-KR" sz="1600" dirty="0"/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−∞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혹은 아주 큰 음수</a:t>
                </a:r>
                <a:r>
                  <a:rPr lang="en-US" altLang="ko-KR" sz="1600" dirty="0"/>
                  <a:t>)</a:t>
                </a:r>
                <a:r>
                  <a:rPr lang="ko-KR" altLang="en-US" sz="1600" dirty="0"/>
                  <a:t>은 “참고 </a:t>
                </a:r>
                <a:r>
                  <a:rPr lang="ko-KR" altLang="en-US" sz="1600" dirty="0" err="1"/>
                  <a:t>불가능”을</a:t>
                </a:r>
                <a:r>
                  <a:rPr lang="ko-KR" altLang="en-US" sz="1600" dirty="0"/>
                  <a:t> 의미한다</a:t>
                </a:r>
                <a:r>
                  <a:rPr lang="en-US" altLang="ko-KR" sz="1600" dirty="0"/>
                  <a:t>.</a:t>
                </a:r>
                <a:br>
                  <a:rPr lang="en-US" altLang="ko-KR" sz="1600" dirty="0"/>
                </a:br>
                <a:r>
                  <a:rPr lang="en-US" altLang="ko-KR" sz="1600" dirty="0"/>
                  <a:t>(</a:t>
                </a:r>
                <a:r>
                  <a:rPr lang="ko-KR" altLang="en-US" sz="1600" dirty="0"/>
                  <a:t>이 값은 </a:t>
                </a:r>
                <a:r>
                  <a:rPr lang="en-US" altLang="ko-KR" sz="1600" dirty="0" err="1"/>
                  <a:t>softmax</a:t>
                </a:r>
                <a:r>
                  <a:rPr lang="ko-KR" altLang="en-US" sz="1600" dirty="0"/>
                  <a:t>에서 </a:t>
                </a:r>
                <a:r>
                  <a:rPr lang="en-US" altLang="ko-KR" sz="1600" dirty="0"/>
                  <a:t>0 </a:t>
                </a:r>
                <a:r>
                  <a:rPr lang="ko-KR" altLang="en-US" sz="1600" dirty="0"/>
                  <a:t>확률로 만들어 버림</a:t>
                </a:r>
                <a:r>
                  <a:rPr lang="en-US" altLang="ko-KR" sz="1600" dirty="0"/>
                  <a:t>)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마스크를 </a:t>
                </a:r>
                <a:r>
                  <a:rPr lang="ko-KR" altLang="en-US" sz="1600" b="1" dirty="0"/>
                  <a:t>어텐션 가중치 계산</a:t>
                </a:r>
                <a:r>
                  <a:rPr lang="ko-KR" altLang="en-US" sz="1600" dirty="0"/>
                  <a:t>에 더해준다</a:t>
                </a:r>
                <a:r>
                  <a:rPr lang="en-US" altLang="ko-KR" sz="1600" dirty="0"/>
                  <a:t>.</a:t>
                </a:r>
                <a:endParaRPr lang="en-US" altLang="ko-KR" sz="1600" b="0" dirty="0"/>
              </a:p>
              <a:p>
                <a:pPr marL="677862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600" b="0"/>
                        <m:t>Attention</m:t>
                      </m:r>
                      <m:d>
                        <m:dPr>
                          <m:sepChr m:val=","/>
                          <m:ctrlPr>
                            <a:rPr lang="ko-KR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e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ko-KR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600" i="1"/>
                        <m:t>softmax</m:t>
                      </m:r>
                      <m:d>
                        <m:dPr>
                          <m:ctrlPr>
                            <a:rPr lang="ko-KR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ko-KR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6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ko-KR" altLang="en-US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ko-KR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ko-KR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6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ko-KR" altLang="en-US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altLang="ko-KR" sz="1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ko-KR" sz="1600" i="1"/>
                            <m:t>mask</m:t>
                          </m:r>
                        </m:e>
                      </m:d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sz="1600" b="0" dirty="0"/>
              </a:p>
              <a:p>
                <a:pPr lvl="1"/>
                <a:r>
                  <a:rPr lang="ko-KR" altLang="en-US" dirty="0"/>
                  <a:t>결과적으로 </a:t>
                </a:r>
                <a:r>
                  <a:rPr lang="en-US" altLang="ko-KR" dirty="0" err="1"/>
                  <a:t>softmax</a:t>
                </a:r>
                <a:r>
                  <a:rPr lang="ko-KR" altLang="en-US" dirty="0"/>
                  <a:t>가 미래 단어의 </a:t>
                </a:r>
                <a:r>
                  <a:rPr lang="en-US" altLang="ko-KR" dirty="0"/>
                  <a:t>attention score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만들어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해당 위치는 전혀 참고되지 않게 된다</a:t>
                </a:r>
                <a:r>
                  <a:rPr lang="en-US" altLang="ko-KR" dirty="0"/>
                  <a:t>.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BC6DA2CC-8717-A9E4-EA9E-FBF364424E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901" y="1029353"/>
                <a:ext cx="8525837" cy="5740854"/>
              </a:xfrm>
              <a:blipFill>
                <a:blip r:embed="rId3"/>
                <a:stretch>
                  <a:fillRect l="-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DE7B9239-CB33-337F-E904-377520B71B26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Masked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5BC268-3FDB-6C57-76F0-44CF80A2D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413" y="2637104"/>
            <a:ext cx="3318156" cy="137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73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C4393-0199-849C-4FCF-FDF0F5C3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BF41177-D144-A5D2-CBD0-B9AA7DC04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029353"/>
            <a:ext cx="8107710" cy="55944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룩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어헤드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마스크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(look-ahead mask)</a:t>
            </a:r>
            <a:endParaRPr lang="ko-KR" altLang="en-US" b="1" i="0" dirty="0">
              <a:solidFill>
                <a:srgbClr val="24292F"/>
              </a:solidFill>
              <a:effectLst/>
              <a:latin typeface="Noto Sans KR"/>
            </a:endParaRPr>
          </a:p>
          <a:p>
            <a:pPr lvl="1">
              <a:lnSpc>
                <a:spcPct val="150000"/>
              </a:lnSpc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디코더의 첫번째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서브층인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멀티 헤드 셀프 어텐션 층은 인코더의 첫번째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서브층인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멀티 헤드 셀프 어텐션 층과 동일한 연산을 수행한다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다른 점은 어텐션 스코어 행렬에서 </a:t>
            </a:r>
            <a:r>
              <a:rPr lang="ko-KR" altLang="en-US" b="0" i="0" dirty="0" err="1">
                <a:solidFill>
                  <a:srgbClr val="24292F"/>
                </a:solidFill>
                <a:effectLst/>
                <a:latin typeface="Noto Sans KR"/>
              </a:rPr>
              <a:t>마스킹을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적용한다는 점만 다르다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1600" b="0" i="0" dirty="0" err="1">
                <a:solidFill>
                  <a:srgbClr val="24292F"/>
                </a:solidFill>
                <a:effectLst/>
                <a:latin typeface="Noto Sans KR"/>
              </a:rPr>
              <a:t>마스킹은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Noto Sans KR"/>
              </a:rPr>
              <a:t> 자기 자신보다 미래에 있는 단어들은 참고하지 못하도록 한다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Noto Sans KR"/>
              </a:rPr>
              <a:t>.</a:t>
            </a:r>
            <a:endParaRPr lang="en-US" altLang="ko-KR" sz="1400" dirty="0">
              <a:solidFill>
                <a:srgbClr val="24292F"/>
              </a:solidFill>
              <a:latin typeface="Noto Sans KR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0C58CBB-DC4D-1469-F2DC-51F50D629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043" y="3429000"/>
            <a:ext cx="5703093" cy="26892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A6C4117-1A26-B0D1-8F2E-5F809A9283E3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Masked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59912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3906D-194E-8C2F-7C7D-B9BD382F9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7A25B80-3FF3-D4B5-8CEE-524E6B1D3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029353"/>
            <a:ext cx="8107710" cy="55944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룩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어헤드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마스크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(look-ahead mask)</a:t>
            </a:r>
          </a:p>
          <a:p>
            <a:pPr lvl="1">
              <a:lnSpc>
                <a:spcPct val="150000"/>
              </a:lnSpc>
            </a:pPr>
            <a:r>
              <a:rPr lang="ko-KR" altLang="en-US" sz="1400" b="0" i="0" dirty="0">
                <a:solidFill>
                  <a:srgbClr val="24292F"/>
                </a:solidFill>
                <a:effectLst/>
                <a:latin typeface="Noto Sans KR"/>
              </a:rPr>
              <a:t>마스킹 된 후의 어텐션 스코어 행렬의 각 행을 보면 자기 자신과 그 이전 </a:t>
            </a:r>
            <a:r>
              <a:rPr lang="ko-KR" altLang="en-US" sz="1400" b="0" i="0" dirty="0" err="1">
                <a:solidFill>
                  <a:srgbClr val="24292F"/>
                </a:solidFill>
                <a:effectLst/>
                <a:latin typeface="Noto Sans KR"/>
              </a:rPr>
              <a:t>단어들만을</a:t>
            </a:r>
            <a:r>
              <a:rPr lang="ko-KR" altLang="en-US" sz="1400" b="0" i="0" dirty="0">
                <a:solidFill>
                  <a:srgbClr val="24292F"/>
                </a:solidFill>
                <a:effectLst/>
                <a:latin typeface="Noto Sans KR"/>
              </a:rPr>
              <a:t> 참고할 수 있음을 볼 수 있다</a:t>
            </a:r>
            <a:r>
              <a:rPr lang="en-US" altLang="ko-KR" sz="1400" b="0" i="0" dirty="0">
                <a:solidFill>
                  <a:srgbClr val="24292F"/>
                </a:solidFill>
                <a:effectLst/>
                <a:latin typeface="Noto Sans KR"/>
              </a:rPr>
              <a:t>. </a:t>
            </a:r>
            <a:r>
              <a:rPr lang="ko-KR" altLang="en-US" sz="1400" b="0" i="0" dirty="0">
                <a:solidFill>
                  <a:srgbClr val="24292F"/>
                </a:solidFill>
                <a:effectLst/>
                <a:latin typeface="Noto Sans KR"/>
              </a:rPr>
              <a:t>그 외에는 근본적으로 셀프 </a:t>
            </a:r>
            <a:r>
              <a:rPr lang="ko-KR" altLang="en-US" sz="1400" b="0" i="0" dirty="0" err="1">
                <a:solidFill>
                  <a:srgbClr val="24292F"/>
                </a:solidFill>
                <a:effectLst/>
                <a:latin typeface="Noto Sans KR"/>
              </a:rPr>
              <a:t>어텐션이라는</a:t>
            </a:r>
            <a:r>
              <a:rPr lang="ko-KR" altLang="en-US" sz="1400" b="0" i="0" dirty="0">
                <a:solidFill>
                  <a:srgbClr val="24292F"/>
                </a:solidFill>
                <a:effectLst/>
                <a:latin typeface="Noto Sans KR"/>
              </a:rPr>
              <a:t> 점과</a:t>
            </a:r>
            <a:r>
              <a:rPr lang="en-US" altLang="ko-KR" sz="1400" b="0" i="0" dirty="0">
                <a:solidFill>
                  <a:srgbClr val="24292F"/>
                </a:solidFill>
                <a:effectLst/>
                <a:latin typeface="Noto Sans KR"/>
              </a:rPr>
              <a:t>, </a:t>
            </a:r>
            <a:r>
              <a:rPr lang="ko-KR" altLang="en-US" sz="1400" b="0" i="0" dirty="0">
                <a:solidFill>
                  <a:srgbClr val="24292F"/>
                </a:solidFill>
                <a:effectLst/>
                <a:latin typeface="Noto Sans KR"/>
              </a:rPr>
              <a:t>멀티 헤드 </a:t>
            </a:r>
            <a:r>
              <a:rPr lang="ko-KR" altLang="en-US" sz="1400" b="0" i="0" dirty="0" err="1">
                <a:solidFill>
                  <a:srgbClr val="24292F"/>
                </a:solidFill>
                <a:effectLst/>
                <a:latin typeface="Noto Sans KR"/>
              </a:rPr>
              <a:t>어텐션을</a:t>
            </a:r>
            <a:r>
              <a:rPr lang="ko-KR" altLang="en-US" sz="1400" b="0" i="0" dirty="0">
                <a:solidFill>
                  <a:srgbClr val="24292F"/>
                </a:solidFill>
                <a:effectLst/>
                <a:latin typeface="Noto Sans KR"/>
              </a:rPr>
              <a:t> 수행한다는 점에서 인코더의 첫번째 서브층과 같다</a:t>
            </a:r>
            <a:r>
              <a:rPr lang="en-US" altLang="ko-KR" sz="1400" b="0" i="0" dirty="0">
                <a:solidFill>
                  <a:srgbClr val="24292F"/>
                </a:solidFill>
                <a:effectLst/>
                <a:latin typeface="Noto Sans KR"/>
              </a:rPr>
              <a:t>.</a:t>
            </a:r>
            <a:endParaRPr lang="ko-KR" altLang="en-US" sz="1400" b="1" i="0" dirty="0">
              <a:solidFill>
                <a:srgbClr val="24292F"/>
              </a:solidFill>
              <a:effectLst/>
              <a:latin typeface="Noto Sans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2B653B-5ED8-E4E2-DEEA-FEB3DD568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401" y="2680109"/>
            <a:ext cx="6817337" cy="1794036"/>
          </a:xfrm>
          <a:prstGeom prst="rect">
            <a:avLst/>
          </a:prstGeom>
        </p:spPr>
      </p:pic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8C96BFB5-829A-8190-089E-F2EA29B63005}"/>
              </a:ext>
            </a:extLst>
          </p:cNvPr>
          <p:cNvSpPr/>
          <p:nvPr/>
        </p:nvSpPr>
        <p:spPr>
          <a:xfrm>
            <a:off x="4168751" y="4120284"/>
            <a:ext cx="288035" cy="460856"/>
          </a:xfrm>
          <a:prstGeom prst="downArrow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68DD4F-1854-F822-9F10-D8B2283DE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61" y="4803850"/>
            <a:ext cx="2992970" cy="1777076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46AF46FC-2191-841E-B0B0-3CA0AE76A90C}"/>
              </a:ext>
            </a:extLst>
          </p:cNvPr>
          <p:cNvGrpSpPr/>
          <p:nvPr/>
        </p:nvGrpSpPr>
        <p:grpSpPr>
          <a:xfrm>
            <a:off x="3019205" y="4753961"/>
            <a:ext cx="2992970" cy="1777076"/>
            <a:chOff x="4794989" y="4889959"/>
            <a:chExt cx="2992970" cy="1777076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D0E93F9-2C09-1617-9E2B-C2BFB7D19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4989" y="4889959"/>
              <a:ext cx="2992970" cy="1777076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2D53959-188A-3199-65C1-6643F2A36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8926" y="5179397"/>
              <a:ext cx="1324961" cy="1129953"/>
            </a:xfrm>
            <a:prstGeom prst="rect">
              <a:avLst/>
            </a:prstGeom>
          </p:spPr>
        </p:pic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712E6BBA-ADB8-CE30-1AAD-941F91B48A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0891" y="5445245"/>
            <a:ext cx="650141" cy="381368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9A4D1146-8E12-ADFB-F504-74FF443431E1}"/>
              </a:ext>
            </a:extLst>
          </p:cNvPr>
          <p:cNvGrpSpPr/>
          <p:nvPr/>
        </p:nvGrpSpPr>
        <p:grpSpPr>
          <a:xfrm>
            <a:off x="6014769" y="4753961"/>
            <a:ext cx="2992970" cy="1777076"/>
            <a:chOff x="6072376" y="4869175"/>
            <a:chExt cx="2992970" cy="1777076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D4FA7F0-13EA-BD13-F211-2BC28C1D6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72376" y="4869175"/>
              <a:ext cx="2992970" cy="1777076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981388AB-E010-74E5-BBC1-D7F5560B7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69728" y="5158613"/>
              <a:ext cx="1389120" cy="1129953"/>
            </a:xfrm>
            <a:prstGeom prst="rect">
              <a:avLst/>
            </a:prstGeom>
          </p:spPr>
        </p:pic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3C1F401E-C93D-5B83-028A-4B0A972F03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8701" y="5084879"/>
            <a:ext cx="414520" cy="2880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308A515-0760-CB6C-AB87-77CA0AF8FCB1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Masked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1223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E83F6-6F47-9A92-F1B7-02C6A809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47E15AE-30F1-2C8A-0928-5B965669E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029353"/>
            <a:ext cx="8107710" cy="559445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룩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어헤드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마스크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(look-ahead mask)</a:t>
            </a:r>
          </a:p>
          <a:p>
            <a:pPr lvl="1">
              <a:lnSpc>
                <a:spcPct val="160000"/>
              </a:lnSpc>
            </a:pPr>
            <a:r>
              <a:rPr lang="ko-KR" altLang="en-US" b="1" dirty="0"/>
              <a:t>코드 예시 </a:t>
            </a:r>
            <a:r>
              <a:rPr lang="en-US" altLang="ko-KR" b="1" dirty="0"/>
              <a:t>(TensorFlow)</a:t>
            </a:r>
          </a:p>
          <a:p>
            <a:pPr lvl="1">
              <a:lnSpc>
                <a:spcPct val="160000"/>
              </a:lnSpc>
            </a:pPr>
            <a:endParaRPr lang="en-US" altLang="ko-KR" b="1" dirty="0"/>
          </a:p>
          <a:p>
            <a:pPr lvl="1">
              <a:lnSpc>
                <a:spcPct val="160000"/>
              </a:lnSpc>
            </a:pPr>
            <a:endParaRPr lang="en-US" altLang="ko-KR" b="1" dirty="0"/>
          </a:p>
          <a:p>
            <a:pPr lvl="1">
              <a:lnSpc>
                <a:spcPct val="160000"/>
              </a:lnSpc>
            </a:pPr>
            <a:endParaRPr lang="en-US" altLang="ko-KR" b="1" dirty="0"/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à"/>
            </a:pPr>
            <a:r>
              <a:rPr lang="ko-KR" altLang="en-US" dirty="0"/>
              <a:t>“</a:t>
            </a:r>
            <a:r>
              <a:rPr lang="ko-KR" altLang="en-US" b="1" dirty="0"/>
              <a:t>자기 자신보다 미래에 있는 단어를 </a:t>
            </a:r>
            <a:r>
              <a:rPr lang="en-US" altLang="ko-KR" b="1" dirty="0"/>
              <a:t>1</a:t>
            </a:r>
            <a:r>
              <a:rPr lang="ko-KR" altLang="en-US" b="1" dirty="0"/>
              <a:t>로 표시하는 </a:t>
            </a:r>
            <a:r>
              <a:rPr lang="ko-KR" altLang="en-US" b="1" dirty="0" err="1"/>
              <a:t>상삼각행렬</a:t>
            </a:r>
            <a:r>
              <a:rPr lang="ko-KR" altLang="en-US" dirty="0" err="1"/>
              <a:t>”을</a:t>
            </a:r>
            <a:r>
              <a:rPr lang="ko-KR" altLang="en-US" dirty="0"/>
              <a:t> 생성한다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1</a:t>
            </a:r>
            <a:r>
              <a:rPr lang="ko-KR" altLang="en-US" dirty="0"/>
              <a:t>이 </a:t>
            </a:r>
            <a:r>
              <a:rPr lang="ko-KR" altLang="en-US" b="1" dirty="0"/>
              <a:t>“가려야 하는 부분</a:t>
            </a:r>
            <a:r>
              <a:rPr lang="en-US" altLang="ko-KR" b="1" dirty="0"/>
              <a:t>(=</a:t>
            </a:r>
            <a:r>
              <a:rPr lang="ko-KR" altLang="en-US" b="1" dirty="0"/>
              <a:t>참조 불가 영역</a:t>
            </a:r>
            <a:r>
              <a:rPr lang="en-US" altLang="ko-KR" b="1" dirty="0"/>
              <a:t>)”</a:t>
            </a:r>
            <a:r>
              <a:rPr lang="ko-KR" altLang="en-US" dirty="0"/>
              <a:t> 이 된다</a:t>
            </a:r>
            <a:r>
              <a:rPr lang="en-US" altLang="ko-KR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b="1" dirty="0" err="1"/>
              <a:t>tf.ones</a:t>
            </a:r>
            <a:r>
              <a:rPr lang="en-US" altLang="ko-KR" b="1" dirty="0"/>
              <a:t>((</a:t>
            </a:r>
            <a:r>
              <a:rPr lang="en-US" altLang="ko-KR" b="1" dirty="0" err="1"/>
              <a:t>seq_len</a:t>
            </a:r>
            <a:r>
              <a:rPr lang="en-US" altLang="ko-KR" b="1" dirty="0"/>
              <a:t>, </a:t>
            </a:r>
            <a:r>
              <a:rPr lang="en-US" altLang="ko-KR" b="1" dirty="0" err="1"/>
              <a:t>seq_len</a:t>
            </a:r>
            <a:r>
              <a:rPr lang="en-US" altLang="ko-KR" b="1" dirty="0"/>
              <a:t>))</a:t>
            </a:r>
          </a:p>
          <a:p>
            <a:pPr marL="334963" lvl="1" indent="0">
              <a:lnSpc>
                <a:spcPct val="160000"/>
              </a:lnSpc>
              <a:buNone/>
            </a:pPr>
            <a:r>
              <a:rPr lang="en-US" altLang="ko-KR" b="1" dirty="0"/>
              <a:t>   </a:t>
            </a:r>
            <a:r>
              <a:rPr lang="en-US" altLang="ko-KR" b="1" dirty="0" err="1"/>
              <a:t>tf.ones</a:t>
            </a:r>
            <a:r>
              <a:rPr lang="en-US" altLang="ko-KR" b="1" dirty="0"/>
              <a:t>((5, 5))  </a:t>
            </a:r>
            <a:r>
              <a:rPr lang="en-US" altLang="ko-KR" b="1" dirty="0">
                <a:sym typeface="Wingdings" panose="05000000000000000000" pitchFamily="2" charset="2"/>
              </a:rPr>
              <a:t></a:t>
            </a:r>
            <a:endParaRPr lang="en-US" altLang="ko-KR" b="1" dirty="0"/>
          </a:p>
          <a:p>
            <a:pPr lvl="1">
              <a:lnSpc>
                <a:spcPct val="160000"/>
              </a:lnSpc>
            </a:pP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en-US" altLang="ko-KR" dirty="0" err="1"/>
              <a:t>tf.linalg.band_part</a:t>
            </a:r>
            <a:r>
              <a:rPr lang="en-US" altLang="ko-KR" dirty="0"/>
              <a:t>(..., -1, 0)</a:t>
            </a:r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band_part(input, </a:t>
            </a:r>
            <a:r>
              <a:rPr lang="en-US" altLang="ko-KR" dirty="0" err="1"/>
              <a:t>num_lower</a:t>
            </a:r>
            <a:r>
              <a:rPr lang="en-US" altLang="ko-KR" dirty="0"/>
              <a:t>, </a:t>
            </a:r>
            <a:r>
              <a:rPr lang="en-US" altLang="ko-KR" dirty="0" err="1"/>
              <a:t>num_upper</a:t>
            </a:r>
            <a:r>
              <a:rPr lang="en-US" altLang="ko-KR" dirty="0"/>
              <a:t>)</a:t>
            </a:r>
            <a:br>
              <a:rPr lang="ko-KR" altLang="en-US" dirty="0"/>
            </a:br>
            <a:r>
              <a:rPr lang="ko-KR" altLang="en-US" dirty="0"/>
              <a:t>→ 주어진 행렬에서 </a:t>
            </a:r>
            <a:r>
              <a:rPr lang="ko-KR" altLang="en-US" b="1" dirty="0"/>
              <a:t>대각선을 중심으로 특정 범위만 남기고 </a:t>
            </a:r>
            <a:endParaRPr lang="en-US" altLang="ko-KR" b="1" dirty="0"/>
          </a:p>
          <a:p>
            <a:pPr marL="677862" lvl="2" indent="0">
              <a:lnSpc>
                <a:spcPct val="160000"/>
              </a:lnSpc>
              <a:buNone/>
            </a:pPr>
            <a:r>
              <a:rPr lang="ko-KR" altLang="en-US" b="1" dirty="0"/>
              <a:t>       나머지는 </a:t>
            </a:r>
            <a:r>
              <a:rPr lang="en-US" altLang="ko-KR" b="1" dirty="0"/>
              <a:t>0</a:t>
            </a:r>
            <a:r>
              <a:rPr lang="ko-KR" altLang="en-US" b="1" dirty="0"/>
              <a:t>으로 만든다</a:t>
            </a:r>
            <a:r>
              <a:rPr lang="en-US" altLang="ko-KR" b="1" dirty="0"/>
              <a:t>.</a:t>
            </a:r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/>
              <a:t>num_lower</a:t>
            </a:r>
            <a:r>
              <a:rPr lang="en-US" altLang="ko-KR" dirty="0"/>
              <a:t> = -1</a:t>
            </a:r>
            <a:r>
              <a:rPr lang="ko-KR" altLang="en-US" dirty="0"/>
              <a:t> → 아래쪽</a:t>
            </a:r>
            <a:r>
              <a:rPr lang="en-US" altLang="ko-KR" dirty="0"/>
              <a:t>(</a:t>
            </a:r>
            <a:r>
              <a:rPr lang="ko-KR" altLang="en-US" dirty="0" err="1"/>
              <a:t>하삼각</a:t>
            </a:r>
            <a:r>
              <a:rPr lang="en-US" altLang="ko-KR" dirty="0"/>
              <a:t>)</a:t>
            </a:r>
            <a:r>
              <a:rPr lang="ko-KR" altLang="en-US" dirty="0"/>
              <a:t>은 전부 허용</a:t>
            </a:r>
            <a:endParaRPr lang="en-US" altLang="ko-KR" dirty="0"/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/>
              <a:t>num_upper</a:t>
            </a:r>
            <a:r>
              <a:rPr lang="en-US" altLang="ko-KR" dirty="0"/>
              <a:t> = 0</a:t>
            </a:r>
            <a:r>
              <a:rPr lang="ko-KR" altLang="en-US" dirty="0"/>
              <a:t> → 대각선 위쪽은 </a:t>
            </a:r>
            <a:r>
              <a:rPr lang="en-US" altLang="ko-KR" dirty="0"/>
              <a:t>0</a:t>
            </a:r>
            <a:r>
              <a:rPr lang="ko-KR" altLang="en-US" dirty="0"/>
              <a:t>으로 만듦</a:t>
            </a:r>
          </a:p>
          <a:p>
            <a:pPr lvl="1">
              <a:lnSpc>
                <a:spcPct val="160000"/>
              </a:lnSpc>
            </a:pPr>
            <a:endParaRPr lang="en-US" altLang="ko-KR" b="1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u"/>
            </a:pPr>
            <a:endParaRPr lang="en-US" altLang="ko-KR" b="1" i="0" dirty="0">
              <a:solidFill>
                <a:srgbClr val="24292F"/>
              </a:solidFill>
              <a:effectLst/>
              <a:latin typeface="Noto Sans KR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B4F04F2-5893-517D-9FD6-3AA19E961BC9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Masked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467D17-6A64-8F83-3EE5-F2CF4A131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88" y="1931218"/>
            <a:ext cx="6649057" cy="9793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A3E689-754A-1868-3A2E-32E2FA8E5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502" y="3547803"/>
            <a:ext cx="1000265" cy="12193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3708854-E878-270D-D6A2-E78A7F09C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7389" y="5385386"/>
            <a:ext cx="1086002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39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7C576-9198-C114-8045-3F9D3544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2A91041-C0D4-1F29-4992-30EF022E2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029353"/>
            <a:ext cx="8353016" cy="559445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룩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어헤드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마스크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(look-ahead mask)</a:t>
            </a:r>
          </a:p>
          <a:p>
            <a:pPr lvl="1">
              <a:lnSpc>
                <a:spcPct val="160000"/>
              </a:lnSpc>
            </a:pPr>
            <a:r>
              <a:rPr lang="ko-KR" altLang="en-US" b="1" dirty="0"/>
              <a:t>코드 예시 </a:t>
            </a:r>
            <a:r>
              <a:rPr lang="en-US" altLang="ko-KR" b="1" dirty="0"/>
              <a:t>(TensorFlow)- </a:t>
            </a:r>
            <a:r>
              <a:rPr lang="ko-KR" altLang="en-US" b="1" dirty="0"/>
              <a:t>계속</a:t>
            </a:r>
            <a:endParaRPr lang="en-US" altLang="ko-KR" b="1" dirty="0"/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rgbClr val="FF0000"/>
                </a:solidFill>
              </a:rPr>
              <a:t>1 - (</a:t>
            </a:r>
            <a:r>
              <a:rPr lang="ko-KR" altLang="en-US" sz="1600" b="1" dirty="0">
                <a:solidFill>
                  <a:srgbClr val="FF0000"/>
                </a:solidFill>
              </a:rPr>
              <a:t>위 행렬</a:t>
            </a:r>
            <a:r>
              <a:rPr lang="en-US" altLang="ko-KR" sz="1600" b="1" dirty="0">
                <a:solidFill>
                  <a:srgbClr val="FF0000"/>
                </a:solidFill>
              </a:rPr>
              <a:t>)</a:t>
            </a:r>
            <a:r>
              <a:rPr lang="en-US" altLang="ko-KR" sz="1600" dirty="0"/>
              <a:t>: </a:t>
            </a:r>
            <a:r>
              <a:rPr lang="ko-KR" altLang="en-US" sz="1600" dirty="0"/>
              <a:t>이제 </a:t>
            </a:r>
            <a:r>
              <a:rPr lang="en-US" altLang="ko-KR" sz="1600" dirty="0"/>
              <a:t>1</a:t>
            </a:r>
            <a:r>
              <a:rPr lang="ko-KR" altLang="en-US" sz="1600" dirty="0"/>
              <a:t>에서 빼면 </a:t>
            </a:r>
            <a:r>
              <a:rPr lang="ko-KR" altLang="en-US" sz="1600" b="1" dirty="0" err="1"/>
              <a:t>상삼각</a:t>
            </a:r>
            <a:r>
              <a:rPr lang="ko-KR" altLang="en-US" sz="1600" b="1" dirty="0"/>
              <a:t> 부분이 </a:t>
            </a:r>
            <a:r>
              <a:rPr lang="en-US" altLang="ko-KR" sz="1600" b="1" dirty="0"/>
              <a:t>1, </a:t>
            </a:r>
            <a:r>
              <a:rPr lang="ko-KR" altLang="en-US" sz="1600" b="1" dirty="0" err="1"/>
              <a:t>하삼각</a:t>
            </a:r>
            <a:r>
              <a:rPr lang="ko-KR" altLang="en-US" sz="1600" b="1" dirty="0"/>
              <a:t> 부분이 </a:t>
            </a:r>
            <a:r>
              <a:rPr lang="en-US" altLang="ko-KR" sz="1600" b="1" dirty="0"/>
              <a:t>0</a:t>
            </a:r>
            <a:r>
              <a:rPr lang="ko-KR" altLang="en-US" sz="1600" dirty="0"/>
              <a:t>인 행렬이 된다</a:t>
            </a:r>
            <a:r>
              <a:rPr lang="en-US" altLang="ko-KR" sz="1600" dirty="0"/>
              <a:t>.</a:t>
            </a:r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이게 바로 </a:t>
            </a:r>
            <a:r>
              <a:rPr lang="ko-KR" altLang="en-US" sz="1600" b="1" dirty="0"/>
              <a:t>“</a:t>
            </a:r>
            <a:r>
              <a:rPr lang="en-US" altLang="ko-KR" sz="1600" b="1" dirty="0"/>
              <a:t>look-ahead mask”</a:t>
            </a:r>
            <a:r>
              <a:rPr lang="ko-KR" altLang="en-US" sz="1600" dirty="0"/>
              <a:t> 이다</a:t>
            </a:r>
            <a:r>
              <a:rPr lang="en-US" altLang="ko-KR" sz="1600" dirty="0"/>
              <a:t>.</a:t>
            </a:r>
          </a:p>
          <a:p>
            <a:pPr lvl="3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0</a:t>
            </a:r>
            <a:r>
              <a:rPr lang="ko-KR" altLang="en-US" sz="1600" dirty="0"/>
              <a:t> → 현재 시점과 과거 단어 </a:t>
            </a:r>
            <a:r>
              <a:rPr lang="en-US" altLang="ko-KR" sz="1600" dirty="0"/>
              <a:t>(</a:t>
            </a:r>
            <a:r>
              <a:rPr lang="ko-KR" altLang="en-US" sz="1600" dirty="0"/>
              <a:t>참고 가능</a:t>
            </a:r>
            <a:r>
              <a:rPr lang="en-US" altLang="ko-KR" sz="1600" dirty="0"/>
              <a:t>)</a:t>
            </a:r>
          </a:p>
          <a:p>
            <a:pPr lvl="3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</a:t>
            </a:r>
            <a:r>
              <a:rPr lang="ko-KR" altLang="en-US" sz="1600" dirty="0"/>
              <a:t> → 미래 단어 </a:t>
            </a:r>
            <a:r>
              <a:rPr lang="en-US" altLang="ko-KR" sz="1600" dirty="0"/>
              <a:t>(</a:t>
            </a:r>
            <a:r>
              <a:rPr lang="ko-KR" altLang="en-US" sz="1600" dirty="0"/>
              <a:t>가려야 함</a:t>
            </a:r>
            <a:r>
              <a:rPr lang="en-US" altLang="ko-KR" sz="1600" dirty="0"/>
              <a:t>)</a:t>
            </a:r>
          </a:p>
          <a:p>
            <a:pPr lvl="1">
              <a:lnSpc>
                <a:spcPct val="160000"/>
              </a:lnSpc>
            </a:pPr>
            <a:r>
              <a:rPr lang="ko-KR" altLang="en-US" sz="1600" dirty="0"/>
              <a:t>실제 사용 예시</a:t>
            </a:r>
            <a:endParaRPr lang="en-US" altLang="ko-KR" sz="1600" dirty="0"/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이 마스크는 </a:t>
            </a:r>
            <a:r>
              <a:rPr lang="en-US" altLang="ko-KR" b="1" dirty="0"/>
              <a:t>Self-Attention </a:t>
            </a:r>
            <a:r>
              <a:rPr lang="ko-KR" altLang="en-US" b="1" dirty="0"/>
              <a:t>점수</a:t>
            </a:r>
            <a:r>
              <a:rPr lang="en-US" altLang="ko-KR" b="1" dirty="0"/>
              <a:t>(logits)</a:t>
            </a:r>
            <a:r>
              <a:rPr lang="ko-KR" altLang="en-US" dirty="0"/>
              <a:t> 에 적용되어</a:t>
            </a:r>
            <a:br>
              <a:rPr lang="ko-KR" altLang="en-US" dirty="0"/>
            </a:br>
            <a:r>
              <a:rPr lang="ko-KR" altLang="en-US" dirty="0"/>
              <a:t>미래 단어를 </a:t>
            </a:r>
            <a:r>
              <a:rPr lang="en-US" altLang="ko-KR" dirty="0" err="1"/>
              <a:t>softmax</a:t>
            </a:r>
            <a:r>
              <a:rPr lang="ko-KR" altLang="en-US" dirty="0"/>
              <a:t>에서 제외시킨다</a:t>
            </a:r>
            <a:r>
              <a:rPr lang="en-US" altLang="ko-KR" dirty="0"/>
              <a:t>.</a:t>
            </a:r>
          </a:p>
          <a:p>
            <a:pPr lvl="1">
              <a:lnSpc>
                <a:spcPct val="160000"/>
              </a:lnSpc>
            </a:pPr>
            <a:endParaRPr lang="en-US" altLang="ko-KR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BD7BAE-8095-A97C-7351-156F102697E9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Masked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4AC421-4F56-0833-3150-62441F1C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926" y="2507288"/>
            <a:ext cx="1209747" cy="13906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64216E2-6D7B-DAFA-4C4E-BE2847F57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80" y="5061316"/>
            <a:ext cx="7321879" cy="158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44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4ED83-C5C8-6C39-62A8-0F5093C6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234146B-B92D-0C8D-151D-E6112113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029353"/>
            <a:ext cx="8107710" cy="55944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룩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어헤드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마스크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(look-ahead mask)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1B6A2C-1216-50EA-27CC-6E61D7FFA263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Masked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B205A89-1BB7-6FAE-614B-3B2B78228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8" y="1630635"/>
            <a:ext cx="5373645" cy="28310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422ED52-3ACF-374E-7BF7-7499A66A8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323" y="2053885"/>
            <a:ext cx="2172003" cy="1971950"/>
          </a:xfrm>
          <a:prstGeom prst="rect">
            <a:avLst/>
          </a:prstGeom>
        </p:spPr>
      </p:pic>
      <p:sp>
        <p:nvSpPr>
          <p:cNvPr id="12" name="화살표: 톱니 모양의 오른쪽 11">
            <a:extLst>
              <a:ext uri="{FF2B5EF4-FFF2-40B4-BE49-F238E27FC236}">
                <a16:creationId xmlns:a16="http://schemas.microsoft.com/office/drawing/2014/main" id="{E25934F6-3EBE-E0CB-A59C-06B245467C22}"/>
              </a:ext>
            </a:extLst>
          </p:cNvPr>
          <p:cNvSpPr/>
          <p:nvPr/>
        </p:nvSpPr>
        <p:spPr>
          <a:xfrm>
            <a:off x="6193188" y="2852930"/>
            <a:ext cx="448842" cy="288035"/>
          </a:xfrm>
          <a:prstGeom prst="notchedRightArrow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FEDA4B3-4476-A308-8D93-507D623C34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378" y="4559533"/>
            <a:ext cx="7461256" cy="217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111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0467D-BA37-4F0E-4DDB-00FD56926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E9ECA4E-C21B-2C9B-D45B-8562DDED6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233357"/>
            <a:ext cx="8107710" cy="53640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[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룩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어헤드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마스크</a:t>
            </a:r>
            <a:r>
              <a:rPr lang="en-US" altLang="ko-KR" b="1" dirty="0">
                <a:solidFill>
                  <a:srgbClr val="24292F"/>
                </a:solidFill>
                <a:latin typeface="Noto Sans KR"/>
              </a:rPr>
              <a:t> + 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패딩 마스크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]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합치기</a:t>
            </a:r>
            <a:endParaRPr lang="en-US" altLang="ko-KR" b="1" i="0" dirty="0">
              <a:solidFill>
                <a:srgbClr val="24292F"/>
              </a:solidFill>
              <a:effectLst/>
              <a:latin typeface="Noto Sans KR"/>
            </a:endParaRPr>
          </a:p>
          <a:p>
            <a:pPr marL="334963" lvl="1" indent="0">
              <a:lnSpc>
                <a:spcPct val="150000"/>
              </a:lnSpc>
              <a:buNone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1.각각의 마스크 역할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b="1" dirty="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패딩 마스크 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padding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mask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73138" lvl="3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입력 시퀀스에서 의미 없는 '0'(패딩 토큰)을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마스킹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73138" lvl="3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계산 시,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0인 위치에 주의를 두지 않도록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함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73138" lvl="3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batch_size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1, 1,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seq_len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sym typeface="Wingdings" panose="05000000000000000000" pitchFamily="2" charset="2"/>
              </a:rPr>
              <a:t>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브로드캐스트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되도록 차원을 늘림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룩어헤드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마스크 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look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ahead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mask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73138" lvl="3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디코더에서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자기 자신보다 뒤에 있는 단어를 보지 못하게 막음</a:t>
            </a:r>
            <a:endParaRPr lang="en-US" altLang="ko-KR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973138" lvl="3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(1, 1,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seq_len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seq_len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solidFill>
                  <a:schemeClr val="tx1"/>
                </a:solidFill>
                <a:latin typeface="Arial Unicode MS"/>
                <a:sym typeface="Wingdings" panose="05000000000000000000" pitchFamily="2" charset="2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모든 배치에 공통 적용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34963" lvl="1" indent="0">
              <a:lnSpc>
                <a:spcPct val="150000"/>
              </a:lnSpc>
              <a:buNone/>
            </a:pPr>
            <a:r>
              <a:rPr lang="en-US" altLang="ko-KR" b="1" dirty="0"/>
              <a:t>2. </a:t>
            </a:r>
            <a:r>
              <a:rPr lang="ko-KR" altLang="en-US" b="1" dirty="0"/>
              <a:t>결합 이유</a:t>
            </a:r>
            <a:r>
              <a:rPr lang="en-US" altLang="ko-KR" b="1" dirty="0"/>
              <a:t>:</a:t>
            </a:r>
            <a:r>
              <a:rPr lang="en-US" altLang="ko-KR" dirty="0"/>
              <a:t> Transformer </a:t>
            </a:r>
            <a:r>
              <a:rPr lang="ko-KR" altLang="en-US" dirty="0" err="1"/>
              <a:t>디코더에서는</a:t>
            </a:r>
            <a:r>
              <a:rPr lang="ko-KR" altLang="en-US" dirty="0"/>
              <a:t> 두 가지 </a:t>
            </a:r>
            <a:r>
              <a:rPr lang="ko-KR" altLang="en-US" dirty="0" err="1"/>
              <a:t>마스킹이</a:t>
            </a:r>
            <a:r>
              <a:rPr lang="ko-KR" altLang="en-US" dirty="0"/>
              <a:t> 동시에 필요하다</a:t>
            </a:r>
            <a:endParaRPr lang="en-US" altLang="ko-KR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 미래 단어 가리기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룩어헤드</a:t>
            </a:r>
            <a:r>
              <a:rPr lang="ko-KR" altLang="en-US" sz="1600" dirty="0"/>
              <a:t> 마스크</a:t>
            </a:r>
            <a:r>
              <a:rPr lang="en-US" altLang="ko-KR" sz="1600" dirty="0"/>
              <a:t>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 </a:t>
            </a:r>
            <a:r>
              <a:rPr lang="ko-KR" altLang="en-US" sz="1600" dirty="0"/>
              <a:t>패딩 단어 무시하기 </a:t>
            </a:r>
            <a:r>
              <a:rPr lang="en-US" altLang="ko-KR" sz="1600" dirty="0"/>
              <a:t>(</a:t>
            </a:r>
            <a:r>
              <a:rPr lang="ko-KR" altLang="en-US" sz="1600" dirty="0"/>
              <a:t>패딩 마스크</a:t>
            </a:r>
            <a:r>
              <a:rPr lang="en-US" altLang="ko-KR" sz="16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5D752-90F5-C66A-9A40-D43FF249FBA1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Masked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75580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3F0B6-9FF9-5222-7990-2527F90D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DB3F997-9EBA-B922-536D-A5D25B4852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901" y="1009505"/>
                <a:ext cx="8180195" cy="5587879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[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룩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-</a:t>
                </a:r>
                <a:r>
                  <a:rPr lang="ko-KR" altLang="en-US" b="1" i="0" dirty="0" err="1">
                    <a:solidFill>
                      <a:srgbClr val="24292F"/>
                    </a:solidFill>
                    <a:effectLst/>
                    <a:latin typeface="Noto Sans KR"/>
                  </a:rPr>
                  <a:t>어헤드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마스크</a:t>
                </a:r>
                <a:r>
                  <a:rPr lang="en-US" altLang="ko-KR" b="1" dirty="0">
                    <a:solidFill>
                      <a:srgbClr val="24292F"/>
                    </a:solidFill>
                    <a:latin typeface="Noto Sans KR"/>
                  </a:rPr>
                  <a:t> + 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패딩 마스크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]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합치기</a:t>
                </a:r>
                <a:endParaRPr lang="en-US" altLang="ko-KR" b="1" i="0" dirty="0">
                  <a:solidFill>
                    <a:srgbClr val="24292F"/>
                  </a:solidFill>
                  <a:effectLst/>
                  <a:latin typeface="Noto Sans KR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700" dirty="0"/>
                  <a:t>Attention</a:t>
                </a:r>
                <a:r>
                  <a:rPr lang="ko-KR" altLang="en-US" sz="1700" dirty="0"/>
                  <a:t>의 본질적 구조</a:t>
                </a:r>
                <a:endParaRPr lang="en-US" altLang="ko-KR" sz="1700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700" dirty="0"/>
                  <a:t>트랜스포머의 </a:t>
                </a:r>
                <a:r>
                  <a:rPr lang="ko-KR" altLang="en-US" sz="1700" dirty="0" err="1"/>
                  <a:t>어텐션은</a:t>
                </a:r>
                <a:r>
                  <a:rPr lang="ko-KR" altLang="en-US" sz="1700" dirty="0"/>
                  <a:t> 다음과 같이 정의된다</a:t>
                </a:r>
                <a:r>
                  <a:rPr lang="en-US" altLang="ko-KR" sz="17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700" b="0"/>
                        <m:t>Attention</m:t>
                      </m:r>
                      <m:d>
                        <m:dPr>
                          <m:sepChr m:val=","/>
                          <m:ctrlPr>
                            <a:rPr lang="ko-KR" alt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700" b="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r>
                            <a:rPr lang="ko-KR" altLang="en-US" sz="17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e>
                          <m:r>
                            <a:rPr lang="ko-KR" altLang="en-US" sz="1700" b="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ko-KR" sz="17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700" i="1"/>
                        <m:t>softmax</m:t>
                      </m:r>
                      <m:r>
                        <m:rPr>
                          <m:nor/>
                        </m:rPr>
                        <a:rPr lang="en-US" altLang="ko-KR" sz="1700" i="1"/>
                        <m:t> </m:t>
                      </m:r>
                      <m:d>
                        <m:dPr>
                          <m:ctrlPr>
                            <a:rPr lang="ko-KR" alt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ko-KR" alt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7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ko-KR" altLang="en-US" sz="17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ko-KR" alt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ko-KR" alt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7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ko-KR" altLang="en-US" sz="17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altLang="ko-KR" sz="17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7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ko-KR" altLang="en-US" sz="17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sz="1700" b="0" dirty="0"/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ko-KR" altLang="en-US" sz="1700" dirty="0"/>
                  <a:t>여기서</a:t>
                </a:r>
                <a:endParaRPr lang="en-US" altLang="ko-KR" sz="1700" i="1" dirty="0"/>
              </a:p>
              <a:p>
                <a:pPr lvl="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ko-KR" sz="1700" dirty="0"/>
                  <a:t>: Query</a:t>
                </a:r>
                <a:endParaRPr lang="en-US" altLang="ko-KR" sz="1700" i="1" dirty="0"/>
              </a:p>
              <a:p>
                <a:pPr lvl="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ko-KR" sz="1700" dirty="0"/>
                  <a:t>: Key</a:t>
                </a:r>
                <a:endParaRPr lang="en-US" altLang="ko-KR" sz="1700" i="1" dirty="0"/>
              </a:p>
              <a:p>
                <a:pPr lvl="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ko-KR" sz="1700" dirty="0"/>
                  <a:t>: Value</a:t>
                </a:r>
                <a:endParaRPr lang="en-US" altLang="ko-KR" sz="1700" i="1" dirty="0"/>
              </a:p>
              <a:p>
                <a:pPr lvl="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ko-KR" sz="1700" dirty="0"/>
                  <a:t>: </a:t>
                </a:r>
                <a:r>
                  <a:rPr lang="ko-KR" altLang="en-US" sz="1700" b="1" dirty="0"/>
                  <a:t>마스크</a:t>
                </a:r>
                <a:r>
                  <a:rPr lang="en-US" altLang="ko-KR" sz="1700" b="1" dirty="0"/>
                  <a:t>(mask)</a:t>
                </a:r>
                <a:endParaRPr lang="en-US" altLang="ko-KR" sz="1700" dirty="0"/>
              </a:p>
              <a:p>
                <a:pPr lvl="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7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ko-KR" altLang="en-US" sz="17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700" dirty="0"/>
                  <a:t>: Key </a:t>
                </a:r>
                <a:r>
                  <a:rPr lang="ko-KR" altLang="en-US" sz="1700" dirty="0"/>
                  <a:t>벡터의 차원 수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700" dirty="0"/>
                  <a:t>마스크 </a:t>
                </a:r>
                <a14:m>
                  <m:oMath xmlns:m="http://schemas.openxmlformats.org/officeDocument/2006/math"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700" dirty="0"/>
                  <a:t>의 역할</a:t>
                </a:r>
                <a:endParaRPr lang="en-US" altLang="ko-KR" sz="1700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700" dirty="0"/>
                  <a:t>마스크는 </a:t>
                </a:r>
                <a:r>
                  <a:rPr lang="en-US" altLang="ko-KR" sz="1700" dirty="0" err="1"/>
                  <a:t>softmax</a:t>
                </a:r>
                <a:r>
                  <a:rPr lang="en-US" altLang="ko-KR" sz="1700" dirty="0"/>
                  <a:t> </a:t>
                </a:r>
                <a:r>
                  <a:rPr lang="ko-KR" altLang="en-US" sz="1700" dirty="0"/>
                  <a:t>연산 이전에 더해져서 </a:t>
                </a:r>
                <a:r>
                  <a:rPr lang="ko-KR" altLang="en-US" sz="1700" b="1" dirty="0"/>
                  <a:t>특정 위치의 </a:t>
                </a:r>
                <a:r>
                  <a:rPr lang="en-US" altLang="ko-KR" sz="1700" b="1" dirty="0"/>
                  <a:t>score</a:t>
                </a:r>
                <a:r>
                  <a:rPr lang="ko-KR" altLang="en-US" sz="1700" b="1" dirty="0"/>
                  <a:t>를 매우 작은 값</a:t>
                </a:r>
                <a:r>
                  <a:rPr lang="en-US" altLang="ko-KR" sz="1700" b="1" dirty="0"/>
                  <a:t>(-∞)</a:t>
                </a:r>
                <a:r>
                  <a:rPr lang="ko-KR" altLang="en-US" sz="1700" dirty="0"/>
                  <a:t> 으로 만들어 </a:t>
                </a:r>
                <a:r>
                  <a:rPr lang="en-US" altLang="ko-KR" sz="1700" dirty="0" err="1"/>
                  <a:t>softmax</a:t>
                </a:r>
                <a:r>
                  <a:rPr lang="en-US" altLang="ko-KR" sz="1700" dirty="0"/>
                  <a:t> </a:t>
                </a:r>
                <a:r>
                  <a:rPr lang="ko-KR" altLang="en-US" sz="1700" dirty="0"/>
                  <a:t>결과가 </a:t>
                </a:r>
                <a:r>
                  <a:rPr lang="en-US" altLang="ko-KR" sz="1700" dirty="0"/>
                  <a:t>0</a:t>
                </a:r>
                <a:r>
                  <a:rPr lang="ko-KR" altLang="en-US" sz="1700" dirty="0"/>
                  <a:t>이 되게 한다</a:t>
                </a:r>
                <a:r>
                  <a:rPr lang="en-US" altLang="ko-KR" sz="17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700" b="0"/>
                        <m:t>softmax</m:t>
                      </m:r>
                      <m:d>
                        <m:dPr>
                          <m:ctrlPr>
                            <a:rPr lang="ko-KR" alt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7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ko-KR" altLang="en-US" sz="17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7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17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ko-KR" alt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ko-KR" sz="1700" i="1"/>
                                  <m:t>softmax</m:t>
                                </m:r>
                                <m:d>
                                  <m:dPr>
                                    <m:ctrlP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17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ko-KR" sz="1700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700" i="1"/>
                                  <m:t> </m:t>
                                </m:r>
                                <m:sSub>
                                  <m:sSubPr>
                                    <m:ctrlP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70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700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ko-KR" sz="1700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700" i="1"/>
                                  <m:t> </m:t>
                                </m:r>
                                <m:sSub>
                                  <m:sSubPr>
                                    <m:ctrlP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700">
                                    <a:latin typeface="Cambria Math" panose="02040503050406030204" pitchFamily="18" charset="0"/>
                                  </a:rPr>
                                  <m:t>=−∞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700" b="0" dirty="0"/>
              </a:p>
              <a:p>
                <a:pPr lvl="2">
                  <a:buFont typeface="Wingdings" panose="05000000000000000000" pitchFamily="2" charset="2"/>
                  <a:buChar char="ü"/>
                </a:pPr>
                <a:endParaRPr lang="en-US" altLang="ko-KR" sz="1700" dirty="0"/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ko-KR" altLang="en-US" sz="1700" dirty="0"/>
                  <a:t>따라서 마스크는 </a:t>
                </a:r>
                <a:r>
                  <a:rPr lang="en-US" altLang="ko-KR" sz="1700" dirty="0"/>
                  <a:t>"</a:t>
                </a:r>
                <a:r>
                  <a:rPr lang="ko-KR" altLang="en-US" sz="1700" dirty="0"/>
                  <a:t>어떤 위치를 완전히 무시할 것인가</a:t>
                </a:r>
                <a:r>
                  <a:rPr lang="en-US" altLang="ko-KR" sz="1700" dirty="0"/>
                  <a:t>"</a:t>
                </a:r>
                <a:r>
                  <a:rPr lang="ko-KR" altLang="en-US" sz="1700" dirty="0"/>
                  <a:t>를 결정한다</a:t>
                </a:r>
                <a:r>
                  <a:rPr lang="en-US" altLang="ko-KR" sz="1700" dirty="0"/>
                  <a:t>.</a:t>
                </a: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DB3F997-9EBA-B922-536D-A5D25B4852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901" y="1009505"/>
                <a:ext cx="8180195" cy="5587879"/>
              </a:xfrm>
              <a:blipFill>
                <a:blip r:embed="rId3"/>
                <a:stretch>
                  <a:fillRect l="-2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DE0619FA-0D4C-F876-512D-455BF2EBFB4D}"/>
              </a:ext>
            </a:extLst>
          </p:cNvPr>
          <p:cNvSpPr txBox="1">
            <a:spLocks/>
          </p:cNvSpPr>
          <p:nvPr/>
        </p:nvSpPr>
        <p:spPr>
          <a:xfrm>
            <a:off x="496781" y="260615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Masked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08621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FAAE4-8352-E3E6-B2E2-6E2A50AC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520D2F68-DEC4-F1F6-363D-968EB80AE9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901" y="1009505"/>
                <a:ext cx="8180195" cy="55878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[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룩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-</a:t>
                </a:r>
                <a:r>
                  <a:rPr lang="ko-KR" altLang="en-US" b="1" i="0" dirty="0" err="1">
                    <a:solidFill>
                      <a:srgbClr val="24292F"/>
                    </a:solidFill>
                    <a:effectLst/>
                    <a:latin typeface="Noto Sans KR"/>
                  </a:rPr>
                  <a:t>어헤드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마스크</a:t>
                </a:r>
                <a:r>
                  <a:rPr lang="en-US" altLang="ko-KR" b="1" dirty="0">
                    <a:solidFill>
                      <a:srgbClr val="24292F"/>
                    </a:solidFill>
                    <a:latin typeface="Noto Sans KR"/>
                  </a:rPr>
                  <a:t> + 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패딩 마스크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]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합치기</a:t>
                </a:r>
                <a:endParaRPr lang="en-US" altLang="ko-KR" b="1" i="0" dirty="0">
                  <a:solidFill>
                    <a:srgbClr val="24292F"/>
                  </a:solidFill>
                  <a:effectLst/>
                  <a:latin typeface="Noto Sans KR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800" dirty="0"/>
                  <a:t>마스크의 두 종류의 목적</a:t>
                </a:r>
                <a:endParaRPr lang="en-US" altLang="ko-KR" sz="1800" dirty="0"/>
              </a:p>
              <a:p>
                <a:pPr marL="1020762" lvl="2" indent="-342900">
                  <a:lnSpc>
                    <a:spcPct val="150000"/>
                  </a:lnSpc>
                  <a:buAutoNum type="arabicParenBoth"/>
                </a:pPr>
                <a:r>
                  <a:rPr lang="ko-KR" altLang="en-US" sz="1800" dirty="0"/>
                  <a:t>패딩 마스크 </a:t>
                </a:r>
                <a:r>
                  <a:rPr lang="en-US" altLang="ko-KR" sz="1800" dirty="0"/>
                  <a:t>(Padding Mask)</a:t>
                </a:r>
              </a:p>
              <a:p>
                <a:pPr marL="677862" lvl="2" indent="0">
                  <a:lnSpc>
                    <a:spcPct val="150000"/>
                  </a:lnSpc>
                  <a:buNone/>
                </a:pPr>
                <a:r>
                  <a:rPr lang="ko-KR" altLang="en-US" dirty="0"/>
                  <a:t>입력 시퀀스의 </a:t>
                </a:r>
                <a:r>
                  <a:rPr lang="en-US" altLang="ko-KR" dirty="0"/>
                  <a:t>PAD </a:t>
                </a:r>
                <a:r>
                  <a:rPr lang="ko-KR" altLang="en-US" dirty="0"/>
                  <a:t>토큰은 의미 없는 공간을 채우기 위해 추가된 </a:t>
                </a:r>
                <a:r>
                  <a:rPr lang="ko-KR" altLang="en-US" b="1" dirty="0"/>
                  <a:t>빈 값</a:t>
                </a:r>
                <a:r>
                  <a:rPr lang="en-US" altLang="ko-KR" b="1" dirty="0"/>
                  <a:t>(0)</a:t>
                </a:r>
                <a:r>
                  <a:rPr lang="ko-KR" altLang="en-US" dirty="0"/>
                  <a:t> 이다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en-US" altLang="ko-KR" dirty="0"/>
                  <a:t>PAD </a:t>
                </a:r>
                <a:r>
                  <a:rPr lang="ko-KR" altLang="en-US" dirty="0"/>
                  <a:t>위치의 </a:t>
                </a:r>
                <a:r>
                  <a:rPr lang="en-US" altLang="ko-KR" dirty="0"/>
                  <a:t>Key</a:t>
                </a:r>
                <a:r>
                  <a:rPr lang="ko-KR" altLang="en-US" dirty="0"/>
                  <a:t>에 대한 </a:t>
                </a:r>
                <a:r>
                  <a:rPr lang="en-US" altLang="ko-KR" dirty="0"/>
                  <a:t>Attention</a:t>
                </a:r>
                <a:r>
                  <a:rPr lang="ko-KR" altLang="en-US" dirty="0"/>
                  <a:t>이 계산되면 </a:t>
                </a:r>
                <a:r>
                  <a:rPr lang="ko-KR" altLang="en-US" b="1" dirty="0"/>
                  <a:t>모델이 가짜 정보에 집중</a:t>
                </a:r>
                <a:r>
                  <a:rPr lang="ko-KR" altLang="en-US" dirty="0"/>
                  <a:t>하게 되어</a:t>
                </a:r>
                <a:br>
                  <a:rPr lang="ko-KR" altLang="en-US" dirty="0"/>
                </a:br>
                <a:r>
                  <a:rPr lang="ko-KR" altLang="en-US" dirty="0"/>
                  <a:t>출력 품질이 떨어진다</a:t>
                </a:r>
                <a:r>
                  <a:rPr lang="en-US" altLang="ko-KR" dirty="0"/>
                  <a:t>.</a:t>
                </a:r>
              </a:p>
              <a:p>
                <a:pPr marL="677862" lvl="2" indent="0">
                  <a:lnSpc>
                    <a:spcPct val="150000"/>
                  </a:lnSpc>
                  <a:buNone/>
                </a:pPr>
                <a:r>
                  <a:rPr lang="ko-KR" altLang="en-US" dirty="0"/>
                  <a:t>따라서 </a:t>
                </a:r>
                <a:r>
                  <a:rPr lang="en-US" altLang="ko-KR" dirty="0"/>
                  <a:t>PAD </a:t>
                </a:r>
                <a:r>
                  <a:rPr lang="ko-KR" altLang="en-US" dirty="0"/>
                  <a:t>위치는 반드시 </a:t>
                </a:r>
                <a:r>
                  <a:rPr lang="en-US" altLang="ko-KR" dirty="0" err="1"/>
                  <a:t>softmax</a:t>
                </a:r>
                <a:r>
                  <a:rPr lang="ko-KR" altLang="en-US" dirty="0"/>
                  <a:t>에서 </a:t>
                </a:r>
                <a:r>
                  <a:rPr lang="ko-KR" altLang="en-US" b="1" dirty="0"/>
                  <a:t>가중치 </a:t>
                </a:r>
                <a:r>
                  <a:rPr lang="en-US" altLang="ko-KR" b="1" dirty="0"/>
                  <a:t>0</a:t>
                </a:r>
                <a:r>
                  <a:rPr lang="ko-KR" altLang="en-US" dirty="0"/>
                  <a:t> 이 되어야 한다</a:t>
                </a:r>
                <a:r>
                  <a:rPr lang="en-US" altLang="ko-KR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i="1"/>
                            <m:t>pad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ko-KR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ko-KR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i="1"/>
                                  <m:t> </m:t>
                                </m:r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i="1"/>
                                  <m:t>PAD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ko-KR" i="1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b="0" dirty="0"/>
              </a:p>
              <a:p>
                <a:pPr marL="677862" lvl="2" indent="0">
                  <a:buNone/>
                </a:pPr>
                <a:endParaRPr lang="en-US" altLang="ko-KR" b="1" dirty="0"/>
              </a:p>
              <a:p>
                <a:pPr marL="677862" lvl="2" indent="0">
                  <a:buNone/>
                </a:pPr>
                <a:r>
                  <a:rPr lang="en-US" altLang="ko-KR" b="1" dirty="0"/>
                  <a:t>(2) </a:t>
                </a:r>
                <a:r>
                  <a:rPr lang="ko-KR" altLang="en-US" b="1" dirty="0" err="1"/>
                  <a:t>룩어헤드</a:t>
                </a:r>
                <a:r>
                  <a:rPr lang="ko-KR" altLang="en-US" b="1" dirty="0"/>
                  <a:t> 마스크 </a:t>
                </a:r>
                <a:r>
                  <a:rPr lang="en-US" altLang="ko-KR" b="1" dirty="0"/>
                  <a:t>(Look-Ahead Mask)</a:t>
                </a:r>
              </a:p>
              <a:p>
                <a:pPr marL="677862" lvl="2" indent="0">
                  <a:buNone/>
                </a:pPr>
                <a:r>
                  <a:rPr lang="ko-KR" altLang="en-US" dirty="0"/>
                  <a:t>디코더의 </a:t>
                </a:r>
                <a:r>
                  <a:rPr lang="en-US" altLang="ko-KR" dirty="0"/>
                  <a:t>self-attention</a:t>
                </a:r>
                <a:r>
                  <a:rPr lang="ko-KR" altLang="en-US" dirty="0"/>
                  <a:t>은 시퀀스를 한 토큰씩 예측해야 하므로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b="1" dirty="0"/>
                  <a:t>현재 시점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/>
                  <a:t>에서 </a:t>
                </a:r>
                <a:r>
                  <a:rPr lang="ko-KR" altLang="en-US" b="1" dirty="0"/>
                  <a:t>미래 시점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&gt;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/>
                  <a:t>의 정보를 보면 안 됩니다</a:t>
                </a:r>
                <a:r>
                  <a:rPr lang="en-US" altLang="ko-KR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i="1"/>
                            <m:t>future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ko-KR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ko-KR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i="1"/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ko-KR" i="1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b="0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520D2F68-DEC4-F1F6-363D-968EB80AE9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901" y="1009505"/>
                <a:ext cx="8180195" cy="5587879"/>
              </a:xfrm>
              <a:blipFill>
                <a:blip r:embed="rId3"/>
                <a:stretch>
                  <a:fillRect l="-4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E03CB86E-252F-B72D-4EE8-D9FA3FADFD97}"/>
              </a:ext>
            </a:extLst>
          </p:cNvPr>
          <p:cNvSpPr txBox="1">
            <a:spLocks/>
          </p:cNvSpPr>
          <p:nvPr/>
        </p:nvSpPr>
        <p:spPr>
          <a:xfrm>
            <a:off x="496781" y="260615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Masked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542809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4299-F683-8FCA-A7D5-D2676D32E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A679FEA1-ABF8-0DC0-467E-7F1C0017F1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901" y="1009505"/>
                <a:ext cx="8180195" cy="55878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[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룩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-</a:t>
                </a:r>
                <a:r>
                  <a:rPr lang="ko-KR" altLang="en-US" b="1" i="0" dirty="0" err="1">
                    <a:solidFill>
                      <a:srgbClr val="24292F"/>
                    </a:solidFill>
                    <a:effectLst/>
                    <a:latin typeface="Noto Sans KR"/>
                  </a:rPr>
                  <a:t>어헤드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마스크</a:t>
                </a:r>
                <a:r>
                  <a:rPr lang="en-US" altLang="ko-KR" b="1" dirty="0">
                    <a:solidFill>
                      <a:srgbClr val="24292F"/>
                    </a:solidFill>
                    <a:latin typeface="Noto Sans KR"/>
                  </a:rPr>
                  <a:t> + 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패딩 마스크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]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합치기</a:t>
                </a:r>
                <a:endParaRPr lang="en-US" altLang="ko-KR" b="1" i="0" dirty="0">
                  <a:solidFill>
                    <a:srgbClr val="24292F"/>
                  </a:solidFill>
                  <a:effectLst/>
                  <a:latin typeface="Noto Sans KR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두 마스크를 결합해야 하는 이유</a:t>
                </a:r>
                <a:endParaRPr lang="en-US" altLang="ko-KR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디코더의 </a:t>
                </a:r>
                <a:r>
                  <a:rPr lang="en-US" altLang="ko-KR" sz="1600" dirty="0"/>
                  <a:t>self-attention</a:t>
                </a:r>
                <a:r>
                  <a:rPr lang="ko-KR" altLang="en-US" sz="1600" dirty="0"/>
                  <a:t>에서는 </a:t>
                </a:r>
                <a:r>
                  <a:rPr lang="ko-KR" altLang="en-US" sz="1600" b="1" dirty="0"/>
                  <a:t>두 조건을 동시에 만족해야</a:t>
                </a:r>
                <a:r>
                  <a:rPr lang="ko-KR" altLang="en-US" sz="1600" dirty="0"/>
                  <a:t> 한다</a:t>
                </a:r>
                <a:r>
                  <a:rPr lang="en-US" altLang="ko-KR" sz="1600" dirty="0"/>
                  <a:t>.</a:t>
                </a:r>
              </a:p>
              <a:p>
                <a:pPr lvl="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미래 단어를 보면 안 된다 → </a:t>
                </a:r>
                <a:r>
                  <a:rPr lang="ko-KR" altLang="en-US" sz="1600" dirty="0" err="1"/>
                  <a:t>룩어헤드</a:t>
                </a:r>
                <a:r>
                  <a:rPr lang="ko-KR" altLang="en-US" sz="1600" dirty="0"/>
                  <a:t> 마스크</a:t>
                </a:r>
                <a:endParaRPr lang="en-US" altLang="ko-KR" sz="1600" dirty="0"/>
              </a:p>
              <a:p>
                <a:pPr lvl="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PAD </a:t>
                </a:r>
                <a:r>
                  <a:rPr lang="ko-KR" altLang="en-US" sz="1600" dirty="0"/>
                  <a:t>토큰을 보면 안 된다 → 패딩 마스크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두 조건은 </a:t>
                </a:r>
                <a:r>
                  <a:rPr lang="ko-KR" altLang="en-US" sz="1600" b="1" dirty="0"/>
                  <a:t>논리적으로 “</a:t>
                </a:r>
                <a:r>
                  <a:rPr lang="en-US" altLang="ko-KR" sz="1600" b="1" dirty="0"/>
                  <a:t>OR (</a:t>
                </a:r>
                <a:r>
                  <a:rPr lang="ko-KR" altLang="en-US" sz="1600" b="1" dirty="0"/>
                  <a:t>또는</a:t>
                </a:r>
                <a:r>
                  <a:rPr lang="en-US" altLang="ko-KR" sz="1600" b="1" dirty="0"/>
                  <a:t>)” </a:t>
                </a:r>
                <a:r>
                  <a:rPr lang="ko-KR" altLang="en-US" sz="1600" b="1" dirty="0"/>
                  <a:t>관계</a:t>
                </a:r>
                <a:r>
                  <a:rPr lang="ko-KR" altLang="en-US" sz="1600" dirty="0"/>
                  <a:t>이다</a:t>
                </a:r>
                <a:r>
                  <a:rPr lang="en-US" altLang="ko-KR" sz="1600" dirty="0"/>
                  <a:t>.</a:t>
                </a:r>
              </a:p>
              <a:p>
                <a:pPr lvl="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어떤 토큰이 미래이거나 혹은 </a:t>
                </a:r>
                <a:r>
                  <a:rPr lang="en-US" altLang="ko-KR" sz="1600" dirty="0"/>
                  <a:t>PAD</a:t>
                </a:r>
                <a:r>
                  <a:rPr lang="ko-KR" altLang="en-US" sz="1600" dirty="0"/>
                  <a:t>이거나 </a:t>
                </a:r>
                <a:endParaRPr lang="en-US" altLang="ko-KR" sz="1600" dirty="0"/>
              </a:p>
              <a:p>
                <a:pPr marL="973138" lvl="3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→ </a:t>
                </a:r>
                <a:r>
                  <a:rPr lang="ko-KR" altLang="en-US" sz="1600" dirty="0"/>
                  <a:t>그 위치는 </a:t>
                </a:r>
                <a:r>
                  <a:rPr lang="ko-KR" altLang="en-US" sz="1600" b="1" dirty="0"/>
                  <a:t>무시해야 함</a:t>
                </a:r>
                <a:r>
                  <a:rPr lang="en-US" altLang="ko-KR" sz="16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b="1" dirty="0"/>
                  <a:t>수학적으로 표현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b="1" i="1"/>
                            <m:t>combined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altLang="ko-K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ar-AE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e>
                          <m:r>
                            <a:rPr lang="ko-KR" altLang="ar-AE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ar-AE" altLang="ko-KR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altLang="ko-K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ko-KR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altLang="ko-KR" b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altLang="ko-KR" b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ar-AE" altLang="ko-KR" b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ko-KR" b="1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b="1" i="1"/>
                                  <m:t> </m:t>
                                </m:r>
                                <m:sSub>
                                  <m:sSubPr>
                                    <m:ctrlPr>
                                      <a:rPr lang="ar-AE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b="1" i="1"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ko-KR" b="1" i="1"/>
                                      <m:t>future</m:t>
                                    </m:r>
                                  </m:sub>
                                </m:sSub>
                                <m:d>
                                  <m:dPr>
                                    <m:sepChr m:val=","/>
                                    <m:ctrlPr>
                                      <a:rPr lang="ar-AE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ar-AE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  <m:e>
                                    <m:r>
                                      <a:rPr lang="ko-KR" altLang="ar-AE" b="1" i="1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</m:d>
                                <m:r>
                                  <a:rPr lang="ar-AE" altLang="ko-KR" b="1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ar-AE" altLang="ko-KR" b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m:rPr>
                                    <m:nor/>
                                  </m:rPr>
                                  <a:rPr lang="ar-AE" altLang="ko-KR" b="1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b="1" i="1"/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b="1" i="1"/>
                                  <m:t> </m:t>
                                </m:r>
                                <m:sSub>
                                  <m:sSubPr>
                                    <m:ctrlPr>
                                      <a:rPr lang="ar-AE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b="1" i="1"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ko-KR" b="1" i="1"/>
                                      <m:t>pad</m:t>
                                    </m:r>
                                  </m:sub>
                                </m:sSub>
                                <m:d>
                                  <m:dPr>
                                    <m:sepChr m:val=","/>
                                    <m:ctrlPr>
                                      <a:rPr lang="ar-AE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ar-AE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  <m:e>
                                    <m:r>
                                      <a:rPr lang="ko-KR" altLang="ar-AE" b="1" i="1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</m:d>
                                <m:r>
                                  <a:rPr lang="ar-AE" altLang="ko-KR" b="1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ar-AE" altLang="ko-KR" b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ar-AE" altLang="ko-KR" b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ko-KR" b="1" i="1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altLang="ko-KR" b="1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A679FEA1-ABF8-0DC0-467E-7F1C0017F1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901" y="1009505"/>
                <a:ext cx="8180195" cy="5587879"/>
              </a:xfrm>
              <a:blipFill>
                <a:blip r:embed="rId3"/>
                <a:stretch>
                  <a:fillRect l="-4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E87C6F52-BC03-50DA-B7C2-726776AA5A8F}"/>
              </a:ext>
            </a:extLst>
          </p:cNvPr>
          <p:cNvSpPr txBox="1">
            <a:spLocks/>
          </p:cNvSpPr>
          <p:nvPr/>
        </p:nvSpPr>
        <p:spPr>
          <a:xfrm>
            <a:off x="496781" y="260615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Masked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82713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46309-EE2B-D1A7-9213-1A6DDD6F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9DA1860-53E4-166C-15F5-D1E210679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043" y="128858"/>
            <a:ext cx="6048735" cy="664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499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8655-19CF-930A-6FE5-5DD3E55CE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9C96630-1205-5B7D-CA4D-1C1F1884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355148"/>
            <a:ext cx="5357452" cy="51071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인코더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디코더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어텐션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인코더</a:t>
            </a:r>
            <a:r>
              <a:rPr lang="en-US" altLang="ko-KR" dirty="0"/>
              <a:t>-</a:t>
            </a:r>
            <a:r>
              <a:rPr lang="ko-KR" altLang="en-US" dirty="0" err="1"/>
              <a:t>디코더</a:t>
            </a:r>
            <a:r>
              <a:rPr lang="ko-KR" altLang="en-US" dirty="0"/>
              <a:t> 어텐션 </a:t>
            </a:r>
            <a:r>
              <a:rPr lang="en-US" altLang="ko-KR" dirty="0"/>
              <a:t>(Cross-Attention)</a:t>
            </a:r>
            <a:r>
              <a:rPr lang="ko-KR" altLang="en-US" dirty="0"/>
              <a:t>은 </a:t>
            </a:r>
            <a:r>
              <a:rPr lang="ko-KR" altLang="en-US" b="1" dirty="0">
                <a:solidFill>
                  <a:srgbClr val="0070C0"/>
                </a:solidFill>
              </a:rPr>
              <a:t>디코더의 </a:t>
            </a:r>
            <a:r>
              <a:rPr lang="en-US" altLang="ko-KR" b="1" dirty="0">
                <a:solidFill>
                  <a:srgbClr val="0070C0"/>
                </a:solidFill>
              </a:rPr>
              <a:t>Query(Q)</a:t>
            </a:r>
            <a:r>
              <a:rPr lang="ko-KR" altLang="en-US" b="1" dirty="0">
                <a:solidFill>
                  <a:srgbClr val="0070C0"/>
                </a:solidFill>
              </a:rPr>
              <a:t>가 인코더의 </a:t>
            </a:r>
            <a:r>
              <a:rPr lang="en-US" altLang="ko-KR" b="1" dirty="0">
                <a:solidFill>
                  <a:srgbClr val="0070C0"/>
                </a:solidFill>
              </a:rPr>
              <a:t>Key (K)</a:t>
            </a:r>
            <a:r>
              <a:rPr lang="ko-KR" altLang="en-US" b="1" dirty="0">
                <a:solidFill>
                  <a:srgbClr val="0070C0"/>
                </a:solidFill>
              </a:rPr>
              <a:t>와 </a:t>
            </a:r>
            <a:r>
              <a:rPr lang="en-US" altLang="ko-KR" b="1" dirty="0">
                <a:solidFill>
                  <a:srgbClr val="0070C0"/>
                </a:solidFill>
              </a:rPr>
              <a:t>Value(V)</a:t>
            </a:r>
            <a:r>
              <a:rPr lang="ko-KR" altLang="en-US" b="1" dirty="0">
                <a:solidFill>
                  <a:srgbClr val="0070C0"/>
                </a:solidFill>
              </a:rPr>
              <a:t>를 참조하여</a:t>
            </a:r>
            <a:r>
              <a:rPr lang="en-US" altLang="ko-KR" dirty="0"/>
              <a:t>, </a:t>
            </a:r>
            <a:r>
              <a:rPr lang="ko-KR" altLang="en-US" dirty="0" err="1"/>
              <a:t>디코더가</a:t>
            </a:r>
            <a:r>
              <a:rPr lang="ko-KR" altLang="en-US" dirty="0"/>
              <a:t> 예측할 때 인코더에서 온 정보를 바탕으로 결정을 내리도록 도와준다</a:t>
            </a:r>
            <a:r>
              <a:rPr lang="en-US" altLang="ko-KR" dirty="0"/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디코더는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이전에 생성된 단어들을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입력받고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그 입력을 통해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생성</a:t>
            </a:r>
            <a:endParaRPr lang="en-US" altLang="ko-KR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인코더는 입력 문장을 처리하여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(K)와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)를 생성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 </a:t>
            </a:r>
            <a:endParaRPr lang="en-US" altLang="ko-KR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(K)는 디코더의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비교되어,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어텐션 점수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계산하는 데 사용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되고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)는 최종 출력 계산에 사용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된다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9C3D26-DF08-8D08-E555-8C4E25509E34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Cross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2467F1A-A33B-053E-586D-69F7A4677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909" y="5609541"/>
            <a:ext cx="295316" cy="2191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0407FBB-1567-E3BE-7067-5A5B67EE1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354" y="1816004"/>
            <a:ext cx="3168385" cy="350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165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07AC-DF56-EEDE-A33C-0E66006C4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0A9C06E-4F2B-9E74-25A0-8C9C360FC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297541"/>
            <a:ext cx="4262919" cy="49343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인코더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디코더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어텐션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 err="1"/>
              <a:t>스케일드</a:t>
            </a:r>
            <a:r>
              <a:rPr lang="ko-KR" altLang="en-US" b="1" dirty="0"/>
              <a:t> 닷 프로덕트 어텐션 </a:t>
            </a:r>
            <a:r>
              <a:rPr lang="en-US" altLang="ko-KR" b="1" dirty="0"/>
              <a:t>(Scaled Dot Product Attention)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인코더-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디코더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어텐션은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스케일드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닷 프로덕트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어텐션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사용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어텐션 점수는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내적(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)으로 계산되며, 이 값을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Key의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차원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d_model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)으로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나누어</a:t>
            </a:r>
            <a:r>
              <a:rPr kumimoji="0" lang="ko-KR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준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다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그 후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통해 가중치가 계산되고, 각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Value에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대해 가중 평균을 구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8EB9E2-9E25-6337-A46B-73036D612F98}"/>
              </a:ext>
            </a:extLst>
          </p:cNvPr>
          <p:cNvSpPr txBox="1">
            <a:spLocks/>
          </p:cNvSpPr>
          <p:nvPr/>
        </p:nvSpPr>
        <p:spPr>
          <a:xfrm>
            <a:off x="496781" y="433436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Cross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85D735D-C46A-FEF8-D913-C504BCB91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642" y="1643183"/>
            <a:ext cx="3927360" cy="403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515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CC7C7-FB2F-F63E-F4CB-865616583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0BF49B3-DAE0-F46D-5393-6B8062070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02" y="1029353"/>
            <a:ext cx="8107710" cy="55944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인코더</a:t>
            </a:r>
            <a:r>
              <a:rPr lang="en-US" altLang="ko-KR" b="1" i="0" dirty="0">
                <a:solidFill>
                  <a:srgbClr val="24292F"/>
                </a:solidFill>
                <a:effectLst/>
                <a:latin typeface="Noto Sans KR"/>
              </a:rPr>
              <a:t>-</a:t>
            </a:r>
            <a:r>
              <a:rPr lang="ko-KR" altLang="en-US" b="1" i="0" dirty="0" err="1">
                <a:solidFill>
                  <a:srgbClr val="24292F"/>
                </a:solidFill>
                <a:effectLst/>
                <a:latin typeface="Noto Sans KR"/>
              </a:rPr>
              <a:t>디코더</a:t>
            </a:r>
            <a:r>
              <a:rPr lang="ko-KR" altLang="en-US" b="1" i="0" dirty="0">
                <a:solidFill>
                  <a:srgbClr val="24292F"/>
                </a:solidFill>
                <a:effectLst/>
                <a:latin typeface="Noto Sans KR"/>
              </a:rPr>
              <a:t> 어텐션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어텐션 계산 흐름</a:t>
            </a:r>
            <a:endParaRPr lang="en-US" altLang="ko-KR" b="1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디코더의 입력으로부터 생성됨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(K)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인코더의 출력에서 생성됨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어텐션 점수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* K^T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Query와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Key의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내적)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으로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계산</a:t>
            </a:r>
            <a:r>
              <a:rPr lang="ko-KR" altLang="en-US" sz="1600" dirty="0">
                <a:solidFill>
                  <a:schemeClr val="tx1"/>
                </a:solidFill>
              </a:rPr>
              <a:t>됨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>
              <a:solidFill>
                <a:schemeClr val="tx1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>
              <a:solidFill>
                <a:schemeClr val="tx1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Weights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softmax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* K^T)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통해 얻고, 이를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Value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에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곱하여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최종 어텐션 출력을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계산</a:t>
            </a:r>
            <a:r>
              <a:rPr lang="ko-KR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함</a:t>
            </a:r>
            <a:endParaRPr lang="en-US" altLang="ko-KR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D20644-39C8-45C4-98EC-2DF767FD05D3}"/>
              </a:ext>
            </a:extLst>
          </p:cNvPr>
          <p:cNvSpPr txBox="1">
            <a:spLocks/>
          </p:cNvSpPr>
          <p:nvPr/>
        </p:nvSpPr>
        <p:spPr>
          <a:xfrm>
            <a:off x="496781" y="375829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Cross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FA2148-551E-AFEB-BDE5-EF82EA96B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57" y="3198572"/>
            <a:ext cx="2937957" cy="68760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4A80DCD-4D44-27DA-8257-0863D8390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50" y="4811568"/>
            <a:ext cx="5021371" cy="5083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FD472F0-6857-923D-213B-9EA59FF8E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755" y="5476516"/>
            <a:ext cx="3688744" cy="42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2570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305C5-4119-5C6F-8198-F0D02A81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0DA4FB4-D787-3CFC-F46F-4BBB935F80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902" y="1029353"/>
                <a:ext cx="8107710" cy="559445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인코더</a:t>
                </a:r>
                <a:r>
                  <a:rPr lang="en-US" altLang="ko-KR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-</a:t>
                </a:r>
                <a:r>
                  <a:rPr lang="ko-KR" altLang="en-US" b="1" i="0" dirty="0" err="1">
                    <a:solidFill>
                      <a:srgbClr val="24292F"/>
                    </a:solidFill>
                    <a:effectLst/>
                    <a:latin typeface="Noto Sans KR"/>
                  </a:rPr>
                  <a:t>디코더</a:t>
                </a:r>
                <a:r>
                  <a:rPr lang="ko-KR" altLang="en-US" b="1" i="0" dirty="0">
                    <a:solidFill>
                      <a:srgbClr val="24292F"/>
                    </a:solidFill>
                    <a:effectLst/>
                    <a:latin typeface="Noto Sans KR"/>
                  </a:rPr>
                  <a:t> 어텐션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rgbClr val="0070C0"/>
                    </a:solidFill>
                  </a:rPr>
                  <a:t>인코더의 최종 출력 </a:t>
                </a:r>
                <a:r>
                  <a:rPr lang="en-US" altLang="ko-KR" b="1" dirty="0">
                    <a:solidFill>
                      <a:srgbClr val="0070C0"/>
                    </a:solidFill>
                  </a:rPr>
                  <a:t>Z</a:t>
                </a:r>
                <a:r>
                  <a:rPr lang="ko-KR" altLang="en-US" b="1" dirty="0">
                    <a:solidFill>
                      <a:srgbClr val="0070C0"/>
                    </a:solidFill>
                  </a:rPr>
                  <a:t>값</a:t>
                </a:r>
                <a:r>
                  <a:rPr lang="en-US" altLang="ko-KR" b="1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ko-KR" b="1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ko-KR" altLang="en-US" b="1" dirty="0" err="1">
                    <a:solidFill>
                      <a:srgbClr val="0070C0"/>
                    </a:solidFill>
                    <a:sym typeface="Wingdings" panose="05000000000000000000" pitchFamily="2" charset="2"/>
                  </a:rPr>
                  <a:t>디코더의</a:t>
                </a:r>
                <a:r>
                  <a:rPr lang="ko-KR" altLang="en-US" b="1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altLang="ko-KR" b="1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k, v</a:t>
                </a:r>
                <a:r>
                  <a:rPr lang="ko-KR" altLang="en-US" b="1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값으로 변환</a:t>
                </a:r>
                <a:endParaRPr lang="en-US" altLang="ko-KR" b="1" dirty="0">
                  <a:solidFill>
                    <a:srgbClr val="0070C0"/>
                  </a:solidFill>
                  <a:sym typeface="Wingdings" panose="05000000000000000000" pitchFamily="2" charset="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인코더의 </a:t>
                </a:r>
                <a:r>
                  <a:rPr lang="en-US" altLang="ko-KR" sz="1600" dirty="0"/>
                  <a:t>Z </a:t>
                </a:r>
                <a:r>
                  <a:rPr lang="ko-KR" altLang="en-US" sz="1600" dirty="0"/>
                  <a:t>전체를 다시 </a:t>
                </a:r>
                <a:r>
                  <a:rPr lang="en-US" altLang="ko-KR" sz="1600" dirty="0" err="1"/>
                  <a:t>W</a:t>
                </a:r>
                <a:r>
                  <a:rPr lang="en-US" altLang="ko-KR" sz="1600" baseline="-25000" dirty="0" err="1"/>
                  <a:t>k</a:t>
                </a:r>
                <a:r>
                  <a:rPr lang="en-US" altLang="ko-KR" sz="1600" dirty="0"/>
                  <a:t>, W</a:t>
                </a:r>
                <a:r>
                  <a:rPr lang="en-US" altLang="ko-KR" sz="1600" baseline="-25000" dirty="0"/>
                  <a:t>v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로 선형변환해서 </a:t>
                </a:r>
                <a:r>
                  <a:rPr lang="ko-KR" altLang="en-US" sz="1600" dirty="0" err="1"/>
                  <a:t>디코더의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K, V </a:t>
                </a:r>
                <a:r>
                  <a:rPr lang="ko-KR" altLang="en-US" sz="1600" dirty="0"/>
                  <a:t>를 만든다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인코더 출력 </a:t>
                </a:r>
                <a:r>
                  <a:rPr lang="en-US" altLang="ko-KR" sz="1600" dirty="0"/>
                  <a:t>Z(= Encoder Output) </a:t>
                </a:r>
                <a:r>
                  <a:rPr lang="ko-KR" altLang="en-US" sz="1600" dirty="0"/>
                  <a:t>자체가 </a:t>
                </a:r>
                <a:r>
                  <a:rPr lang="en-US" altLang="ko-KR" sz="1600" dirty="0"/>
                  <a:t>K</a:t>
                </a:r>
                <a:r>
                  <a:rPr lang="ko-KR" altLang="en-US" sz="1600" dirty="0"/>
                  <a:t>나 </a:t>
                </a:r>
                <a:r>
                  <a:rPr lang="en-US" altLang="ko-KR" sz="1600" dirty="0"/>
                  <a:t>V</a:t>
                </a:r>
                <a:r>
                  <a:rPr lang="ko-KR" altLang="en-US" sz="1600" dirty="0"/>
                  <a:t>가 아니다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Z</a:t>
                </a:r>
                <a:r>
                  <a:rPr lang="ko-KR" altLang="en-US" sz="1600" dirty="0"/>
                  <a:t>는 단지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r>
                      <a:rPr lang="ko-KR" altLang="en-US" sz="1600" i="1"/>
                      <m:t>𝑍</m:t>
                    </m:r>
                    <m:r>
                      <a:rPr lang="ko-KR" altLang="en-US" sz="1600"/>
                      <m:t>∈</m:t>
                    </m:r>
                    <m:sSup>
                      <m:sSupPr>
                        <m:ctrlPr>
                          <a:rPr lang="ko-KR" altLang="en-US" sz="1600" i="1"/>
                        </m:ctrlPr>
                      </m:sSupPr>
                      <m:e>
                        <m:r>
                          <a:rPr lang="en-US" altLang="ko-KR" sz="1600"/>
                          <m:t>ℝ</m:t>
                        </m:r>
                      </m:e>
                      <m:sup>
                        <m:d>
                          <m:dPr>
                            <m:ctrlPr>
                              <a:rPr lang="ko-KR" altLang="en-US" sz="1600" i="1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ko-KR" sz="1600" i="1"/>
                              <m:t>seq</m:t>
                            </m:r>
                            <m:r>
                              <m:rPr>
                                <m:lit/>
                                <m:nor/>
                              </m:rPr>
                              <a:rPr lang="en-US" altLang="ko-KR" sz="1600" i="1"/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altLang="ko-KR" sz="1600" i="1"/>
                              <m:t>len</m:t>
                            </m:r>
                            <m:r>
                              <a:rPr lang="en-US" altLang="ko-KR" sz="1600"/>
                              <m:t>×</m:t>
                            </m:r>
                            <m:sSub>
                              <m:sSubPr>
                                <m:ctrlPr>
                                  <a:rPr lang="ko-KR" altLang="en-US" sz="1600" i="1"/>
                                </m:ctrlPr>
                              </m:sSubPr>
                              <m:e>
                                <m:r>
                                  <a:rPr lang="ko-KR" altLang="en-US" sz="1600" i="1"/>
                                  <m:t>𝑑</m:t>
                                </m:r>
                              </m:e>
                              <m:sub>
                                <m:r>
                                  <a:rPr lang="ko-KR" altLang="en-US" sz="1600" i="1"/>
                                  <m:t>𝑚𝑜𝑑𝑒𝑙</m:t>
                                </m:r>
                              </m:sub>
                            </m:sSub>
                          </m:e>
                        </m:d>
                      </m:sup>
                    </m:sSup>
                  </m:oMath>
                </a14:m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Transformer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Z</a:t>
                </a:r>
                <a:r>
                  <a:rPr lang="ko-KR" altLang="en-US" sz="1600" dirty="0"/>
                  <a:t>에 대해 </a:t>
                </a:r>
                <a:r>
                  <a:rPr lang="ko-KR" altLang="en-US" sz="1600" dirty="0" err="1"/>
                  <a:t>디코더에서</a:t>
                </a:r>
                <a:r>
                  <a:rPr lang="ko-KR" altLang="en-US" sz="1600" dirty="0"/>
                  <a:t> 새로 학습된 가중치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/>
                        </m:ctrlPr>
                      </m:sSubPr>
                      <m:e>
                        <m:r>
                          <a:rPr lang="ko-KR" altLang="en-US" sz="1600" i="1"/>
                          <m:t>𝑊</m:t>
                        </m:r>
                      </m:e>
                      <m:sub>
                        <m:r>
                          <a:rPr lang="ko-KR" altLang="en-US" sz="1600" i="1"/>
                          <m:t>𝐾</m:t>
                        </m:r>
                      </m:sub>
                    </m:sSub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/>
                        </m:ctrlPr>
                      </m:sSubPr>
                      <m:e>
                        <m:r>
                          <a:rPr lang="ko-KR" altLang="en-US" sz="1600" i="1"/>
                          <m:t>𝑊</m:t>
                        </m:r>
                      </m:e>
                      <m:sub>
                        <m:r>
                          <a:rPr lang="ko-KR" altLang="en-US" sz="1600" i="1"/>
                          <m:t>𝑉</m:t>
                        </m:r>
                      </m:sub>
                    </m:sSub>
                  </m:oMath>
                </a14:m>
                <a:r>
                  <a:rPr lang="ko-KR" altLang="en-US" sz="1600" dirty="0"/>
                  <a:t> </a:t>
                </a:r>
                <a:r>
                  <a:rPr lang="ko-KR" altLang="en-US" sz="1600" dirty="0" err="1"/>
                  <a:t>를</a:t>
                </a:r>
                <a:r>
                  <a:rPr lang="ko-KR" altLang="en-US" sz="1600" dirty="0"/>
                  <a:t> 곱해 </a:t>
                </a:r>
                <a:r>
                  <a:rPr lang="en-US" altLang="ko-KR" sz="1600" dirty="0"/>
                  <a:t>K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V</a:t>
                </a:r>
                <a:r>
                  <a:rPr lang="ko-KR" altLang="en-US" sz="1600" dirty="0"/>
                  <a:t>를 만들어낸다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:</a:t>
                </a:r>
                <a:endParaRPr lang="en-US" altLang="ko-KR" sz="1600" i="1" dirty="0"/>
              </a:p>
              <a:p>
                <a:pPr lvl="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600" i="1"/>
                      <m:t>𝐾</m:t>
                    </m:r>
                    <m:r>
                      <a:rPr lang="en-US" altLang="ko-KR" sz="1600"/>
                      <m:t>=</m:t>
                    </m:r>
                    <m:r>
                      <a:rPr lang="ko-KR" altLang="en-US" sz="1600" i="1"/>
                      <m:t>𝑍</m:t>
                    </m:r>
                    <m:sSub>
                      <m:sSubPr>
                        <m:ctrlPr>
                          <a:rPr lang="ko-KR" altLang="en-US" sz="1600" i="1"/>
                        </m:ctrlPr>
                      </m:sSubPr>
                      <m:e>
                        <m:r>
                          <a:rPr lang="ko-KR" altLang="en-US" sz="1600" i="1"/>
                          <m:t>𝑊</m:t>
                        </m:r>
                      </m:e>
                      <m:sub>
                        <m:r>
                          <a:rPr lang="ko-KR" altLang="en-US" sz="1600" i="1"/>
                          <m:t>𝐾</m:t>
                        </m:r>
                      </m:sub>
                    </m:sSub>
                  </m:oMath>
                </a14:m>
                <a:endParaRPr lang="en-US" altLang="ko-KR" sz="1600" i="1" dirty="0"/>
              </a:p>
              <a:p>
                <a:pPr lvl="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600" i="1"/>
                      <m:t>𝑉</m:t>
                    </m:r>
                    <m:r>
                      <a:rPr lang="en-US" altLang="ko-KR" sz="1600"/>
                      <m:t>=</m:t>
                    </m:r>
                    <m:r>
                      <a:rPr lang="ko-KR" altLang="en-US" sz="1600" i="1"/>
                      <m:t>𝑍</m:t>
                    </m:r>
                    <m:sSub>
                      <m:sSubPr>
                        <m:ctrlPr>
                          <a:rPr lang="ko-KR" altLang="en-US" sz="1600" i="1"/>
                        </m:ctrlPr>
                      </m:sSubPr>
                      <m:e>
                        <m:r>
                          <a:rPr lang="ko-KR" altLang="en-US" sz="1600" i="1"/>
                          <m:t>𝑊</m:t>
                        </m:r>
                      </m:e>
                      <m:sub>
                        <m:r>
                          <a:rPr lang="ko-KR" altLang="en-US" sz="1600" i="1"/>
                          <m:t>𝑉</m:t>
                        </m:r>
                      </m:sub>
                    </m:sSub>
                  </m:oMath>
                </a14:m>
                <a:endParaRPr lang="ko-KR" altLang="en-US" sz="1600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여기서</a:t>
                </a:r>
                <a:br>
                  <a:rPr lang="ko-KR" altLang="en-US" sz="16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/>
                        </m:ctrlPr>
                      </m:sSubPr>
                      <m:e>
                        <m:r>
                          <a:rPr lang="ko-KR" altLang="en-US" sz="1600" i="1"/>
                          <m:t>𝑊</m:t>
                        </m:r>
                      </m:e>
                      <m:sub>
                        <m:r>
                          <a:rPr lang="ko-KR" altLang="en-US" sz="1600" i="1"/>
                          <m:t>𝐾</m:t>
                        </m:r>
                      </m:sub>
                    </m:sSub>
                    <m:r>
                      <a:rPr lang="en-US" altLang="ko-KR" sz="1600"/>
                      <m:t>,</m:t>
                    </m:r>
                    <m:sSub>
                      <m:sSubPr>
                        <m:ctrlPr>
                          <a:rPr lang="ko-KR" altLang="en-US" sz="1600" i="1"/>
                        </m:ctrlPr>
                      </m:sSubPr>
                      <m:e>
                        <m:r>
                          <a:rPr lang="ko-KR" altLang="en-US" sz="1600" i="1"/>
                          <m:t>𝑊</m:t>
                        </m:r>
                      </m:e>
                      <m:sub>
                        <m:r>
                          <a:rPr lang="ko-KR" altLang="en-US" sz="1600" i="1"/>
                          <m:t>𝑉</m:t>
                        </m:r>
                      </m:sub>
                    </m:sSub>
                  </m:oMath>
                </a14:m>
                <a:r>
                  <a:rPr lang="ko-KR" altLang="en-US" sz="1600" dirty="0"/>
                  <a:t>는 </a:t>
                </a:r>
                <a:r>
                  <a:rPr lang="ko-KR" altLang="en-US" sz="1600" b="1" dirty="0" err="1"/>
                  <a:t>디코더에</a:t>
                </a:r>
                <a:r>
                  <a:rPr lang="ko-KR" altLang="en-US" sz="1600" b="1" dirty="0"/>
                  <a:t> 존재하는 독립적인 파라미터</a:t>
                </a:r>
                <a:r>
                  <a:rPr lang="ko-KR" altLang="en-US" sz="1600" dirty="0"/>
                  <a:t>이다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0DA4FB4-D787-3CFC-F46F-4BBB935F80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902" y="1029353"/>
                <a:ext cx="8107710" cy="5594456"/>
              </a:xfrm>
              <a:blipFill>
                <a:blip r:embed="rId3"/>
                <a:stretch>
                  <a:fillRect l="-4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AD236BA2-59F8-88F3-F3CB-3F9CE293CCDC}"/>
              </a:ext>
            </a:extLst>
          </p:cNvPr>
          <p:cNvSpPr txBox="1">
            <a:spLocks/>
          </p:cNvSpPr>
          <p:nvPr/>
        </p:nvSpPr>
        <p:spPr>
          <a:xfrm>
            <a:off x="496781" y="375829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Cross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Self-Attention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86439B-4816-8AA8-E42B-921F9ABE2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681" y="3717035"/>
            <a:ext cx="4548902" cy="179393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200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DCF4A-3065-FC02-C279-E01DF98FC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AB72A1C-86B5-E082-CEC4-ACEA1DA3C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76" y="951899"/>
            <a:ext cx="8295408" cy="56454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ko-KR" altLang="en-US" b="1" dirty="0"/>
              <a:t>트랜스포머</a:t>
            </a:r>
            <a:r>
              <a:rPr lang="en-US" altLang="ko-KR" b="1" dirty="0"/>
              <a:t>(Transformer) </a:t>
            </a:r>
            <a:r>
              <a:rPr lang="ko-KR" altLang="en-US" b="1" dirty="0"/>
              <a:t>디코더의 </a:t>
            </a:r>
            <a:r>
              <a:rPr lang="en-US" altLang="ko-KR" b="1" dirty="0"/>
              <a:t>Linear(</a:t>
            </a:r>
            <a:r>
              <a:rPr lang="ko-KR" altLang="en-US" b="1" dirty="0"/>
              <a:t>선형</a:t>
            </a:r>
            <a:r>
              <a:rPr lang="en-US" altLang="ko-KR" b="1" dirty="0"/>
              <a:t>) </a:t>
            </a:r>
            <a:r>
              <a:rPr lang="ko-KR" altLang="en-US" b="1" dirty="0"/>
              <a:t>층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트랜스포머의 디코더는 여러 개의 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셀프 어텐션(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Self-Attention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과 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인코더-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디코더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어텐션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을 거친 후, 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최종적으로 토큰의 확률 분포를 예측해야 </a:t>
            </a:r>
            <a:r>
              <a:rPr kumimoji="0" lang="ko-KR" altLang="en-US" sz="15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다.</a:t>
            </a:r>
            <a:endParaRPr kumimoji="0" lang="en-US" altLang="ko-KR" sz="15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보통 디코더의 마지막 부분에서 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Forward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Network (FFN)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지나고, 마지막에 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층을 사용하여 각 단어(토큰)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에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대한 확률 분포를 생성</a:t>
            </a:r>
            <a:r>
              <a:rPr kumimoji="0" lang="ko-KR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  <a:endParaRPr kumimoji="0" lang="en-US" altLang="ko-K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여기서 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층은 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모델의 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임베딩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차원(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d_model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어휘 크기(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vocab_size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로 변환하는 역할을 </a:t>
            </a:r>
            <a:r>
              <a:rPr kumimoji="0" lang="ko-KR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21ED930-88B7-B771-EB91-FE177A64AEA1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Linear+Softmax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층</a:t>
            </a:r>
            <a:endParaRPr lang="ko-KR" altLang="en-US" sz="28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D43111D-05A5-24F2-37DC-F401D310D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08" y="3768284"/>
            <a:ext cx="7948408" cy="300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2496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95F2-5EA3-F994-BE1D-581FB63F1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0B1ADB23-73AA-7124-E8FD-677A3D0D41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0876" y="951899"/>
                <a:ext cx="8295408" cy="57607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ko-KR" b="1" i="0" dirty="0">
                    <a:solidFill>
                      <a:srgbClr val="222222"/>
                    </a:solidFill>
                    <a:effectLst/>
                    <a:latin typeface="Helvetica Neue"/>
                  </a:rPr>
                  <a:t> </a:t>
                </a:r>
                <a:r>
                  <a:rPr lang="ko-KR" altLang="en-US" b="1" dirty="0"/>
                  <a:t>트랜스포머</a:t>
                </a:r>
                <a:r>
                  <a:rPr lang="en-US" altLang="ko-KR" b="1" dirty="0"/>
                  <a:t>(Transformer) </a:t>
                </a:r>
                <a:r>
                  <a:rPr lang="ko-KR" altLang="en-US" b="1" dirty="0"/>
                  <a:t>디코더의 </a:t>
                </a:r>
                <a:r>
                  <a:rPr lang="en-US" altLang="ko-KR" b="1" dirty="0"/>
                  <a:t>Linear(</a:t>
                </a:r>
                <a:r>
                  <a:rPr lang="ko-KR" altLang="en-US" b="1" dirty="0"/>
                  <a:t>선형</a:t>
                </a:r>
                <a:r>
                  <a:rPr lang="en-US" altLang="ko-KR" b="1" dirty="0"/>
                  <a:t>) </a:t>
                </a:r>
                <a:r>
                  <a:rPr lang="ko-KR" altLang="en-US" b="1" dirty="0"/>
                  <a:t>층</a:t>
                </a:r>
                <a:endParaRPr lang="en-US" altLang="ko-KR" b="1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트랜스포머의 </a:t>
                </a:r>
                <a:r>
                  <a:rPr lang="ko-KR" altLang="en-US" b="1" dirty="0" err="1"/>
                  <a:t>디코더</a:t>
                </a:r>
                <a:r>
                  <a:rPr lang="ko-KR" altLang="en-US" b="1" dirty="0"/>
                  <a:t> 블록</a:t>
                </a:r>
                <a:r>
                  <a:rPr lang="ko-KR" altLang="en-US" dirty="0"/>
                  <a:t>은 여러 층으로 구성되지만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　맨 마지막 단계는 일반적으로 다음 순서로 진행된다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/>
                  <a:t>Linear </a:t>
                </a:r>
                <a:r>
                  <a:rPr lang="ko-KR" altLang="en-US" dirty="0"/>
                  <a:t>층의 역할</a:t>
                </a:r>
                <a:endParaRPr lang="en-US" altLang="ko-KR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디코더의 각 시점에서 나오는 출력</a:t>
                </a:r>
                <a:r>
                  <a:rPr lang="en-US" altLang="ko-KR" sz="1600" dirty="0"/>
                  <a:t>(hidden state)</a:t>
                </a:r>
                <a:r>
                  <a:rPr lang="ko-KR" altLang="en-US" sz="1600" dirty="0"/>
                  <a:t>은　</a:t>
                </a:r>
                <a:r>
                  <a:rPr lang="ko-KR" altLang="en-US" sz="1600" b="1" dirty="0"/>
                  <a:t>모델의 내부 </a:t>
                </a:r>
                <a:r>
                  <a:rPr lang="ko-KR" altLang="en-US" sz="1600" b="1" dirty="0" err="1"/>
                  <a:t>임베딩</a:t>
                </a:r>
                <a:r>
                  <a:rPr lang="ko-KR" altLang="en-US" sz="1600" b="1" dirty="0"/>
                  <a:t> 차원</a:t>
                </a:r>
                <a:r>
                  <a:rPr lang="en-US" altLang="ko-KR" sz="1600" b="1" dirty="0"/>
                  <a:t>(</a:t>
                </a:r>
                <a:r>
                  <a:rPr lang="en-US" altLang="ko-KR" sz="1600" b="1" dirty="0" err="1"/>
                  <a:t>d_model</a:t>
                </a:r>
                <a:r>
                  <a:rPr lang="en-US" altLang="ko-KR" sz="1600" b="1" dirty="0"/>
                  <a:t>)</a:t>
                </a:r>
                <a:r>
                  <a:rPr lang="ko-KR" altLang="en-US" sz="1600" dirty="0"/>
                  <a:t> 을 가진다</a:t>
                </a:r>
                <a:r>
                  <a:rPr lang="en-US" altLang="ko-KR" sz="1600" dirty="0"/>
                  <a:t>.</a:t>
                </a:r>
                <a:br>
                  <a:rPr lang="en-US" altLang="ko-KR" sz="1600" dirty="0"/>
                </a:br>
                <a:r>
                  <a:rPr lang="ko-KR" altLang="en-US" sz="1600" dirty="0"/>
                  <a:t>예를 들어</a:t>
                </a:r>
                <a:r>
                  <a:rPr lang="en-US" altLang="ko-KR" sz="1600" dirty="0"/>
                  <a:t>, </a:t>
                </a:r>
                <a:r>
                  <a:rPr lang="en-US" altLang="ko-KR" sz="1600" dirty="0" err="1"/>
                  <a:t>d_model</a:t>
                </a:r>
                <a:r>
                  <a:rPr lang="en-US" altLang="ko-KR" sz="1600" dirty="0"/>
                  <a:t> = 512</a:t>
                </a:r>
                <a:r>
                  <a:rPr lang="ko-KR" altLang="en-US" sz="1600" dirty="0"/>
                  <a:t> 라면 각 단어 위치마다 </a:t>
                </a:r>
                <a:r>
                  <a:rPr lang="en-US" altLang="ko-KR" sz="1600" dirty="0"/>
                  <a:t>512</a:t>
                </a:r>
                <a:r>
                  <a:rPr lang="ko-KR" altLang="en-US" sz="1600" dirty="0"/>
                  <a:t>차원의 벡터가 있다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하지만 최종적으로 예측해야 하는 것은　“어휘 집합</a:t>
                </a:r>
                <a:r>
                  <a:rPr lang="en-US" altLang="ko-KR" sz="1600" dirty="0"/>
                  <a:t>(vocabulary)” </a:t>
                </a:r>
                <a:r>
                  <a:rPr lang="ko-KR" altLang="en-US" sz="1600" dirty="0"/>
                  <a:t>안의 각 단어 확률이다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</a:t>
                </a:r>
                <a:r>
                  <a:rPr lang="en-US" altLang="ko-KR" sz="1600" b="1" dirty="0"/>
                  <a:t>Linear </a:t>
                </a:r>
                <a:r>
                  <a:rPr lang="ko-KR" altLang="en-US" sz="1600" b="1" dirty="0"/>
                  <a:t>층</a:t>
                </a:r>
                <a:r>
                  <a:rPr lang="en-US" altLang="ko-KR" sz="1600" dirty="0"/>
                  <a:t>(Dense layer)</a:t>
                </a:r>
                <a:r>
                  <a:rPr lang="ko-KR" altLang="en-US" sz="1600" dirty="0"/>
                  <a:t>을 이용해</a:t>
                </a:r>
                <a:br>
                  <a:rPr lang="ko-KR" altLang="en-US" sz="1600" dirty="0"/>
                </a:br>
                <a:r>
                  <a:rPr lang="en-US" altLang="ko-KR" sz="1600" dirty="0"/>
                  <a:t>[batch, </a:t>
                </a:r>
                <a:r>
                  <a:rPr lang="en-US" altLang="ko-KR" sz="1600" dirty="0" err="1"/>
                  <a:t>seq_len</a:t>
                </a:r>
                <a:r>
                  <a:rPr lang="en-US" altLang="ko-KR" sz="1600" dirty="0"/>
                  <a:t>, </a:t>
                </a:r>
                <a:r>
                  <a:rPr lang="en-US" altLang="ko-KR" sz="1600" dirty="0" err="1"/>
                  <a:t>d_model</a:t>
                </a:r>
                <a:r>
                  <a:rPr lang="en-US" altLang="ko-KR" sz="1600" dirty="0"/>
                  <a:t>] → [batch, </a:t>
                </a:r>
                <a:r>
                  <a:rPr lang="en-US" altLang="ko-KR" sz="1600" dirty="0" err="1"/>
                  <a:t>seq_len</a:t>
                </a:r>
                <a:r>
                  <a:rPr lang="en-US" altLang="ko-KR" sz="1600" dirty="0"/>
                  <a:t>, </a:t>
                </a:r>
                <a:r>
                  <a:rPr lang="en-US" altLang="ko-KR" sz="1600" dirty="0" err="1"/>
                  <a:t>vocab_size</a:t>
                </a:r>
                <a:r>
                  <a:rPr lang="en-US" altLang="ko-KR" sz="1600" dirty="0"/>
                  <a:t>]</a:t>
                </a:r>
                <a:r>
                  <a:rPr lang="ko-KR" altLang="en-US" sz="1600" dirty="0"/>
                  <a:t>로 차원을 변환한다</a:t>
                </a:r>
                <a:r>
                  <a:rPr lang="en-US" altLang="ko-KR" sz="16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700" b="1"/>
                        <m:t>logits</m:t>
                      </m:r>
                      <m:r>
                        <a:rPr lang="en-US" altLang="ko-KR" sz="17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700" b="1" i="1">
                          <a:latin typeface="Cambria Math" panose="02040503050406030204" pitchFamily="18" charset="0"/>
                        </a:rPr>
                        <m:t>𝑿𝑾</m:t>
                      </m:r>
                      <m:r>
                        <a:rPr lang="en-US" altLang="ko-KR" sz="1700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7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ko-KR" altLang="en-US" sz="1700" b="1" dirty="0"/>
              </a:p>
              <a:p>
                <a:pPr lvl="4">
                  <a:buFont typeface="Arial" panose="020B0604020202020204" pitchFamily="34" charset="0"/>
                  <a:buChar char="•"/>
                </a:pPr>
                <a:endParaRPr lang="en-US" altLang="ko-KR" sz="1600" i="1" dirty="0"/>
              </a:p>
              <a:p>
                <a:pPr lvl="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디코더의 출력 </a:t>
                </a:r>
                <a:r>
                  <a:rPr lang="en-US" altLang="ko-KR" sz="1600" dirty="0"/>
                  <a:t>(</a:t>
                </a:r>
                <a:r>
                  <a:rPr lang="en-US" altLang="ko-KR" sz="1600" dirty="0" err="1"/>
                  <a:t>d_model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차원</a:t>
                </a:r>
                <a:r>
                  <a:rPr lang="en-US" altLang="ko-KR" sz="1600" dirty="0"/>
                  <a:t>)</a:t>
                </a:r>
                <a:endParaRPr lang="en-US" altLang="ko-KR" sz="1600" i="1" dirty="0"/>
              </a:p>
              <a:p>
                <a:pPr lvl="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학습 가능한 가중치 </a:t>
                </a:r>
                <a:r>
                  <a:rPr lang="en-US" altLang="ko-KR" sz="1600" dirty="0"/>
                  <a:t>(</a:t>
                </a:r>
                <a:r>
                  <a:rPr lang="en-US" altLang="ko-KR" sz="1600" dirty="0" err="1"/>
                  <a:t>d_model</a:t>
                </a:r>
                <a:r>
                  <a:rPr lang="en-US" altLang="ko-KR" sz="1600" dirty="0"/>
                  <a:t> × </a:t>
                </a:r>
                <a:r>
                  <a:rPr lang="en-US" altLang="ko-KR" sz="1600" dirty="0" err="1"/>
                  <a:t>vocab_size</a:t>
                </a:r>
                <a:r>
                  <a:rPr lang="en-US" altLang="ko-KR" sz="1600" dirty="0"/>
                  <a:t>)</a:t>
                </a:r>
                <a:endParaRPr lang="en-US" altLang="ko-KR" sz="1600" i="1" dirty="0"/>
              </a:p>
              <a:p>
                <a:pPr lvl="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바이어스</a:t>
                </a:r>
                <a:endParaRPr lang="en-US" altLang="ko-KR" sz="1600" b="0" dirty="0"/>
              </a:p>
              <a:p>
                <a:pPr lvl="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600" b="0"/>
                      <m:t>logits</m:t>
                    </m:r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어휘 크기만큼의 선형 결합 결과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0B1ADB23-73AA-7124-E8FD-677A3D0D41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0876" y="951899"/>
                <a:ext cx="8295408" cy="5760700"/>
              </a:xfrm>
              <a:blipFill>
                <a:blip r:embed="rId3"/>
                <a:stretch>
                  <a:fillRect l="-3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1">
            <a:extLst>
              <a:ext uri="{FF2B5EF4-FFF2-40B4-BE49-F238E27FC236}">
                <a16:creationId xmlns:a16="http://schemas.microsoft.com/office/drawing/2014/main" id="{C8B26BDE-756A-EB2E-2949-B0508B6AC4B8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Linear+Softmax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층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14C0B4-72E0-4D89-B764-743C0CFF0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008" y="2104039"/>
            <a:ext cx="5530272" cy="49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044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E1694-4132-C547-8882-2B5DF215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721AA64-FB10-F90F-8366-215CBB51E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76" y="950664"/>
            <a:ext cx="8295408" cy="57619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/>
              <a:t>트랜스포머</a:t>
            </a:r>
            <a:r>
              <a:rPr lang="en-US" altLang="ko-KR" b="1" dirty="0"/>
              <a:t>(Transformer) </a:t>
            </a:r>
            <a:r>
              <a:rPr lang="ko-KR" altLang="en-US" b="1" dirty="0"/>
              <a:t>디코더의 </a:t>
            </a:r>
            <a:r>
              <a:rPr lang="en-US" altLang="ko-KR" b="1" dirty="0"/>
              <a:t>Linear(</a:t>
            </a:r>
            <a:r>
              <a:rPr lang="ko-KR" altLang="en-US" b="1" dirty="0"/>
              <a:t>선형</a:t>
            </a:r>
            <a:r>
              <a:rPr lang="en-US" altLang="ko-KR" b="1" dirty="0"/>
              <a:t>) </a:t>
            </a:r>
            <a:r>
              <a:rPr lang="ko-KR" altLang="en-US" b="1" dirty="0"/>
              <a:t>층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만약 트랜스포머 모델의 </a:t>
            </a:r>
            <a:r>
              <a:rPr lang="ko-KR" altLang="en-US" dirty="0" err="1"/>
              <a:t>임베딩</a:t>
            </a:r>
            <a:r>
              <a:rPr lang="ko-KR" altLang="en-US" dirty="0"/>
              <a:t> 차원이 </a:t>
            </a:r>
            <a:r>
              <a:rPr lang="en-US" altLang="ko-KR" i="1" dirty="0" err="1"/>
              <a:t>d_model</a:t>
            </a:r>
            <a:r>
              <a:rPr lang="en-US" altLang="ko-KR" dirty="0"/>
              <a:t>​, </a:t>
            </a:r>
            <a:r>
              <a:rPr lang="ko-KR" altLang="en-US" dirty="0"/>
              <a:t>어휘 개수가 </a:t>
            </a:r>
            <a:r>
              <a:rPr lang="en-US" altLang="ko-KR" dirty="0"/>
              <a:t>V </a:t>
            </a:r>
            <a:r>
              <a:rPr lang="ko-KR" altLang="en-US" dirty="0"/>
              <a:t>라면</a:t>
            </a:r>
            <a:br>
              <a:rPr lang="en-US" altLang="ko-KR" dirty="0"/>
            </a:br>
            <a:r>
              <a:rPr lang="en-US" altLang="ko-KR" dirty="0"/>
              <a:t>Linear </a:t>
            </a:r>
            <a:r>
              <a:rPr lang="ko-KR" altLang="en-US" dirty="0"/>
              <a:t>층은 </a:t>
            </a:r>
            <a:r>
              <a:rPr lang="en-US" altLang="ko-KR" i="1" dirty="0" err="1"/>
              <a:t>d_model</a:t>
            </a:r>
            <a:r>
              <a:rPr lang="en-US" altLang="ko-KR" dirty="0"/>
              <a:t> × V </a:t>
            </a:r>
            <a:r>
              <a:rPr lang="ko-KR" altLang="en-US" dirty="0"/>
              <a:t>크기의 가중치 행렬 </a:t>
            </a:r>
            <a:r>
              <a:rPr lang="en-US" altLang="ko-KR" dirty="0"/>
              <a:t>W </a:t>
            </a:r>
            <a:r>
              <a:rPr lang="ko-KR" altLang="en-US" dirty="0"/>
              <a:t>를 갖는다</a:t>
            </a:r>
            <a:r>
              <a:rPr lang="en-US" altLang="ko-KR" dirty="0"/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이를 통해 입력 </a:t>
            </a:r>
            <a:r>
              <a:rPr lang="en-US" altLang="ko-KR" dirty="0"/>
              <a:t>x </a:t>
            </a:r>
            <a:r>
              <a:rPr lang="ko-KR" altLang="en-US" dirty="0"/>
              <a:t>가 주어지면</a:t>
            </a:r>
            <a:r>
              <a:rPr lang="en-US" altLang="ko-KR" dirty="0"/>
              <a:t>, </a:t>
            </a:r>
            <a:r>
              <a:rPr lang="en-US" altLang="ko-KR" i="1" dirty="0"/>
              <a:t>y = </a:t>
            </a:r>
            <a:r>
              <a:rPr lang="en-US" altLang="ko-KR" i="1" dirty="0" err="1"/>
              <a:t>x.W</a:t>
            </a:r>
            <a:r>
              <a:rPr lang="en-US" altLang="ko-KR" i="1" dirty="0"/>
              <a:t> + b</a:t>
            </a:r>
            <a:r>
              <a:rPr lang="en-US" altLang="ko-KR" dirty="0"/>
              <a:t> </a:t>
            </a:r>
            <a:r>
              <a:rPr lang="ko-KR" altLang="en-US" dirty="0"/>
              <a:t>형태로 변환이 이루어진다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왜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d_model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×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크기의 가중치 행렬이 필요한가?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34963" lvl="1" indent="0">
              <a:lnSpc>
                <a:spcPct val="150000"/>
              </a:lnSpc>
              <a:buNone/>
            </a:pP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　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디코더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출력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디코더의 출력은 각 시점마다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d_model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차원의 벡터</a:t>
            </a:r>
            <a:r>
              <a:rPr lang="ko-KR" altLang="en-US" sz="1600" dirty="0">
                <a:solidFill>
                  <a:schemeClr val="tx1"/>
                </a:solidFill>
              </a:rPr>
              <a:t>이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다.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이것은</a:t>
            </a:r>
            <a:r>
              <a:rPr lang="en-US" altLang="ko-KR" sz="1600" dirty="0">
                <a:solidFill>
                  <a:schemeClr val="tx1"/>
                </a:solidFill>
              </a:rPr>
              <a:t> 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의미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벡터'로서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아직 어떤 단어를 나타내는지는 정해지지 않았다.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34963" lvl="1" indent="0">
              <a:lnSpc>
                <a:spcPct val="150000"/>
              </a:lnSpc>
              <a:buNone/>
            </a:pP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　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Projection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의미 벡터를 어휘 공간(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V개의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단어)로 사상(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)해야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즉,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d_model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차원으로 선형 변환을 해야 하므로 다음과 같은 행렬 연산이 필요</a:t>
            </a:r>
            <a:r>
              <a:rPr lang="ko-KR" altLang="en-US" sz="1600" dirty="0">
                <a:solidFill>
                  <a:schemeClr val="tx1"/>
                </a:solidFill>
              </a:rPr>
              <a:t>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다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600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B807C0F-8C5B-E122-BA0E-C619D5F560FA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Linear+Softmax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층</a:t>
            </a:r>
            <a:endParaRPr lang="ko-KR" altLang="en-US" sz="2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C3BC44-429B-60C3-AB6D-5E8EC0E61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15" y="6069179"/>
            <a:ext cx="1728210" cy="3677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9C1075B-8B89-781A-A18A-357376CDF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741" y="5756095"/>
            <a:ext cx="5296543" cy="99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450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6560-2F39-F1F1-B284-3A9EF8C7C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5FCE1BE-556A-53BA-9123-96A7286DB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76" y="950664"/>
            <a:ext cx="8295408" cy="57619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/>
              <a:t>트랜스포머</a:t>
            </a:r>
            <a:r>
              <a:rPr lang="en-US" altLang="ko-KR" b="1" dirty="0"/>
              <a:t>(Transformer) </a:t>
            </a:r>
            <a:r>
              <a:rPr lang="ko-KR" altLang="en-US" b="1" dirty="0"/>
              <a:t>디코더의 </a:t>
            </a:r>
            <a:r>
              <a:rPr lang="en-US" altLang="ko-KR" b="1" dirty="0"/>
              <a:t>Linear(</a:t>
            </a:r>
            <a:r>
              <a:rPr lang="ko-KR" altLang="en-US" b="1" dirty="0"/>
              <a:t>선형</a:t>
            </a:r>
            <a:r>
              <a:rPr lang="en-US" altLang="ko-KR" b="1" dirty="0"/>
              <a:t>) </a:t>
            </a:r>
            <a:r>
              <a:rPr lang="ko-KR" altLang="en-US" b="1" dirty="0"/>
              <a:t>층 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kumimoji="0" lang="ko-KR" altLang="ko-KR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왜 </a:t>
            </a:r>
            <a:r>
              <a:rPr kumimoji="0" lang="ko-KR" altLang="ko-K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9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d_model</a:t>
            </a:r>
            <a:r>
              <a:rPr kumimoji="0" lang="ko-KR" altLang="ko-K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× </a:t>
            </a:r>
            <a:r>
              <a:rPr kumimoji="0" lang="ko-KR" altLang="ko-KR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</a:t>
            </a:r>
            <a:r>
              <a:rPr kumimoji="0" lang="ko-KR" altLang="ko-KR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ko-KR" altLang="ko-KR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크기의 가중치 행렬이 필요한가?</a:t>
            </a:r>
            <a:endParaRPr kumimoji="0" lang="en-US" altLang="ko-KR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>
              <a:lnSpc>
                <a:spcPct val="150000"/>
              </a:lnSpc>
            </a:pPr>
            <a:endParaRPr lang="en-US" altLang="ko-KR" sz="19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endParaRPr kumimoji="0" lang="en-US" altLang="ko-KR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>
              <a:lnSpc>
                <a:spcPct val="150000"/>
              </a:lnSpc>
            </a:pPr>
            <a:endParaRPr lang="en-US" altLang="ko-KR" sz="19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ko-KR" sz="19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0" lang="ko-KR" altLang="ko-KR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W의</a:t>
            </a:r>
            <a:r>
              <a:rPr kumimoji="0" lang="ko-KR" altLang="ko-K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역할: 의미 → 단어 확률로 변환</a:t>
            </a:r>
            <a:endParaRPr kumimoji="0" lang="en-US" altLang="ko-K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각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row는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하나의 단어를 나타</a:t>
            </a:r>
            <a:r>
              <a:rPr kumimoji="0" lang="ko-KR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낸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  <a:endParaRPr kumimoji="0" lang="en-US" altLang="ko-K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ko-KR" altLang="ko-K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입력된 </a:t>
            </a:r>
            <a:r>
              <a:rPr kumimoji="0" lang="ko-KR" altLang="ko-KR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d_model</a:t>
            </a:r>
            <a:r>
              <a:rPr kumimoji="0" lang="ko-KR" altLang="ko-K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차원의 벡터가 이 </a:t>
            </a:r>
            <a:r>
              <a:rPr kumimoji="0" lang="ko-KR" altLang="ko-KR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weight</a:t>
            </a:r>
            <a:r>
              <a:rPr kumimoji="0" lang="ko-KR" altLang="ko-K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행렬과 곱해지면, 어휘 사전의 각 단어에 대한 점수 (</a:t>
            </a:r>
            <a:r>
              <a:rPr kumimoji="0" lang="ko-KR" altLang="ko-KR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logit</a:t>
            </a:r>
            <a:r>
              <a:rPr kumimoji="0" lang="ko-KR" altLang="ko-K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)가 나</a:t>
            </a:r>
            <a:r>
              <a:rPr kumimoji="0" lang="ko-KR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온</a:t>
            </a:r>
            <a:r>
              <a:rPr kumimoji="0" lang="ko-KR" altLang="ko-K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다.</a:t>
            </a:r>
            <a:endParaRPr kumimoji="0" lang="en-US" altLang="ko-K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ko-KR" altLang="ko-K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</a:t>
            </a:r>
            <a:r>
              <a:rPr kumimoji="0" lang="ko-KR" altLang="ko-KR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logit</a:t>
            </a:r>
            <a:r>
              <a:rPr kumimoji="0" lang="ko-KR" altLang="ko-K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벡터에 </a:t>
            </a:r>
            <a:r>
              <a:rPr kumimoji="0" lang="ko-KR" altLang="ko-KR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softmax를</a:t>
            </a:r>
            <a:r>
              <a:rPr kumimoji="0" lang="ko-KR" altLang="ko-K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적용하면, </a:t>
            </a:r>
            <a:r>
              <a:rPr kumimoji="0" lang="ko-KR" altLang="ko-K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각 단어에 대한 확률 분포</a:t>
            </a:r>
            <a:r>
              <a:rPr kumimoji="0" lang="ko-KR" altLang="ko-K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생성</a:t>
            </a:r>
            <a:r>
              <a:rPr kumimoji="0" lang="ko-KR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된</a:t>
            </a:r>
            <a:r>
              <a:rPr kumimoji="0" lang="ko-KR" altLang="ko-K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FC393E5-4383-168A-5046-537570FFFFA6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Linear+Softmax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층</a:t>
            </a:r>
            <a:endParaRPr lang="ko-KR" altLang="en-US" sz="2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875F95-8D2D-4FB6-BF4F-BF863F42D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80" y="2219781"/>
            <a:ext cx="1728210" cy="3677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DAE446D-95B3-C529-A0DB-A40C7DA37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89" y="2199511"/>
            <a:ext cx="5296543" cy="9938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B3E921-588E-EABD-A690-200B6CE4B028}"/>
              </a:ext>
            </a:extLst>
          </p:cNvPr>
          <p:cNvSpPr txBox="1"/>
          <p:nvPr/>
        </p:nvSpPr>
        <p:spPr>
          <a:xfrm>
            <a:off x="3592681" y="3294044"/>
            <a:ext cx="5493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이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W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행렬이 바로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</a:rPr>
              <a:t>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</a:rPr>
              <a:t>d_model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</a:rPr>
              <a:t> ×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</a:rPr>
              <a:t>V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</a:rPr>
              <a:t>)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 크기의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가중치 행렬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이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다.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2905D6-51A4-4508-F037-5C9B19C91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9432" y="6193215"/>
            <a:ext cx="1843424" cy="3465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0A64902-AA16-BCD6-5886-5A222482B0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185" y="2967292"/>
            <a:ext cx="2698556" cy="358921"/>
          </a:xfrm>
          <a:prstGeom prst="rect">
            <a:avLst/>
          </a:prstGeom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85AA2CDF-E10F-2507-0BAE-A3DA6C868DDE}"/>
              </a:ext>
            </a:extLst>
          </p:cNvPr>
          <p:cNvSpPr/>
          <p:nvPr/>
        </p:nvSpPr>
        <p:spPr>
          <a:xfrm rot="10800000">
            <a:off x="1864471" y="2680109"/>
            <a:ext cx="230428" cy="212038"/>
          </a:xfrm>
          <a:prstGeom prst="downArrow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641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F711D-78C1-DE5F-DF6E-953F43F3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DD86254-2FC9-B201-871E-72B1FECD30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0876" y="950664"/>
                <a:ext cx="8295408" cy="5761935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ko-KR" altLang="en-US" sz="1700" b="1" dirty="0"/>
                  <a:t>트랜스포머</a:t>
                </a:r>
                <a:r>
                  <a:rPr lang="en-US" altLang="ko-KR" sz="1700" b="1" dirty="0"/>
                  <a:t>(Transformer) </a:t>
                </a:r>
                <a:r>
                  <a:rPr lang="ko-KR" altLang="en-US" sz="1700" b="1" dirty="0"/>
                  <a:t>디코더의 </a:t>
                </a:r>
                <a:r>
                  <a:rPr lang="en-US" altLang="ko-KR" sz="1700" b="1" dirty="0"/>
                  <a:t>Linear(</a:t>
                </a:r>
                <a:r>
                  <a:rPr lang="ko-KR" altLang="en-US" sz="1700" b="1" dirty="0"/>
                  <a:t>선형</a:t>
                </a:r>
                <a:r>
                  <a:rPr lang="en-US" altLang="ko-KR" sz="1700" b="1" dirty="0"/>
                  <a:t>) </a:t>
                </a:r>
                <a:r>
                  <a:rPr lang="ko-KR" altLang="en-US" sz="1700" b="1" dirty="0"/>
                  <a:t>층 </a:t>
                </a:r>
                <a:endParaRPr lang="en-US" altLang="ko-KR" sz="1700" b="1" dirty="0"/>
              </a:p>
              <a:p>
                <a:pPr lvl="1">
                  <a:lnSpc>
                    <a:spcPct val="150000"/>
                  </a:lnSpc>
                </a:pP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선형변환　</a:t>
                </a:r>
                <a:r>
                  <a:rPr lang="ko-KR" altLang="en-US" sz="1800" dirty="0"/>
                  <a:t>설정</a:t>
                </a:r>
                <a:r>
                  <a:rPr lang="en-US" altLang="ko-KR" sz="1800" dirty="0"/>
                  <a:t>(</a:t>
                </a:r>
                <a:r>
                  <a:rPr lang="ko-KR" altLang="en-US" sz="1800" dirty="0"/>
                  <a:t>예시 값</a:t>
                </a:r>
                <a:r>
                  <a:rPr lang="en-US" altLang="ko-KR" sz="1800" dirty="0"/>
                  <a:t>)</a:t>
                </a:r>
              </a:p>
              <a:p>
                <a:pPr lvl="1">
                  <a:lnSpc>
                    <a:spcPct val="150000"/>
                  </a:lnSpc>
                </a:pPr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18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18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18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800" dirty="0" err="1"/>
                  <a:t>디코더</a:t>
                </a:r>
                <a:r>
                  <a:rPr lang="ko-KR" altLang="en-US" sz="1800" dirty="0"/>
                  <a:t> 출력의 형태</a:t>
                </a:r>
                <a:endParaRPr lang="en-US" altLang="ko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b="0"/>
                        <m:t>decoder</m:t>
                      </m:r>
                      <m:r>
                        <m:rPr>
                          <m:lit/>
                          <m:nor/>
                        </m:rPr>
                        <a:rPr lang="en-US" altLang="ko-KR" b="0" i="1"/>
                        <m:t>_</m:t>
                      </m:r>
                      <m:r>
                        <m:rPr>
                          <m:nor/>
                        </m:rPr>
                        <a:rPr lang="en-US" altLang="ko-KR" b="0" i="1"/>
                        <m:t>output</m:t>
                      </m:r>
                      <m:r>
                        <a:rPr lang="ko-KR" altLang="en-US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sepChr m:val=",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ko-KR" i="1"/>
                                <m:t>batch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altLang="ko-KR" i="1"/>
                                <m:t>_</m:t>
                              </m:r>
                              <m:r>
                                <m:rPr>
                                  <m:nor/>
                                </m:rPr>
                                <a:rPr lang="en-US" altLang="ko-KR" i="1"/>
                                <m:t>size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ko-KR" altLang="en-US" i="1"/>
                                <m:t> </m:t>
                              </m:r>
                            </m:e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　</m:t>
                              </m:r>
                              <m:r>
                                <m:rPr>
                                  <m:nor/>
                                </m:rPr>
                                <a:rPr lang="en-US" altLang="ko-KR" i="1"/>
                                <m:t>seq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altLang="ko-KR" i="1"/>
                                <m:t>_</m:t>
                              </m:r>
                              <m:r>
                                <m:rPr>
                                  <m:nor/>
                                </m:rPr>
                                <a:rPr lang="en-US" altLang="ko-KR" i="1"/>
                                <m:t>len</m:t>
                              </m:r>
                              <m:r>
                                <m:rPr>
                                  <m:nor/>
                                </m:rPr>
                                <a:rPr lang="en-US" altLang="ko-KR" i="1"/>
                                <m:t> 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，　</m:t>
                              </m:r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ko-KR" i="1"/>
                                    <m:t>model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altLang="ko-KR" dirty="0"/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ko-KR" altLang="en-US" sz="1800" dirty="0"/>
                  <a:t>예시</a:t>
                </a:r>
                <a:r>
                  <a:rPr lang="en-US" altLang="ko-KR" sz="1800" dirty="0"/>
                  <a:t>:</a:t>
                </a:r>
                <a:endParaRPr lang="en-US" altLang="ko-KR" sz="1800" b="0" dirty="0"/>
              </a:p>
              <a:p>
                <a:pPr lvl="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800" b="0"/>
                      <m:t>decoder</m:t>
                    </m:r>
                    <m:r>
                      <m:rPr>
                        <m:lit/>
                        <m:nor/>
                      </m:rPr>
                      <a:rPr lang="en-US" altLang="ko-KR" sz="1800" b="0" i="1"/>
                      <m:t>_</m:t>
                    </m:r>
                    <m:r>
                      <m:rPr>
                        <m:nor/>
                      </m:rPr>
                      <a:rPr lang="en-US" altLang="ko-KR" sz="1800" b="0" i="1"/>
                      <m:t>output</m:t>
                    </m:r>
                    <m:r>
                      <m:rPr>
                        <m:nor/>
                      </m:rPr>
                      <a:rPr lang="en-US" altLang="ko-KR" sz="1800" b="0" i="1"/>
                      <m:t>.</m:t>
                    </m:r>
                    <m:r>
                      <m:rPr>
                        <m:nor/>
                      </m:rPr>
                      <a:rPr lang="en-US" altLang="ko-KR" sz="1800" b="0" i="1"/>
                      <m:t>shape</m:t>
                    </m:r>
                    <m:r>
                      <a:rPr lang="en-US" altLang="ko-KR" sz="1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ko-KR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en-US" altLang="ko-KR" sz="180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en-US" altLang="ko-KR" sz="1800">
                            <a:latin typeface="Cambria Math" panose="02040503050406030204" pitchFamily="18" charset="0"/>
                          </a:rPr>
                          <m:t>512</m:t>
                        </m:r>
                      </m:e>
                    </m:d>
                  </m:oMath>
                </a14:m>
                <a:endParaRPr lang="en-US" altLang="ko-KR" sz="1800" dirty="0"/>
              </a:p>
              <a:p>
                <a:pPr lvl="3">
                  <a:buFont typeface="Arial" panose="020B0604020202020204" pitchFamily="34" charset="0"/>
                  <a:buChar char="•"/>
                </a:pPr>
                <a:r>
                  <a:rPr lang="en-US" altLang="ko-KR" sz="1800" dirty="0" err="1"/>
                  <a:t>batch_size</a:t>
                </a:r>
                <a:r>
                  <a:rPr lang="en-US" altLang="ko-KR" sz="1800" dirty="0"/>
                  <a:t> = 2</a:t>
                </a:r>
              </a:p>
              <a:p>
                <a:pPr lvl="3">
                  <a:buFont typeface="Arial" panose="020B0604020202020204" pitchFamily="34" charset="0"/>
                  <a:buChar char="•"/>
                </a:pPr>
                <a:r>
                  <a:rPr lang="en-US" altLang="ko-KR" sz="1800" dirty="0" err="1"/>
                  <a:t>seq_len</a:t>
                </a:r>
                <a:r>
                  <a:rPr lang="en-US" altLang="ko-KR" sz="1800" dirty="0"/>
                  <a:t> = 5</a:t>
                </a:r>
              </a:p>
              <a:p>
                <a:pPr lvl="3">
                  <a:buFont typeface="Arial" panose="020B0604020202020204" pitchFamily="34" charset="0"/>
                  <a:buChar char="•"/>
                </a:pPr>
                <a:r>
                  <a:rPr lang="en-US" altLang="ko-KR" sz="1800" dirty="0" err="1"/>
                  <a:t>d_model</a:t>
                </a:r>
                <a:r>
                  <a:rPr lang="en-US" altLang="ko-KR" sz="1800" dirty="0"/>
                  <a:t> = 512</a:t>
                </a:r>
              </a:p>
              <a:p>
                <a:pPr lvl="3">
                  <a:buFont typeface="Arial" panose="020B0604020202020204" pitchFamily="34" charset="0"/>
                  <a:buChar char="•"/>
                </a:pPr>
                <a:endParaRPr lang="en-US" altLang="ko-KR" sz="1800" dirty="0"/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ko-KR" altLang="en-US" sz="1800" dirty="0"/>
                  <a:t>즉</a:t>
                </a:r>
                <a:r>
                  <a:rPr lang="en-US" altLang="ko-KR" sz="1800" dirty="0"/>
                  <a:t>,</a:t>
                </a:r>
                <a:br>
                  <a:rPr lang="en-US" altLang="ko-KR" sz="1800" dirty="0"/>
                </a:br>
                <a:r>
                  <a:rPr lang="en-US" altLang="ko-KR" sz="1800" dirty="0"/>
                  <a:t>2</a:t>
                </a:r>
                <a:r>
                  <a:rPr lang="ko-KR" altLang="en-US" sz="1800" dirty="0"/>
                  <a:t>개의 문장이 있고</a:t>
                </a:r>
                <a:r>
                  <a:rPr lang="en-US" altLang="ko-KR" sz="1800" dirty="0"/>
                  <a:t>,</a:t>
                </a:r>
                <a:r>
                  <a:rPr lang="ko-KR" altLang="en-US" sz="1800" dirty="0"/>
                  <a:t>　각 문장은 </a:t>
                </a:r>
                <a:r>
                  <a:rPr lang="en-US" altLang="ko-KR" sz="1800" dirty="0"/>
                  <a:t>5</a:t>
                </a:r>
                <a:r>
                  <a:rPr lang="ko-KR" altLang="en-US" sz="1800" dirty="0"/>
                  <a:t>개의 단어 위치</a:t>
                </a:r>
                <a:r>
                  <a:rPr lang="en-US" altLang="ko-KR" sz="1800" dirty="0"/>
                  <a:t>,</a:t>
                </a:r>
                <a:r>
                  <a:rPr lang="ko-KR" altLang="en-US" sz="1800" dirty="0"/>
                  <a:t>　각 위치는 </a:t>
                </a:r>
                <a:r>
                  <a:rPr lang="en-US" altLang="ko-KR" sz="1800" dirty="0"/>
                  <a:t>512</a:t>
                </a:r>
                <a:r>
                  <a:rPr lang="ko-KR" altLang="en-US" sz="1800" dirty="0"/>
                  <a:t>차원 </a:t>
                </a:r>
                <a:r>
                  <a:rPr lang="ko-KR" altLang="en-US" sz="1800" dirty="0" err="1"/>
                  <a:t>임베딩</a:t>
                </a:r>
                <a:r>
                  <a:rPr lang="ko-KR" altLang="en-US" sz="1800" dirty="0"/>
                  <a:t> 벡터로 표현된다</a:t>
                </a:r>
                <a:r>
                  <a:rPr lang="en-US" altLang="ko-KR" sz="18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DD86254-2FC9-B201-871E-72B1FECD30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0876" y="950664"/>
                <a:ext cx="8295408" cy="5761935"/>
              </a:xfrm>
              <a:blipFill>
                <a:blip r:embed="rId3"/>
                <a:stretch>
                  <a:fillRect l="-1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1">
            <a:extLst>
              <a:ext uri="{FF2B5EF4-FFF2-40B4-BE49-F238E27FC236}">
                <a16:creationId xmlns:a16="http://schemas.microsoft.com/office/drawing/2014/main" id="{FBF07A4D-A2EF-A5FE-132F-C7466F18E970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Linear+Softmax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층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F06807-7B75-D257-D915-BBD2D10CE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73" y="1700790"/>
            <a:ext cx="6582694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776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33FE4-0525-6839-E61F-6444475EF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F0CAC1F-7D81-C5FF-A5F0-1E3055E73F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0876" y="950664"/>
                <a:ext cx="8295408" cy="576193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ko-KR" altLang="en-US" b="1" dirty="0"/>
                  <a:t>트랜스포머</a:t>
                </a:r>
                <a:r>
                  <a:rPr lang="en-US" altLang="ko-KR" b="1" dirty="0"/>
                  <a:t>(Transformer) </a:t>
                </a:r>
                <a:r>
                  <a:rPr lang="ko-KR" altLang="en-US" b="1" dirty="0"/>
                  <a:t>디코더의 </a:t>
                </a:r>
                <a:r>
                  <a:rPr lang="en-US" altLang="ko-KR" b="1" dirty="0"/>
                  <a:t>Linear(</a:t>
                </a:r>
                <a:r>
                  <a:rPr lang="ko-KR" altLang="en-US" b="1" dirty="0"/>
                  <a:t>선형</a:t>
                </a:r>
                <a:r>
                  <a:rPr lang="en-US" altLang="ko-KR" b="1" dirty="0"/>
                  <a:t>) </a:t>
                </a:r>
                <a:r>
                  <a:rPr lang="ko-KR" altLang="en-US" b="1" dirty="0"/>
                  <a:t>층</a:t>
                </a:r>
                <a:r>
                  <a:rPr lang="ko-KR" altLang="en-US" sz="1700" b="1" dirty="0"/>
                  <a:t> </a:t>
                </a:r>
                <a:endParaRPr lang="en-US" altLang="ko-KR" sz="1700" b="1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/>
                  <a:t>Linear </a:t>
                </a:r>
                <a:r>
                  <a:rPr lang="ko-KR" altLang="en-US" dirty="0"/>
                  <a:t>층의 가중치</a:t>
                </a:r>
                <a:endParaRPr lang="en-US" altLang="ko-KR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Linear </a:t>
                </a:r>
                <a:r>
                  <a:rPr lang="ko-KR" altLang="en-US" sz="1600" dirty="0"/>
                  <a:t>층</a:t>
                </a:r>
                <a:r>
                  <a:rPr lang="en-US" altLang="ko-KR" sz="1600" dirty="0"/>
                  <a:t>(=Dense Layer)</a:t>
                </a:r>
                <a:r>
                  <a:rPr lang="ko-KR" altLang="en-US" sz="1600" dirty="0"/>
                  <a:t>은</a:t>
                </a:r>
                <a:br>
                  <a:rPr lang="ko-KR" altLang="en-US" sz="1600" dirty="0"/>
                </a:br>
                <a:r>
                  <a:rPr lang="ko-KR" altLang="en-US" sz="1600" dirty="0"/>
                  <a:t>입력의 </a:t>
                </a:r>
                <a:r>
                  <a:rPr lang="en-US" altLang="ko-KR" sz="1600" dirty="0"/>
                  <a:t>512</a:t>
                </a:r>
                <a:r>
                  <a:rPr lang="ko-KR" altLang="en-US" sz="1600" dirty="0"/>
                  <a:t>차원을 단어 확률 분포</a:t>
                </a:r>
                <a:r>
                  <a:rPr lang="en-US" altLang="ko-KR" sz="1600" dirty="0"/>
                  <a:t>(10,000</a:t>
                </a:r>
                <a:r>
                  <a:rPr lang="ko-KR" altLang="en-US" sz="1600" dirty="0"/>
                  <a:t>차원</a:t>
                </a:r>
                <a:r>
                  <a:rPr lang="en-US" altLang="ko-KR" sz="1600" dirty="0"/>
                  <a:t>)</a:t>
                </a:r>
                <a:r>
                  <a:rPr lang="ko-KR" altLang="en-US" sz="1600" dirty="0"/>
                  <a:t>로 바꾸는 역할을 한다</a:t>
                </a:r>
                <a:r>
                  <a:rPr lang="en-US" altLang="ko-KR" sz="1600" dirty="0"/>
                  <a:t>.</a:t>
                </a:r>
                <a:endParaRPr lang="en-US" altLang="ko-KR" sz="1600" i="1" dirty="0"/>
              </a:p>
              <a:p>
                <a:pPr marL="677862" lvl="2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𝑋𝑊</m:t>
                      </m:r>
                      <m:r>
                        <a:rPr lang="en-US" altLang="ko-KR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sz="1600" dirty="0"/>
              </a:p>
              <a:p>
                <a:pPr lvl="5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1600" dirty="0"/>
                  <a:t>: (2, 5, 512)</a:t>
                </a:r>
                <a:endParaRPr lang="en-US" altLang="ko-KR" sz="1600" i="1" dirty="0"/>
              </a:p>
              <a:p>
                <a:pPr lvl="5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ko-KR" sz="1600" dirty="0"/>
                  <a:t>: (512, 10,000)</a:t>
                </a:r>
                <a:endParaRPr lang="en-US" altLang="ko-KR" sz="1600" i="1" dirty="0"/>
              </a:p>
              <a:p>
                <a:pPr lvl="5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: (10,000,)</a:t>
                </a:r>
              </a:p>
              <a:p>
                <a:pPr lvl="5">
                  <a:lnSpc>
                    <a:spcPct val="150000"/>
                  </a:lnSpc>
                </a:pPr>
                <a:r>
                  <a:rPr lang="ko-KR" altLang="en-US" sz="1600" dirty="0"/>
                  <a:t>결과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ko-KR" sz="1600" dirty="0"/>
                  <a:t>: (2, 5, 10,000)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,</a:t>
                </a:r>
              </a:p>
              <a:p>
                <a:pPr lvl="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각 시점마다 </a:t>
                </a:r>
                <a:r>
                  <a:rPr lang="en-US" altLang="ko-KR" sz="1600" dirty="0"/>
                  <a:t>512</a:t>
                </a:r>
                <a:r>
                  <a:rPr lang="ko-KR" altLang="en-US" sz="1600" dirty="0"/>
                  <a:t>차원 벡터를 </a:t>
                </a:r>
                <a:r>
                  <a:rPr lang="ko-KR" altLang="en-US" sz="1600" dirty="0" err="1"/>
                  <a:t>입력받아</a:t>
                </a:r>
                <a:br>
                  <a:rPr lang="ko-KR" altLang="en-US" sz="1600" dirty="0"/>
                </a:br>
                <a:r>
                  <a:rPr lang="en-US" altLang="ko-KR" sz="1600" dirty="0"/>
                  <a:t>10,000</a:t>
                </a:r>
                <a:r>
                  <a:rPr lang="ko-KR" altLang="en-US" sz="1600" dirty="0"/>
                  <a:t>개의 단어에 대한 점수</a:t>
                </a:r>
                <a:r>
                  <a:rPr lang="en-US" altLang="ko-KR" sz="1600" dirty="0"/>
                  <a:t>(logit)</a:t>
                </a:r>
                <a:r>
                  <a:rPr lang="ko-KR" altLang="en-US" sz="1600" dirty="0"/>
                  <a:t>를 출력한다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F0CAC1F-7D81-C5FF-A5F0-1E3055E73F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0876" y="950664"/>
                <a:ext cx="8295408" cy="5761935"/>
              </a:xfrm>
              <a:blipFill>
                <a:blip r:embed="rId3"/>
                <a:stretch>
                  <a:fillRect l="-5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1">
            <a:extLst>
              <a:ext uri="{FF2B5EF4-FFF2-40B4-BE49-F238E27FC236}">
                <a16:creationId xmlns:a16="http://schemas.microsoft.com/office/drawing/2014/main" id="{A23BD6D3-69F6-2A8B-2048-E3AD86AA67DD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Linear+Softmax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층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564445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3E07-316B-60BC-279C-4AD0EA21F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B53484C2-5EC7-7399-3AFA-F89B673983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0876" y="951899"/>
                <a:ext cx="8295408" cy="57607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ko-KR" b="1" i="0" dirty="0">
                    <a:solidFill>
                      <a:srgbClr val="222222"/>
                    </a:solidFill>
                    <a:effectLst/>
                    <a:latin typeface="Helvetica Neue"/>
                  </a:rPr>
                  <a:t> </a:t>
                </a:r>
                <a:r>
                  <a:rPr lang="ko-KR" altLang="en-US" b="1" dirty="0"/>
                  <a:t>트랜스포머</a:t>
                </a:r>
                <a:r>
                  <a:rPr lang="en-US" altLang="ko-KR" b="1" dirty="0"/>
                  <a:t>(Transformer) </a:t>
                </a:r>
                <a:r>
                  <a:rPr lang="ko-KR" altLang="en-US" b="1" dirty="0" err="1"/>
                  <a:t>Ｓｏｆｔｍａｘ</a:t>
                </a:r>
                <a:r>
                  <a:rPr lang="en-US" altLang="ko-KR" b="1" dirty="0"/>
                  <a:t> </a:t>
                </a:r>
                <a:r>
                  <a:rPr lang="ko-KR" altLang="en-US" b="1" dirty="0"/>
                  <a:t>층</a:t>
                </a:r>
                <a:endParaRPr lang="en-US" altLang="ko-KR" b="1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/>
                  <a:t>Linear </a:t>
                </a:r>
                <a:r>
                  <a:rPr lang="ko-KR" altLang="en-US" sz="1600" dirty="0"/>
                  <a:t>결과</a:t>
                </a:r>
                <a:r>
                  <a:rPr lang="en-US" altLang="ko-KR" sz="1600" dirty="0"/>
                  <a:t>(logits)</a:t>
                </a:r>
                <a:r>
                  <a:rPr lang="ko-KR" altLang="en-US" sz="1600" dirty="0"/>
                  <a:t>는 아직 “</a:t>
                </a:r>
                <a:r>
                  <a:rPr lang="ko-KR" altLang="en-US" sz="1600" dirty="0" err="1"/>
                  <a:t>확률”이</a:t>
                </a:r>
                <a:r>
                  <a:rPr lang="ko-KR" altLang="en-US" sz="1600" dirty="0"/>
                  <a:t> 아니다</a:t>
                </a:r>
                <a:r>
                  <a:rPr lang="en-US" altLang="ko-KR" sz="1600" dirty="0"/>
                  <a:t>.</a:t>
                </a:r>
                <a:br>
                  <a:rPr lang="en-US" altLang="ko-KR" sz="1600" dirty="0"/>
                </a:br>
                <a:r>
                  <a:rPr lang="ko-KR" altLang="en-US" sz="1600" dirty="0"/>
                  <a:t>이를 확률 분포로 바꾸기 위해 </a:t>
                </a:r>
                <a:r>
                  <a:rPr lang="en-US" altLang="ko-KR" sz="1600" b="1" dirty="0" err="1"/>
                  <a:t>Softmax</a:t>
                </a:r>
                <a:r>
                  <a:rPr lang="ko-KR" altLang="en-US" sz="1600" dirty="0"/>
                  <a:t>를 적용한다</a:t>
                </a:r>
                <a:r>
                  <a:rPr lang="en-US" altLang="ko-KR" sz="16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ko-KR" i="1"/>
                                <m:t>token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n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𝑣𝑜𝑐𝑎𝑏</m:t>
                              </m:r>
                              <m:r>
                                <m:rPr>
                                  <m:lit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𝑠𝑖𝑧𝑒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</a:t>
                </a:r>
                <a:r>
                  <a:rPr lang="ko-KR" altLang="en-US" sz="1600" dirty="0"/>
                  <a:t>→ 각 위치마다 “어떤 단어가 다음에 나올 </a:t>
                </a:r>
                <a:r>
                  <a:rPr lang="ko-KR" altLang="en-US" sz="1600" dirty="0" err="1"/>
                  <a:t>확률”을</a:t>
                </a:r>
                <a:r>
                  <a:rPr lang="ko-KR" altLang="en-US" sz="1600" dirty="0"/>
                  <a:t> 나타내는 분포가 만들어진다</a:t>
                </a:r>
                <a:r>
                  <a:rPr lang="en-US" altLang="ko-KR" sz="16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B53484C2-5EC7-7399-3AFA-F89B673983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0876" y="951899"/>
                <a:ext cx="8295408" cy="5760700"/>
              </a:xfrm>
              <a:blipFill>
                <a:blip r:embed="rId3"/>
                <a:stretch>
                  <a:fillRect l="-5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1">
            <a:extLst>
              <a:ext uri="{FF2B5EF4-FFF2-40B4-BE49-F238E27FC236}">
                <a16:creationId xmlns:a16="http://schemas.microsoft.com/office/drawing/2014/main" id="{79736434-E800-E887-4CB2-92480DD896DE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Linear+Softmax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층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59677C-335C-A0CD-D497-4C935D623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82" y="3947463"/>
            <a:ext cx="8704450" cy="213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852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39C54-1E97-A7C0-FABA-26CF04C81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F2CFFE-A433-5523-1D7E-36F3377B4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76" y="951899"/>
            <a:ext cx="8295408" cy="56454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 “I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go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to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school”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Helvetica Neue"/>
              </a:rPr>
              <a:t>를 </a:t>
            </a:r>
            <a:r>
              <a:rPr lang="ko-KR" altLang="en-US" b="1" i="0" dirty="0" err="1">
                <a:solidFill>
                  <a:srgbClr val="222222"/>
                </a:solidFill>
                <a:effectLst/>
                <a:latin typeface="Helvetica Neue"/>
              </a:rPr>
              <a:t>예측시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Helvetica Neue"/>
              </a:rPr>
              <a:t> 현재 단어가 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“I” 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Helvetica Neue"/>
              </a:rPr>
              <a:t>이고 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“go”</a:t>
            </a:r>
            <a:r>
              <a:rPr lang="ko-KR" altLang="en-US" b="1" dirty="0">
                <a:solidFill>
                  <a:srgbClr val="222222"/>
                </a:solidFill>
                <a:latin typeface="Helvetica Neue"/>
              </a:rPr>
              <a:t>를 예측하는 경우</a:t>
            </a:r>
            <a:endParaRPr lang="en-US" altLang="ko-KR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B4799A1-81A1-2A6A-5692-21582BDEB5B8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Linear+Softmax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층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E3727F-7556-9449-1A3B-35925C83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45" y="1525511"/>
            <a:ext cx="7431303" cy="521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773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B2904-A4D3-B552-5BFC-3A30FF7E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7DB1B46-2C1D-5012-0C17-CE8B62678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76" y="951899"/>
            <a:ext cx="8295408" cy="56454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Helvetica Neue"/>
              </a:rPr>
              <a:t>인코더 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path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E9E7620-5D5C-5D7F-21F9-6C2E90C934E6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Transfomer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데이터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shape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변화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16C0CB-F1C1-F45D-1B27-60B54074E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50" y="1527968"/>
            <a:ext cx="8176624" cy="420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196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1AD5-FE78-6BE5-EDEC-E48F7FE5A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B1C34AB-24EE-7E10-D481-2B6D69044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76" y="951899"/>
            <a:ext cx="8295408" cy="56454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ko-KR" altLang="en-US" b="1" dirty="0" err="1">
                <a:solidFill>
                  <a:srgbClr val="222222"/>
                </a:solidFill>
                <a:latin typeface="Helvetica Neue"/>
              </a:rPr>
              <a:t>디코</a:t>
            </a:r>
            <a:r>
              <a:rPr lang="ko-KR" altLang="en-US" b="1" i="0" dirty="0" err="1">
                <a:solidFill>
                  <a:srgbClr val="222222"/>
                </a:solidFill>
                <a:effectLst/>
                <a:latin typeface="Helvetica Neue"/>
              </a:rPr>
              <a:t>더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path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CC6547D-847A-B980-8BD9-9469B7CBF37A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Transfomer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데이터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shape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변화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1223E5-2880-F657-02EB-9DF2E311B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24" y="1519531"/>
            <a:ext cx="7164315" cy="439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71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A1BD-57BE-E5D9-90E1-0B09A746E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F272F8D-7FC1-82BA-7440-6590FEF1A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76" y="951899"/>
            <a:ext cx="8295408" cy="56454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ko-KR" altLang="en-US" b="1" dirty="0" err="1">
                <a:solidFill>
                  <a:srgbClr val="222222"/>
                </a:solidFill>
                <a:latin typeface="Helvetica Neue"/>
              </a:rPr>
              <a:t>디코</a:t>
            </a:r>
            <a:r>
              <a:rPr lang="ko-KR" altLang="en-US" b="1" i="0" dirty="0" err="1">
                <a:solidFill>
                  <a:srgbClr val="222222"/>
                </a:solidFill>
                <a:effectLst/>
                <a:latin typeface="Helvetica Neue"/>
              </a:rPr>
              <a:t>더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path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ECAD180-C525-2482-79FF-AE60A6499694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Transfomer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데이터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shape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변화</a:t>
            </a:r>
            <a:endParaRPr lang="ko-KR" altLang="en-US" sz="2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AFA03BE-477F-B43C-1243-417CA63F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831" y="1073265"/>
            <a:ext cx="6374322" cy="558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643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1927-0AAB-C36F-391E-48E6958B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926953-5495-F6B5-C545-0DCCFCD29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76" y="951899"/>
            <a:ext cx="8295408" cy="56454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ko-KR" altLang="en-US" b="1" dirty="0" err="1">
                <a:solidFill>
                  <a:srgbClr val="222222"/>
                </a:solidFill>
                <a:latin typeface="Helvetica Neue"/>
              </a:rPr>
              <a:t>디코</a:t>
            </a:r>
            <a:r>
              <a:rPr lang="ko-KR" altLang="en-US" b="1" i="0" dirty="0" err="1">
                <a:solidFill>
                  <a:srgbClr val="222222"/>
                </a:solidFill>
                <a:effectLst/>
                <a:latin typeface="Helvetica Neue"/>
              </a:rPr>
              <a:t>더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Helvetica Neue"/>
              </a:rPr>
              <a:t>path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>
                <a:solidFill>
                  <a:srgbClr val="222222"/>
                </a:solidFill>
                <a:latin typeface="Helvetica Neue"/>
              </a:rPr>
              <a:t>출력단계</a:t>
            </a:r>
            <a:endParaRPr lang="en-US" altLang="ko-KR" b="1" i="0" dirty="0">
              <a:solidFill>
                <a:srgbClr val="222222"/>
              </a:solidFill>
              <a:effectLst/>
              <a:latin typeface="Helvetica Neue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71ED235-2764-0206-3221-CF6BC4AA01B2}"/>
              </a:ext>
            </a:extLst>
          </p:cNvPr>
          <p:cNvSpPr txBox="1">
            <a:spLocks/>
          </p:cNvSpPr>
          <p:nvPr/>
        </p:nvSpPr>
        <p:spPr>
          <a:xfrm>
            <a:off x="496781" y="318222"/>
            <a:ext cx="8107710" cy="57607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solidFill>
                  <a:srgbClr val="24292F"/>
                </a:solidFill>
                <a:latin typeface="Noto Sans KR"/>
              </a:rPr>
              <a:t>Transfomer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데이터 </a:t>
            </a:r>
            <a:r>
              <a:rPr lang="en-US" altLang="ko-KR" sz="2800" b="1" dirty="0">
                <a:solidFill>
                  <a:srgbClr val="24292F"/>
                </a:solidFill>
                <a:latin typeface="Noto Sans KR"/>
              </a:rPr>
              <a:t>shape </a:t>
            </a:r>
            <a:r>
              <a:rPr lang="ko-KR" altLang="en-US" sz="2800" b="1" dirty="0">
                <a:solidFill>
                  <a:srgbClr val="24292F"/>
                </a:solidFill>
                <a:latin typeface="Noto Sans KR"/>
              </a:rPr>
              <a:t>변화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160EAB0-20EA-F5A3-2E3E-5F15C5A18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20" y="1988825"/>
            <a:ext cx="7759256" cy="184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1617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9862</TotalTime>
  <Words>4536</Words>
  <Application>Microsoft Office PowerPoint</Application>
  <PresentationFormat>화면 슬라이드 쇼(4:3)</PresentationFormat>
  <Paragraphs>498</Paragraphs>
  <Slides>52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4" baseType="lpstr">
      <vt:lpstr>Arial Unicode MS</vt:lpstr>
      <vt:lpstr>Helvetica Neue</vt:lpstr>
      <vt:lpstr>KoPub돋움체_Pro Bold</vt:lpstr>
      <vt:lpstr>Noto Sans KR</vt:lpstr>
      <vt:lpstr>SF Mono</vt:lpstr>
      <vt:lpstr>맑은 고딕</vt:lpstr>
      <vt:lpstr>Arial</vt:lpstr>
      <vt:lpstr>Calibri</vt:lpstr>
      <vt:lpstr>Cambria Math</vt:lpstr>
      <vt:lpstr>Verdana</vt:lpstr>
      <vt:lpstr>Wingdings</vt:lpstr>
      <vt:lpstr>2_Office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주흠 권</cp:lastModifiedBy>
  <cp:revision>1251</cp:revision>
  <cp:lastPrinted>2016-08-10T06:58:55Z</cp:lastPrinted>
  <dcterms:created xsi:type="dcterms:W3CDTF">2013-04-05T19:58:06Z</dcterms:created>
  <dcterms:modified xsi:type="dcterms:W3CDTF">2025-11-23T10:31:10Z</dcterms:modified>
</cp:coreProperties>
</file>