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333" r:id="rId3"/>
    <p:sldId id="430" r:id="rId4"/>
    <p:sldId id="334" r:id="rId5"/>
    <p:sldId id="523" r:id="rId6"/>
    <p:sldId id="531" r:id="rId7"/>
    <p:sldId id="524" r:id="rId8"/>
    <p:sldId id="525" r:id="rId9"/>
    <p:sldId id="339" r:id="rId10"/>
    <p:sldId id="527" r:id="rId11"/>
    <p:sldId id="341" r:id="rId12"/>
    <p:sldId id="557" r:id="rId13"/>
    <p:sldId id="556" r:id="rId14"/>
    <p:sldId id="589" r:id="rId15"/>
    <p:sldId id="585" r:id="rId16"/>
    <p:sldId id="586" r:id="rId17"/>
    <p:sldId id="588" r:id="rId18"/>
    <p:sldId id="561" r:id="rId19"/>
    <p:sldId id="571" r:id="rId20"/>
    <p:sldId id="572" r:id="rId21"/>
    <p:sldId id="573" r:id="rId22"/>
    <p:sldId id="574" r:id="rId23"/>
    <p:sldId id="575" r:id="rId24"/>
    <p:sldId id="576" r:id="rId25"/>
    <p:sldId id="578" r:id="rId26"/>
    <p:sldId id="579" r:id="rId27"/>
    <p:sldId id="580" r:id="rId28"/>
    <p:sldId id="581" r:id="rId29"/>
    <p:sldId id="582" r:id="rId30"/>
    <p:sldId id="583" r:id="rId31"/>
    <p:sldId id="584" r:id="rId32"/>
    <p:sldId id="591" r:id="rId33"/>
    <p:sldId id="592" r:id="rId34"/>
    <p:sldId id="436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CC36B-BFF5-4091-9002-F3CFFFCF7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93D8A3-E9E9-446A-B3CB-50EFEF6F7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E6B73B-2F5A-4F61-8BF7-6B7EFA30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0B458-632B-43FC-BF56-2E17C4A1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C4B4B6-F801-4245-8345-AA92FFE4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38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04DFD-CCB4-434A-84E5-215BA5CC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550B8-4731-4DA8-84A4-30AA87FB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F547A-830E-48D1-A7E5-7ED35F8A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803AD-778D-4613-B247-9895BCD4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4C31-AE44-4DDC-9C0B-17689E81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50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0422F-5656-4677-8102-5B6A56AE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22BCF-B3C7-4FFC-AAA7-0545A339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5903D-5DBB-42B1-9435-3E5144A7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57891-A7DE-4A62-A5B9-E15194E5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C7F43-FA81-4194-BDB7-DB978469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64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7F122-166B-4188-81A5-A6953916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D1F132-CF83-4347-8609-9A13905FF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1EFCB4-B108-4325-BAAB-9C0B9814A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CE132-F085-4374-B1C0-07118E73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C944CB-637E-4F88-ADA9-01AF37E4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EF2E74-1538-4A81-B563-EB34E0CD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83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81921-46AE-4533-91F6-C923E675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10645C-43B6-49CF-9029-5F622AFD1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B7148-6857-41F2-B6E2-66FAABCD6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B12896-34B1-4EF1-8BEE-745CA5230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3BCEB4-1EE0-4C01-83C4-1DB21BE43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B28900-BF29-40DA-8294-22AFF6B8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43F255-DED0-43D8-A08A-50D0363E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44455C-0B99-4795-9CD0-63DC4CED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371B6-5E84-4A26-B6B7-5A6B3466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8E9192-A3EB-453C-BBC5-4AE50632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D630D4-9132-4958-BCB8-18ABC324A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F91301-555C-491C-89A7-DB1A219C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0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7A2ED3-3CD6-418B-9D3A-1AE2640B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04D5C9-9C91-4C84-9B81-3C52C955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771E7-27B0-4110-B821-D436CBB1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22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86196-9638-48E2-8F2F-6F5CA531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7D44EC-259A-4555-9185-AF6FDCF54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EB896-1483-479C-88C8-7F58C1863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EEE8CC-68A4-4A3C-BCA5-75557832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38C8FA-9274-43A5-BE08-E9A909AE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22FF0E-D118-48B2-A493-045BA771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657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31204-50A7-4F95-9C43-B3E670FE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555506-6C1D-4D67-B2F1-8829D5A40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899D9D-6DB7-4B0A-AAB3-7FA9B089C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0ED95D-6CB4-4072-B9BE-697970A7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C57A7-6A33-47EE-BEB3-04D01B3A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D8F6D-E802-4FCE-95CB-0D173526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48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A92C8-C609-4A77-96C0-0EC21D0B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ED39E3-0F7E-44A6-A6AB-8DFAEDC66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1B5C5F-947A-4FEE-A23C-D798A474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565C61-8C74-46E5-9B94-0F4AC20B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5F7C7-CBDF-4290-B513-624FF4D9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33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221F4-F13C-4B08-951A-2FD30006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FFB63A-A910-4CC8-9D9E-5920B1A9A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F4910E-6C17-49EB-AAD8-EC35BC83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39B4DB-1A51-4F94-B147-A2B30769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C650D-A55B-4217-84BD-D6136E24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59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09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495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3B057B-BDF9-4EF2-8695-127D0223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3500F2-449D-41E9-BC01-46C83F5D1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6E3AA1-FD77-49BD-9BF7-3BA390765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5B3E8-2A99-4155-B134-787C7923A2DA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11EBF5-7640-49FC-B770-8DAF58617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C336E-ECC8-4C8A-A66D-8973E0A54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E2DD9-7198-46C7-8C2C-AB11F186A7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67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948297" y="1507948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algn="ctr" defTabSz="457200">
              <a:spcBef>
                <a:spcPct val="0"/>
              </a:spcBef>
            </a:pP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생성 모델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(2)</a:t>
            </a: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985222" y="2313232"/>
            <a:ext cx="6221556" cy="12954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3683893" y="2775303"/>
            <a:ext cx="4824214" cy="609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적대적 생성 신경망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(GAN)</a:t>
            </a: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055275" y="2564895"/>
            <a:ext cx="8081453" cy="800724"/>
          </a:xfrm>
        </p:spPr>
        <p:txBody>
          <a:bodyPr/>
          <a:lstStyle/>
          <a:p>
            <a:pPr algn="ctr"/>
            <a:r>
              <a:rPr lang="ko-KR" altLang="en-US" sz="2600" dirty="0"/>
              <a:t>적대적 생성 신경망</a:t>
            </a:r>
            <a:r>
              <a:rPr lang="en-US" altLang="ko-KR" sz="2600" dirty="0"/>
              <a:t>(GAN)</a:t>
            </a:r>
            <a:r>
              <a:rPr lang="ko-KR" altLang="en-US" sz="2600" dirty="0"/>
              <a:t>이란</a:t>
            </a:r>
            <a:r>
              <a:rPr lang="en-US" altLang="ko-KR" sz="2600" dirty="0"/>
              <a:t>?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3223773" y="3399300"/>
            <a:ext cx="5779950" cy="11130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8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08F98-4324-7B9C-0982-2463F2CC16E1}"/>
              </a:ext>
            </a:extLst>
          </p:cNvPr>
          <p:cNvSpPr txBox="1"/>
          <p:nvPr/>
        </p:nvSpPr>
        <p:spPr>
          <a:xfrm>
            <a:off x="1605627" y="1576308"/>
            <a:ext cx="6096000" cy="377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GAN</a:t>
            </a:r>
            <a:r>
              <a:rPr lang="en-US" altLang="ko-KR" dirty="0"/>
              <a:t>(</a:t>
            </a:r>
            <a:r>
              <a:rPr lang="en-US" altLang="ko-KR" sz="1800" b="1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Generative Adversarial Network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/>
              <a:t>은 2014년 </a:t>
            </a:r>
            <a:r>
              <a:rPr lang="ko-KR" altLang="en-US" dirty="0" err="1"/>
              <a:t>Ian</a:t>
            </a:r>
            <a:r>
              <a:rPr lang="ko-KR" altLang="en-US" dirty="0"/>
              <a:t> </a:t>
            </a:r>
            <a:r>
              <a:rPr lang="ko-KR" altLang="en-US" dirty="0" err="1"/>
              <a:t>Goodfellow가</a:t>
            </a:r>
            <a:r>
              <a:rPr lang="ko-KR" altLang="en-US" dirty="0"/>
              <a:t> 제안한 이후 AI 산업에 큰 영향을 미쳤다. </a:t>
            </a:r>
            <a:r>
              <a:rPr lang="ko-KR" altLang="en-US" dirty="0" err="1"/>
              <a:t>Yann</a:t>
            </a:r>
            <a:r>
              <a:rPr lang="ko-KR" altLang="en-US" dirty="0"/>
              <a:t> </a:t>
            </a:r>
            <a:r>
              <a:rPr lang="ko-KR" altLang="en-US" dirty="0" err="1"/>
              <a:t>LeCun은</a:t>
            </a:r>
            <a:r>
              <a:rPr lang="ko-KR" altLang="en-US" dirty="0"/>
              <a:t> </a:t>
            </a:r>
            <a:r>
              <a:rPr lang="ko-KR" altLang="en-US" dirty="0" err="1"/>
              <a:t>GAN을</a:t>
            </a:r>
            <a:r>
              <a:rPr lang="ko-KR" altLang="en-US" dirty="0"/>
              <a:t> "지난 10년 동안 기계 학습 분야에서 가장 흥미로운 </a:t>
            </a:r>
            <a:r>
              <a:rPr lang="ko-KR" altLang="en-US" dirty="0" err="1"/>
              <a:t>아이디어"라고</a:t>
            </a:r>
            <a:r>
              <a:rPr lang="ko-KR" altLang="en-US" dirty="0"/>
              <a:t> 평가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/>
              <a:t>GAN은</a:t>
            </a:r>
            <a:r>
              <a:rPr lang="ko-KR" altLang="en-US" dirty="0"/>
              <a:t> 지도 학습에 중점을 두었던 딥 러닝 패러다임을 비지도 학습으로 바꾸었다.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/>
              <a:t>GAN은</a:t>
            </a:r>
            <a:r>
              <a:rPr lang="ko-KR" altLang="en-US" dirty="0"/>
              <a:t> 실제 데이터와 구분하기 어려운 가짜 데이터를 생성할 수 있기 때문에 생성 모델로서 다양한 후속 연구와 응용 분야가 널리 확산되고 있다.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99CC70-F270-B747-C386-8DC0D0468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840" y="1480459"/>
            <a:ext cx="3156494" cy="52097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54AB7046-CD58-5E36-4A80-AFCD9286C822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2511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2020781" y="281950"/>
            <a:ext cx="8107710" cy="800724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520759" y="1459937"/>
            <a:ext cx="6222941" cy="4723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 적대적 생성 신경망</a:t>
            </a: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en-US" altLang="ko-KR" sz="1800" b="1" dirty="0">
              <a:latin typeface="KoPub돋움체_Pro Bold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적대적 생성 신경망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(Generative Adversarial Network, GAN)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을 제안한 이안 </a:t>
            </a:r>
            <a:r>
              <a:rPr lang="ko-KR" altLang="en-US" sz="1600" dirty="0" err="1">
                <a:latin typeface="KoPub돋움체_Pro Light" pitchFamily="18" charset="-127"/>
                <a:ea typeface="KoPub돋움체_Pro Light" pitchFamily="18" charset="-127"/>
              </a:rPr>
              <a:t>굿펠로우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(Ian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Goodfellow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GAN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을 경찰과 위조지폐범 사이의 게임에 비유했음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위조지폐범은 진짜와 같은 화폐를 만들어 경찰을 속이고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경찰은 진짜 화폐와 가짜 화폐를 판별하여 위조지폐범을 검거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위조지폐범과 경찰의 경쟁적인 학습이 지속되면 어느 순간 위조지폐범은 진짜와 같은 위조 지폐를 만들 수 있게 됨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결국 경찰은 위조지폐와 실제 화폐를 구분할 수 없는 상태에 이르게 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44412-1218-BFC2-05BF-040371F0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7871" y="2007959"/>
            <a:ext cx="5104147" cy="36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6D80579-2A4A-4B74-ABD3-245627C73ACD}"/>
              </a:ext>
            </a:extLst>
          </p:cNvPr>
          <p:cNvSpPr/>
          <p:nvPr/>
        </p:nvSpPr>
        <p:spPr>
          <a:xfrm>
            <a:off x="2100492" y="1601875"/>
            <a:ext cx="8594721" cy="4021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solidFill>
                  <a:srgbClr val="002060"/>
                </a:solidFill>
              </a:rPr>
              <a:t>Generative model(</a:t>
            </a:r>
            <a:r>
              <a:rPr lang="ko-KR" altLang="en-US" sz="2000" dirty="0">
                <a:solidFill>
                  <a:srgbClr val="002060"/>
                </a:solidFill>
              </a:rPr>
              <a:t>생성모델</a:t>
            </a:r>
            <a:r>
              <a:rPr lang="en-US" altLang="ko-KR" sz="2000" dirty="0">
                <a:solidFill>
                  <a:srgbClr val="002060"/>
                </a:solidFill>
              </a:rPr>
              <a:t>)</a:t>
            </a:r>
            <a:r>
              <a:rPr lang="ko-KR" altLang="en-US" sz="2000" dirty="0">
                <a:solidFill>
                  <a:srgbClr val="002060"/>
                </a:solidFill>
              </a:rPr>
              <a:t> </a:t>
            </a:r>
            <a:r>
              <a:rPr lang="en-US" altLang="ko-KR" sz="2000" dirty="0">
                <a:solidFill>
                  <a:srgbClr val="002060"/>
                </a:solidFill>
              </a:rPr>
              <a:t>: </a:t>
            </a:r>
            <a:r>
              <a:rPr lang="ko-KR" altLang="en-US" sz="2000" dirty="0">
                <a:solidFill>
                  <a:srgbClr val="002060"/>
                </a:solidFill>
              </a:rPr>
              <a:t>그럴듯한 가짜를 만들어 내는 모델</a:t>
            </a:r>
            <a:endParaRPr lang="en-US" altLang="ko-KR" sz="2000" dirty="0">
              <a:solidFill>
                <a:srgbClr val="00206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C641617-4A48-4E0B-BED5-770A29E46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739" y="2385714"/>
            <a:ext cx="5723671" cy="34256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CE7AB3-413A-C0F6-A3DA-4C4DF8B59F23}"/>
              </a:ext>
            </a:extLst>
          </p:cNvPr>
          <p:cNvSpPr txBox="1">
            <a:spLocks/>
          </p:cNvSpPr>
          <p:nvPr/>
        </p:nvSpPr>
        <p:spPr>
          <a:xfrm>
            <a:off x="2020781" y="385367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1924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CB9D377-FCF0-4C02-B4B0-76E886CE035A}"/>
              </a:ext>
            </a:extLst>
          </p:cNvPr>
          <p:cNvSpPr/>
          <p:nvPr/>
        </p:nvSpPr>
        <p:spPr>
          <a:xfrm>
            <a:off x="2298660" y="1134559"/>
            <a:ext cx="9425253" cy="5347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Generator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얼굴의 의미적인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속성을 학습했으므로</a:t>
            </a:r>
            <a:r>
              <a:rPr lang="en-US" altLang="ko-KR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………</a:t>
            </a: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002060"/>
                </a:solidFill>
              </a:rPr>
              <a:t>이미지</a:t>
            </a:r>
            <a:r>
              <a:rPr lang="en-US" altLang="ko-KR" sz="1800" dirty="0">
                <a:solidFill>
                  <a:srgbClr val="002060"/>
                </a:solidFill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</a:rPr>
              <a:t>음악</a:t>
            </a:r>
            <a:r>
              <a:rPr lang="en-US" altLang="ko-KR" sz="1800" dirty="0">
                <a:solidFill>
                  <a:srgbClr val="002060"/>
                </a:solidFill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</a:rPr>
              <a:t>연설</a:t>
            </a:r>
            <a:r>
              <a:rPr lang="en-US" altLang="ko-KR" sz="1800" dirty="0">
                <a:solidFill>
                  <a:srgbClr val="002060"/>
                </a:solidFill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</a:rPr>
              <a:t>산문 등의 모든 분야에서 새로운 콘텐츠 창조 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dirty="0">
                <a:solidFill>
                  <a:srgbClr val="002060"/>
                </a:solidFill>
              </a:rPr>
              <a:t>    </a:t>
            </a:r>
            <a:r>
              <a:rPr lang="en-US" altLang="ko-KR" sz="1800" dirty="0">
                <a:solidFill>
                  <a:srgbClr val="002060"/>
                </a:solidFill>
              </a:rPr>
              <a:t>* </a:t>
            </a:r>
            <a:r>
              <a:rPr lang="ko-KR" altLang="en-US" sz="1800" dirty="0">
                <a:solidFill>
                  <a:srgbClr val="002060"/>
                </a:solidFill>
              </a:rPr>
              <a:t>지난 </a:t>
            </a:r>
            <a:r>
              <a:rPr lang="en-US" altLang="ko-KR" sz="1800" dirty="0">
                <a:solidFill>
                  <a:srgbClr val="002060"/>
                </a:solidFill>
              </a:rPr>
              <a:t>10</a:t>
            </a:r>
            <a:r>
              <a:rPr lang="ko-KR" altLang="en-US" sz="1800" dirty="0">
                <a:solidFill>
                  <a:srgbClr val="002060"/>
                </a:solidFill>
              </a:rPr>
              <a:t>년간 가장 흥미로운 아이디어 </a:t>
            </a:r>
            <a:r>
              <a:rPr lang="en-US" altLang="ko-KR" sz="1800" dirty="0">
                <a:solidFill>
                  <a:srgbClr val="002060"/>
                </a:solidFill>
              </a:rPr>
              <a:t>– Yann</a:t>
            </a:r>
            <a:r>
              <a:rPr lang="ko-KR" altLang="en-US" sz="1800" dirty="0">
                <a:solidFill>
                  <a:srgbClr val="002060"/>
                </a:solidFill>
              </a:rPr>
              <a:t> </a:t>
            </a:r>
            <a:r>
              <a:rPr lang="en-US" altLang="ko-KR" sz="1800" dirty="0">
                <a:solidFill>
                  <a:srgbClr val="002060"/>
                </a:solidFill>
              </a:rPr>
              <a:t>LeCun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CA6478-8EA9-470F-9C46-6A0E6824A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198" y="1583890"/>
            <a:ext cx="7290859" cy="383810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8AC2B92-960D-A676-DC2F-769DA1755B08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0379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506243-FC4A-460F-A4CA-B56F40333A20}"/>
              </a:ext>
            </a:extLst>
          </p:cNvPr>
          <p:cNvSpPr/>
          <p:nvPr/>
        </p:nvSpPr>
        <p:spPr>
          <a:xfrm>
            <a:off x="948423" y="1297685"/>
            <a:ext cx="10185244" cy="3587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solidFill>
                  <a:srgbClr val="002060"/>
                </a:solidFill>
              </a:rPr>
              <a:t>그럴듯한 가짜 </a:t>
            </a:r>
            <a:r>
              <a:rPr lang="en-US" altLang="ko-KR" dirty="0">
                <a:solidFill>
                  <a:srgbClr val="002060"/>
                </a:solidFill>
              </a:rPr>
              <a:t>: </a:t>
            </a:r>
            <a:r>
              <a:rPr lang="ko-KR" altLang="en-US" dirty="0">
                <a:solidFill>
                  <a:srgbClr val="002060"/>
                </a:solidFill>
              </a:rPr>
              <a:t>실제 데이터의 분포와 유사한 데이터 분포</a:t>
            </a:r>
            <a:endParaRPr lang="en-US" altLang="ko-KR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</a:rPr>
              <a:t>    ex) </a:t>
            </a:r>
            <a:r>
              <a:rPr lang="ko-KR" altLang="en-US" sz="2000" dirty="0">
                <a:solidFill>
                  <a:srgbClr val="002060"/>
                </a:solidFill>
              </a:rPr>
              <a:t>키와</a:t>
            </a:r>
            <a:r>
              <a:rPr lang="en-US" altLang="ko-KR" sz="2000" dirty="0">
                <a:solidFill>
                  <a:srgbClr val="002060"/>
                </a:solidFill>
              </a:rPr>
              <a:t> </a:t>
            </a:r>
            <a:r>
              <a:rPr lang="ko-KR" altLang="en-US" sz="2000" dirty="0">
                <a:solidFill>
                  <a:srgbClr val="002060"/>
                </a:solidFill>
              </a:rPr>
              <a:t>몸무게 조합 </a:t>
            </a:r>
            <a:r>
              <a:rPr lang="en-US" altLang="ko-KR" sz="2000" dirty="0">
                <a:solidFill>
                  <a:srgbClr val="002060"/>
                </a:solidFill>
              </a:rPr>
              <a:t>: 172cm-68kg</a:t>
            </a:r>
            <a:r>
              <a:rPr lang="ko-KR" altLang="en-US" sz="2000" dirty="0">
                <a:solidFill>
                  <a:srgbClr val="002060"/>
                </a:solidFill>
              </a:rPr>
              <a:t> </a:t>
            </a:r>
            <a:r>
              <a:rPr lang="ko-KR" altLang="en-US" sz="20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↔ </a:t>
            </a:r>
            <a:r>
              <a:rPr lang="en-US" altLang="ko-KR" sz="2000" dirty="0">
                <a:solidFill>
                  <a:srgbClr val="002060"/>
                </a:solidFill>
              </a:rPr>
              <a:t>190cm-42kg</a:t>
            </a:r>
          </a:p>
          <a:p>
            <a:pPr algn="just" fontAlgn="base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</a:rPr>
              <a:t>    - </a:t>
            </a:r>
            <a:r>
              <a:rPr lang="ko-KR" altLang="en-US" sz="2000" dirty="0">
                <a:solidFill>
                  <a:srgbClr val="002060"/>
                </a:solidFill>
              </a:rPr>
              <a:t>실제 사람들의 키와 몸무게 조합을 최대한 비슷하게</a:t>
            </a:r>
            <a:endParaRPr lang="en-US" altLang="ko-KR" sz="20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2000" dirty="0">
              <a:solidFill>
                <a:srgbClr val="002060"/>
              </a:solidFill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solidFill>
                  <a:srgbClr val="002060"/>
                </a:solidFill>
              </a:rPr>
              <a:t>256X256 </a:t>
            </a:r>
            <a:r>
              <a:rPr lang="ko-KR" altLang="en-US" sz="2000" dirty="0">
                <a:solidFill>
                  <a:srgbClr val="002060"/>
                </a:solidFill>
              </a:rPr>
              <a:t>컬러</a:t>
            </a:r>
            <a:r>
              <a:rPr lang="en-US" altLang="ko-KR" sz="2000" dirty="0">
                <a:solidFill>
                  <a:srgbClr val="002060"/>
                </a:solidFill>
              </a:rPr>
              <a:t> </a:t>
            </a:r>
            <a:r>
              <a:rPr lang="ko-KR" altLang="en-US" sz="2000" dirty="0">
                <a:solidFill>
                  <a:srgbClr val="002060"/>
                </a:solidFill>
              </a:rPr>
              <a:t>얼굴 이미지 </a:t>
            </a:r>
            <a:r>
              <a:rPr lang="en-US" altLang="ko-KR" sz="2000" dirty="0">
                <a:solidFill>
                  <a:srgbClr val="002060"/>
                </a:solidFill>
              </a:rPr>
              <a:t>: 256X256X3 </a:t>
            </a:r>
            <a:r>
              <a:rPr lang="ko-KR" altLang="en-US" sz="2000" dirty="0">
                <a:solidFill>
                  <a:srgbClr val="002060"/>
                </a:solidFill>
              </a:rPr>
              <a:t>변수의 조합이 실제 사람 얼굴 이미지들의 </a:t>
            </a:r>
            <a:endParaRPr lang="en-US" altLang="ko-KR" sz="20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</a:rPr>
              <a:t>   </a:t>
            </a:r>
            <a:r>
              <a:rPr lang="ko-KR" altLang="en-US" sz="2000" dirty="0">
                <a:solidFill>
                  <a:srgbClr val="002060"/>
                </a:solidFill>
              </a:rPr>
              <a:t>픽셀 조합과 유사해야</a:t>
            </a:r>
            <a:endParaRPr lang="en-US" altLang="ko-KR" sz="20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</a:rPr>
              <a:t>   - </a:t>
            </a:r>
            <a:r>
              <a:rPr lang="ko-KR" altLang="en-US" sz="2000" dirty="0">
                <a:solidFill>
                  <a:srgbClr val="002060"/>
                </a:solidFill>
              </a:rPr>
              <a:t>얼굴 이미지의 생성 모델을 만드는 것은 </a:t>
            </a:r>
            <a:r>
              <a:rPr lang="ko-KR" altLang="en-US" sz="2000" b="1" dirty="0">
                <a:solidFill>
                  <a:schemeClr val="accent1"/>
                </a:solidFill>
              </a:rPr>
              <a:t>사람 얼굴처럼 보이는 </a:t>
            </a:r>
            <a:r>
              <a:rPr lang="ko-KR" altLang="en-US" sz="2000" b="1" dirty="0" err="1">
                <a:solidFill>
                  <a:schemeClr val="accent1"/>
                </a:solidFill>
              </a:rPr>
              <a:t>픽셀값</a:t>
            </a:r>
            <a:r>
              <a:rPr lang="ko-KR" altLang="en-US" sz="2000" b="1" dirty="0">
                <a:solidFill>
                  <a:schemeClr val="accent1"/>
                </a:solidFill>
              </a:rPr>
              <a:t> 조합의 분포를 </a:t>
            </a:r>
            <a:br>
              <a:rPr lang="en-US" altLang="ko-KR" sz="2000" b="1" dirty="0">
                <a:solidFill>
                  <a:schemeClr val="accent1"/>
                </a:solidFill>
              </a:rPr>
            </a:br>
            <a:r>
              <a:rPr lang="en-US" altLang="ko-KR" sz="2000" b="1" dirty="0">
                <a:solidFill>
                  <a:schemeClr val="accent1"/>
                </a:solidFill>
              </a:rPr>
              <a:t>     </a:t>
            </a:r>
            <a:r>
              <a:rPr lang="ko-KR" altLang="en-US" sz="2000" b="1" dirty="0">
                <a:solidFill>
                  <a:schemeClr val="accent1"/>
                </a:solidFill>
              </a:rPr>
              <a:t>찾겠다는 의미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9D18504-25B0-6513-3F9A-B0C514A924ED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9605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A35931D-9BD9-4343-9350-AFC8BE7B3F1F}"/>
              </a:ext>
            </a:extLst>
          </p:cNvPr>
          <p:cNvSpPr/>
          <p:nvPr/>
        </p:nvSpPr>
        <p:spPr>
          <a:xfrm>
            <a:off x="948423" y="1096296"/>
            <a:ext cx="10625510" cy="526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solidFill>
                  <a:srgbClr val="002060"/>
                </a:solidFill>
              </a:rPr>
              <a:t>Adversarial : </a:t>
            </a:r>
            <a:r>
              <a:rPr lang="ko-KR" altLang="en-US" dirty="0">
                <a:solidFill>
                  <a:srgbClr val="002060"/>
                </a:solidFill>
              </a:rPr>
              <a:t>두개의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모델을 적대적</a:t>
            </a:r>
            <a:r>
              <a:rPr lang="en-US" altLang="ko-KR" dirty="0">
                <a:solidFill>
                  <a:srgbClr val="002060"/>
                </a:solidFill>
              </a:rPr>
              <a:t>(Adversarial) </a:t>
            </a:r>
            <a:r>
              <a:rPr lang="ko-KR" altLang="en-US" dirty="0">
                <a:solidFill>
                  <a:srgbClr val="002060"/>
                </a:solidFill>
              </a:rPr>
              <a:t>으로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경쟁시키며 발전시킨다는 의미</a:t>
            </a:r>
            <a:endParaRPr lang="en-US" altLang="ko-KR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</a:rPr>
              <a:t>    </a:t>
            </a:r>
            <a:r>
              <a:rPr lang="en-US" altLang="ko-KR" sz="1600" dirty="0">
                <a:solidFill>
                  <a:srgbClr val="002060"/>
                </a:solidFill>
              </a:rPr>
              <a:t>ex) </a:t>
            </a:r>
            <a:r>
              <a:rPr lang="ko-KR" altLang="en-US" sz="1600" dirty="0">
                <a:solidFill>
                  <a:srgbClr val="002060"/>
                </a:solidFill>
              </a:rPr>
              <a:t>위조지폐범과 경찰</a:t>
            </a: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dirty="0">
                <a:solidFill>
                  <a:srgbClr val="002060"/>
                </a:solidFill>
              </a:rPr>
              <a:t>        - </a:t>
            </a:r>
            <a:r>
              <a:rPr lang="ko-KR" altLang="en-US" sz="1600" dirty="0">
                <a:solidFill>
                  <a:srgbClr val="002060"/>
                </a:solidFill>
              </a:rPr>
              <a:t>위조지폐범 </a:t>
            </a:r>
            <a:r>
              <a:rPr lang="en-US" altLang="ko-KR" sz="1600" dirty="0">
                <a:solidFill>
                  <a:srgbClr val="002060"/>
                </a:solidFill>
              </a:rPr>
              <a:t>: </a:t>
            </a:r>
            <a:r>
              <a:rPr lang="ko-KR" altLang="en-US" sz="1600" dirty="0">
                <a:solidFill>
                  <a:srgbClr val="002060"/>
                </a:solidFill>
              </a:rPr>
              <a:t>경찰을 속이기 위해 점점 지폐 위조 기술을 발전 </a:t>
            </a:r>
            <a:r>
              <a:rPr lang="en-US" altLang="ko-KR" sz="1600" dirty="0">
                <a:solidFill>
                  <a:srgbClr val="002060"/>
                </a:solidFill>
              </a:rPr>
              <a:t>: Generator(</a:t>
            </a:r>
            <a:r>
              <a:rPr lang="ko-KR" altLang="en-US" sz="1600" dirty="0">
                <a:solidFill>
                  <a:srgbClr val="002060"/>
                </a:solidFill>
              </a:rPr>
              <a:t>생성자</a:t>
            </a:r>
            <a:r>
              <a:rPr lang="en-US" altLang="ko-KR" sz="1600" dirty="0">
                <a:solidFill>
                  <a:srgbClr val="002060"/>
                </a:solidFill>
              </a:rPr>
              <a:t>)</a:t>
            </a:r>
          </a:p>
          <a:p>
            <a:pPr algn="just" fontAlgn="base">
              <a:lnSpc>
                <a:spcPct val="150000"/>
              </a:lnSpc>
            </a:pPr>
            <a:r>
              <a:rPr lang="en-US" altLang="ko-KR" sz="1600" dirty="0">
                <a:solidFill>
                  <a:srgbClr val="002060"/>
                </a:solidFill>
              </a:rPr>
              <a:t>        - </a:t>
            </a:r>
            <a:r>
              <a:rPr lang="ko-KR" altLang="en-US" sz="1600" dirty="0">
                <a:solidFill>
                  <a:srgbClr val="002060"/>
                </a:solidFill>
              </a:rPr>
              <a:t>경찰 </a:t>
            </a:r>
            <a:r>
              <a:rPr lang="en-US" altLang="ko-KR" sz="1600" dirty="0">
                <a:solidFill>
                  <a:srgbClr val="002060"/>
                </a:solidFill>
              </a:rPr>
              <a:t>: </a:t>
            </a:r>
            <a:r>
              <a:rPr lang="ko-KR" altLang="en-US" sz="1600" dirty="0">
                <a:solidFill>
                  <a:srgbClr val="002060"/>
                </a:solidFill>
              </a:rPr>
              <a:t>위조지폐범을 잡기 위해 점점 위폐 찾는 기술을 발전 </a:t>
            </a:r>
            <a:r>
              <a:rPr lang="en-US" altLang="ko-KR" sz="1600" dirty="0">
                <a:solidFill>
                  <a:srgbClr val="002060"/>
                </a:solidFill>
              </a:rPr>
              <a:t>: Discriminator(</a:t>
            </a:r>
            <a:r>
              <a:rPr lang="ko-KR" altLang="en-US" sz="1600" dirty="0">
                <a:solidFill>
                  <a:srgbClr val="002060"/>
                </a:solidFill>
              </a:rPr>
              <a:t>판별자</a:t>
            </a:r>
            <a:r>
              <a:rPr lang="en-US" altLang="ko-KR" sz="1600" dirty="0">
                <a:solidFill>
                  <a:srgbClr val="002060"/>
                </a:solidFill>
              </a:rPr>
              <a:t>)</a:t>
            </a:r>
          </a:p>
          <a:p>
            <a:pPr algn="just" fontAlgn="base">
              <a:lnSpc>
                <a:spcPct val="150000"/>
              </a:lnSpc>
            </a:pPr>
            <a:r>
              <a:rPr lang="en-US" altLang="ko-KR" sz="1600" dirty="0">
                <a:solidFill>
                  <a:srgbClr val="002060"/>
                </a:solidFill>
              </a:rPr>
              <a:t>        - </a:t>
            </a:r>
            <a:r>
              <a:rPr lang="ko-KR" altLang="en-US" sz="1600" u="sng" dirty="0">
                <a:solidFill>
                  <a:srgbClr val="002060"/>
                </a:solidFill>
              </a:rPr>
              <a:t>시간이 지나 위조 기술이 </a:t>
            </a:r>
            <a:r>
              <a:rPr lang="ko-KR" altLang="en-US" sz="1600" u="sng" dirty="0" err="1">
                <a:solidFill>
                  <a:srgbClr val="002060"/>
                </a:solidFill>
              </a:rPr>
              <a:t>완벽해져</a:t>
            </a:r>
            <a:r>
              <a:rPr lang="ko-KR" altLang="en-US" sz="1600" u="sng" dirty="0">
                <a:solidFill>
                  <a:srgbClr val="002060"/>
                </a:solidFill>
              </a:rPr>
              <a:t> 경찰이 이를 구분할 가능성은 </a:t>
            </a:r>
            <a:r>
              <a:rPr lang="en-US" altLang="ko-KR" sz="1600" u="sng" dirty="0">
                <a:solidFill>
                  <a:srgbClr val="002060"/>
                </a:solidFill>
              </a:rPr>
              <a:t>50% (</a:t>
            </a:r>
            <a:r>
              <a:rPr lang="ko-KR" altLang="en-US" sz="1600" u="sng" dirty="0">
                <a:solidFill>
                  <a:srgbClr val="002060"/>
                </a:solidFill>
              </a:rPr>
              <a:t>반반</a:t>
            </a:r>
            <a:r>
              <a:rPr lang="en-US" altLang="ko-KR" sz="1600" u="sng" dirty="0">
                <a:solidFill>
                  <a:srgbClr val="002060"/>
                </a:solidFill>
              </a:rPr>
              <a:t>)</a:t>
            </a: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dirty="0">
              <a:solidFill>
                <a:srgbClr val="002060"/>
              </a:solidFill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600" dirty="0">
                <a:solidFill>
                  <a:srgbClr val="002060"/>
                </a:solidFill>
              </a:rPr>
              <a:t>Network : </a:t>
            </a:r>
            <a:r>
              <a:rPr lang="ko-KR" altLang="en-US" sz="1600" dirty="0">
                <a:solidFill>
                  <a:srgbClr val="002060"/>
                </a:solidFill>
              </a:rPr>
              <a:t>이</a:t>
            </a:r>
            <a:r>
              <a:rPr lang="en-US" altLang="ko-KR" sz="1600" dirty="0">
                <a:solidFill>
                  <a:srgbClr val="002060"/>
                </a:solidFill>
              </a:rPr>
              <a:t> </a:t>
            </a:r>
            <a:r>
              <a:rPr lang="ko-KR" altLang="en-US" sz="1600" dirty="0">
                <a:solidFill>
                  <a:srgbClr val="002060"/>
                </a:solidFill>
              </a:rPr>
              <a:t>모델이</a:t>
            </a:r>
            <a:r>
              <a:rPr lang="en-US" altLang="ko-KR" sz="1600" dirty="0">
                <a:solidFill>
                  <a:srgbClr val="002060"/>
                </a:solidFill>
              </a:rPr>
              <a:t> Neural Network </a:t>
            </a:r>
            <a:r>
              <a:rPr lang="ko-KR" altLang="en-US" sz="1600" dirty="0">
                <a:solidFill>
                  <a:srgbClr val="002060"/>
                </a:solidFill>
              </a:rPr>
              <a:t>기반으로 만들어짐</a:t>
            </a:r>
            <a:endParaRPr lang="en-US" altLang="ko-KR" sz="1600" dirty="0">
              <a:solidFill>
                <a:srgbClr val="00206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EDD0D-A763-46E3-B226-5E4089DEA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043" y="3162300"/>
            <a:ext cx="4724399" cy="2374778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64FD4F0E-EA10-45BB-74F8-725C3FB75AE7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082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1075929" y="1383734"/>
            <a:ext cx="10642542" cy="49646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 GAN </a:t>
            </a: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동작 원리</a:t>
            </a:r>
            <a:endParaRPr lang="en-US" altLang="ko-KR" sz="1800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적대적 생성 신경망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(GAN)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sz="1600" b="1" dirty="0">
                <a:latin typeface="KoPub돋움체_Pro Light" pitchFamily="18" charset="-127"/>
                <a:ea typeface="KoPub돋움체_Pro Light" pitchFamily="18" charset="-127"/>
              </a:rPr>
              <a:t>생성자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(generator)</a:t>
            </a:r>
            <a:r>
              <a:rPr lang="ko-KR" altLang="en-US" sz="1600" b="1" dirty="0">
                <a:latin typeface="KoPub돋움체_Pro Light" pitchFamily="18" charset="-127"/>
                <a:ea typeface="KoPub돋움체_Pro Light" pitchFamily="18" charset="-127"/>
              </a:rPr>
              <a:t>와 판별자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(discriminator) </a:t>
            </a:r>
            <a:r>
              <a:rPr lang="ko-KR" altLang="en-US" sz="1600" b="1" dirty="0">
                <a:solidFill>
                  <a:srgbClr val="FF0000"/>
                </a:solidFill>
                <a:latin typeface="KoPub돋움체_Pro Light" pitchFamily="18" charset="-127"/>
                <a:ea typeface="KoPub돋움체_Pro Light" pitchFamily="18" charset="-127"/>
              </a:rPr>
              <a:t>네트워크 두 개로 구성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되어 있음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두 네트워크는 서로 적대적으로 경쟁하여 학습을 진행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생성자 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G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는 판별자 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를 속이려고 원래 이미지와 최대한 비슷한 이미지를 만들도록 학습</a:t>
            </a:r>
            <a:endParaRPr lang="en-US" altLang="ko-KR" sz="16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반대로 판별자 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는 원래 이미지와 생성자 </a:t>
            </a:r>
            <a:r>
              <a:rPr lang="en-US" altLang="ko-KR" sz="1600" dirty="0">
                <a:latin typeface="KoPub돋움체_Pro Light" pitchFamily="18" charset="-127"/>
                <a:ea typeface="KoPub돋움체_Pro Light" pitchFamily="18" charset="-127"/>
              </a:rPr>
              <a:t>G</a:t>
            </a:r>
            <a:r>
              <a:rPr lang="ko-KR" altLang="en-US" sz="1600" dirty="0">
                <a:latin typeface="KoPub돋움체_Pro Light" pitchFamily="18" charset="-127"/>
                <a:ea typeface="KoPub돋움체_Pro Light" pitchFamily="18" charset="-127"/>
              </a:rPr>
              <a:t>가 만든 이미지를 잘 구분하도록 학습을 진행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4A46F09-985E-D384-DB8E-5D0AA7B84D09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607FB1-4D59-A084-11D3-B8AF2E7CC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1216" y="4007963"/>
            <a:ext cx="6026840" cy="256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725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4B71E5-BA05-4B61-A93F-14421CCA6ED6}"/>
              </a:ext>
            </a:extLst>
          </p:cNvPr>
          <p:cNvSpPr/>
          <p:nvPr/>
        </p:nvSpPr>
        <p:spPr>
          <a:xfrm>
            <a:off x="1017769" y="960824"/>
            <a:ext cx="10706145" cy="5492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solidFill>
                  <a:srgbClr val="002060"/>
                </a:solidFill>
              </a:rPr>
              <a:t>생성자</a:t>
            </a:r>
            <a:r>
              <a:rPr lang="en-US" altLang="ko-KR" sz="1600" dirty="0">
                <a:solidFill>
                  <a:srgbClr val="002060"/>
                </a:solidFill>
              </a:rPr>
              <a:t>(Generator))</a:t>
            </a:r>
            <a:r>
              <a:rPr lang="ko-KR" altLang="en-US" sz="1600" dirty="0">
                <a:solidFill>
                  <a:srgbClr val="002060"/>
                </a:solidFill>
              </a:rPr>
              <a:t>는 정규분포에서 무작위로 추출한 </a:t>
            </a:r>
            <a:r>
              <a:rPr lang="en-US" altLang="ko-KR" sz="1600" dirty="0">
                <a:solidFill>
                  <a:srgbClr val="002060"/>
                </a:solidFill>
              </a:rPr>
              <a:t>Vector</a:t>
            </a:r>
            <a:r>
              <a:rPr lang="ko-KR" altLang="en-US" sz="1600" dirty="0">
                <a:solidFill>
                  <a:srgbClr val="002060"/>
                </a:solidFill>
              </a:rPr>
              <a:t>를 원하는 복잡한 분포로 매핑하는 함수</a:t>
            </a:r>
            <a:endParaRPr lang="en-US" altLang="ko-KR" sz="1600" dirty="0">
              <a:solidFill>
                <a:srgbClr val="002060"/>
              </a:solidFill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아래 그림은 생성자</a:t>
            </a:r>
            <a:r>
              <a:rPr lang="en-US" altLang="ko-KR" sz="1600" dirty="0"/>
              <a:t>(Generator) </a:t>
            </a:r>
            <a:r>
              <a:rPr lang="ko-KR" altLang="en-US" sz="1600" dirty="0"/>
              <a:t>가 어떻게 작동하는지를 간단히 설명한 것이다</a:t>
            </a:r>
            <a:r>
              <a:rPr lang="en-US" altLang="ko-KR" sz="1600" dirty="0"/>
              <a:t>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/>
              <a:t>정규분포</a:t>
            </a:r>
            <a:r>
              <a:rPr lang="ko-KR" altLang="en-US" sz="1600" dirty="0"/>
              <a:t>에서 무작위로 숫자를 선택해</a:t>
            </a:r>
            <a:r>
              <a:rPr lang="en-US" altLang="ko-KR" sz="1600" dirty="0"/>
              <a:t>, </a:t>
            </a:r>
            <a:r>
              <a:rPr lang="ko-KR" altLang="en-US" sz="1600" dirty="0"/>
              <a:t>이를 </a:t>
            </a:r>
            <a:r>
              <a:rPr lang="ko-KR" altLang="en-US" sz="1600" b="1" dirty="0"/>
              <a:t>노이즈 벡터</a:t>
            </a:r>
            <a:r>
              <a:rPr lang="ko-KR" altLang="en-US" sz="1600" dirty="0"/>
              <a:t>로 사용</a:t>
            </a:r>
            <a:r>
              <a:rPr lang="en-US" altLang="ko-KR" sz="1600" dirty="0"/>
              <a:t>. </a:t>
            </a:r>
            <a:r>
              <a:rPr lang="ko-KR" altLang="en-US" sz="1600" dirty="0"/>
              <a:t>이 벡터는 초기 입력 데이터로 사용되며</a:t>
            </a:r>
            <a:r>
              <a:rPr lang="en-US" altLang="ko-KR" sz="1600" dirty="0"/>
              <a:t>, </a:t>
            </a:r>
            <a:r>
              <a:rPr lang="ko-KR" altLang="en-US" sz="1600" dirty="0"/>
              <a:t>랜덤하게 분포된 숫자들로 구성된다</a:t>
            </a:r>
            <a:r>
              <a:rPr lang="en-US" altLang="ko-KR" sz="1600" dirty="0"/>
              <a:t>. 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이 노이즈 벡터는 실제 데이터처럼 보이는 </a:t>
            </a:r>
            <a:r>
              <a:rPr lang="ko-KR" altLang="en-US" sz="1600" b="1" dirty="0"/>
              <a:t>복잡한 데이터 분포</a:t>
            </a:r>
            <a:r>
              <a:rPr lang="ko-KR" altLang="en-US" sz="1600" dirty="0"/>
              <a:t>로 변환된다</a:t>
            </a:r>
            <a:r>
              <a:rPr lang="en-US" altLang="ko-KR" sz="1600" dirty="0"/>
              <a:t>. </a:t>
            </a:r>
            <a:r>
              <a:rPr lang="ko-KR" altLang="en-US" sz="1600" dirty="0"/>
              <a:t>예를 들어</a:t>
            </a:r>
            <a:r>
              <a:rPr lang="en-US" altLang="ko-KR" sz="1600" dirty="0"/>
              <a:t>, MNIST </a:t>
            </a:r>
            <a:r>
              <a:rPr lang="ko-KR" altLang="en-US" sz="1600" dirty="0"/>
              <a:t>숫자 이미지를 생성하는 </a:t>
            </a:r>
            <a:r>
              <a:rPr lang="en-US" altLang="ko-KR" sz="1600" dirty="0"/>
              <a:t>GAN</a:t>
            </a:r>
            <a:r>
              <a:rPr lang="ko-KR" altLang="en-US" sz="1600" dirty="0"/>
              <a:t>에서는 랜덤 벡터가 실제 숫자 이미지처럼 보이는 것으로 변환된다</a:t>
            </a:r>
            <a:r>
              <a:rPr lang="en-US" altLang="ko-KR" sz="1600" dirty="0"/>
              <a:t>.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이 과정을 </a:t>
            </a:r>
            <a:r>
              <a:rPr lang="ko-KR" altLang="en-US" sz="1600" b="1" dirty="0"/>
              <a:t>복잡한 분포로 </a:t>
            </a:r>
            <a:r>
              <a:rPr lang="ko-KR" altLang="en-US" sz="1600" b="1" dirty="0" err="1"/>
              <a:t>매핑</a:t>
            </a:r>
            <a:r>
              <a:rPr lang="ko-KR" altLang="en-US" sz="1600" dirty="0" err="1"/>
              <a:t>된다고</a:t>
            </a:r>
            <a:r>
              <a:rPr lang="ko-KR" altLang="en-US" sz="1600" dirty="0"/>
              <a:t> 표현된다</a:t>
            </a:r>
            <a:r>
              <a:rPr lang="en-US" altLang="ko-KR" sz="1600" dirty="0"/>
              <a:t>.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단순한 랜덤 값에서 시작해 실제 데이터처럼 보이는 이미지를 만들어내는 함수 역할을 한다는 의미이다</a:t>
            </a:r>
            <a:r>
              <a:rPr lang="en-US" altLang="ko-KR" sz="1600" dirty="0"/>
              <a:t>.</a:t>
            </a:r>
            <a:endParaRPr lang="en-US" altLang="ko-KR" sz="1600" dirty="0">
              <a:solidFill>
                <a:srgbClr val="00206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2B739C-951E-465D-BF20-D7BA0740C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219" y="1761549"/>
            <a:ext cx="6806706" cy="24932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911A64-28D8-3B82-123E-BEDD01DB2F6C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0259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4294967295"/>
          </p:nvPr>
        </p:nvSpPr>
        <p:spPr>
          <a:xfrm>
            <a:off x="321129" y="1001953"/>
            <a:ext cx="11547410" cy="57518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 GAN </a:t>
            </a: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동작 원리</a:t>
            </a:r>
            <a:endParaRPr lang="en-US" altLang="ko-KR" sz="1800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b="1" dirty="0">
                <a:latin typeface="KoPub돋움체_Pro Light" pitchFamily="18" charset="-127"/>
                <a:ea typeface="KoPub돋움체_Pro Bold" pitchFamily="18" charset="-127"/>
              </a:rPr>
              <a:t>     </a:t>
            </a:r>
            <a:r>
              <a:rPr lang="en-US" altLang="ko-KR" sz="1400" b="1" dirty="0">
                <a:latin typeface="KoPub돋움체_Pro Light" pitchFamily="18" charset="-127"/>
                <a:ea typeface="KoPub돋움체_Pro Light" pitchFamily="18" charset="-127"/>
              </a:rPr>
              <a:t>&lt;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판별자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D&gt;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판별자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의 역할은 주어진 입력 이미지가 진짜 이미지인지 가짜 이미지인지 구별하는 것</a:t>
            </a:r>
            <a:endParaRPr lang="en-US" altLang="ko-KR" sz="14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이미지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가 입력으로 주어졌을 때 판별자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의 출력에 해당하는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D(x)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가 진짜 이미지일 확률을 반환</a:t>
            </a:r>
            <a:r>
              <a:rPr lang="en-US" altLang="ko-KR" sz="1400" b="1" dirty="0">
                <a:latin typeface="KoPub돋움체_Pro Light" pitchFamily="18" charset="-127"/>
                <a:ea typeface="KoPub돋움체_Pro Bold" pitchFamily="18" charset="-127"/>
              </a:rPr>
              <a:t>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&lt;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생성자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G&gt;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생성자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G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의 역할은 판별자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가 진짜인지 가짜인지 구별할 수 없을 만큼 진짜와 같은 모조 이미지를 만들어 내는 것</a:t>
            </a:r>
            <a:endParaRPr lang="en-US" altLang="ko-KR" sz="14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예를 들어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,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1400" b="1" dirty="0"/>
              <a:t>z</a:t>
            </a:r>
            <a:r>
              <a:rPr lang="ko-KR" altLang="en-US" sz="1400" b="1" dirty="0"/>
              <a:t>는 랜덤 노이즈 벡터이며</a:t>
            </a:r>
            <a:r>
              <a:rPr lang="en-US" altLang="ko-KR" sz="1400" b="1" dirty="0"/>
              <a:t>, G</a:t>
            </a:r>
            <a:r>
              <a:rPr lang="ko-KR" altLang="en-US" sz="1400" b="1" dirty="0"/>
              <a:t>는 이를 </a:t>
            </a:r>
            <a:r>
              <a:rPr lang="ko-KR" altLang="en-US" sz="1400" b="1" dirty="0" err="1"/>
              <a:t>입력받아</a:t>
            </a:r>
            <a:r>
              <a:rPr lang="ko-KR" altLang="en-US" sz="1400" b="1" dirty="0"/>
              <a:t> 가짜 이미지 </a:t>
            </a:r>
            <a:r>
              <a:rPr lang="en-US" altLang="ko-KR" sz="1400" b="1" dirty="0"/>
              <a:t>G(z)</a:t>
            </a:r>
            <a:r>
              <a:rPr lang="ko-KR" altLang="en-US" sz="1400" b="1" dirty="0"/>
              <a:t>를 생성한다</a:t>
            </a:r>
            <a:r>
              <a:rPr lang="en-US" altLang="ko-KR" sz="1400" b="1" dirty="0"/>
              <a:t>.</a:t>
            </a:r>
            <a:endParaRPr lang="en-US" altLang="ko-KR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/>
              <a:t>생성자는 임의의 노이즈 </a:t>
            </a:r>
            <a:r>
              <a:rPr lang="en-US" altLang="ko-KR" sz="1400" dirty="0"/>
              <a:t>z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입력받아</a:t>
            </a:r>
            <a:r>
              <a:rPr lang="ko-KR" altLang="en-US" sz="1400" dirty="0"/>
              <a:t> 가짜 이미지 </a:t>
            </a:r>
            <a:r>
              <a:rPr lang="en-US" altLang="ko-KR" sz="1400" b="1" dirty="0" err="1"/>
              <a:t>x_fake</a:t>
            </a:r>
            <a:r>
              <a:rPr lang="en-US" altLang="ko-KR" sz="1400" b="1" dirty="0"/>
              <a:t> = G(z)</a:t>
            </a:r>
            <a:r>
              <a:rPr lang="ko-KR" altLang="en-US" sz="1400" dirty="0"/>
              <a:t> 를 생성한다</a:t>
            </a:r>
            <a:r>
              <a:rPr lang="en-US" altLang="ko-KR" sz="14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이러한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G(z)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를 다시 </a:t>
            </a:r>
            <a:r>
              <a:rPr lang="ko-KR" altLang="en-US" sz="1400" dirty="0"/>
              <a:t>판별자는 입력 </a:t>
            </a:r>
            <a:r>
              <a:rPr lang="en-US" altLang="ko-KR" sz="1400" dirty="0"/>
              <a:t>x(</a:t>
            </a:r>
            <a:r>
              <a:rPr lang="ko-KR" altLang="en-US" sz="1400" dirty="0"/>
              <a:t>또는 </a:t>
            </a:r>
            <a:r>
              <a:rPr lang="en-US" altLang="ko-KR" sz="1400" dirty="0"/>
              <a:t>G(z))</a:t>
            </a:r>
            <a:r>
              <a:rPr lang="ko-KR" altLang="en-US" sz="1400" dirty="0"/>
              <a:t>가 실제 데이터일 가능성을 나타내는 값을 출력한다</a:t>
            </a:r>
            <a:r>
              <a:rPr lang="en-US" altLang="ko-KR" sz="1400" dirty="0"/>
              <a:t>.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225DDFA-B2B2-EC70-0812-6E4466571261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71A854-DDCF-F157-A7E9-CED25F489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648" y="4553500"/>
            <a:ext cx="6205634" cy="214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8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5C6-DF29-ACF7-8FB8-7E3CB59B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5BCC997-E414-EF26-D05D-EE06EE2DC68C}"/>
              </a:ext>
            </a:extLst>
          </p:cNvPr>
          <p:cNvSpPr txBox="1">
            <a:spLocks/>
          </p:cNvSpPr>
          <p:nvPr/>
        </p:nvSpPr>
        <p:spPr>
          <a:xfrm>
            <a:off x="858218" y="1032650"/>
            <a:ext cx="10462924" cy="5683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 GAN </a:t>
            </a: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손실함수</a:t>
            </a:r>
            <a:endParaRPr lang="en-US" altLang="ko-KR" sz="1800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 b="1" dirty="0"/>
              <a:t>판별자</a:t>
            </a:r>
            <a:r>
              <a:rPr lang="en-US" altLang="ko-KR" sz="1600" b="1" dirty="0"/>
              <a:t>(Discriminator)</a:t>
            </a:r>
            <a:r>
              <a:rPr lang="ko-KR" altLang="en-US" sz="1600" b="1" dirty="0"/>
              <a:t>의 손실 함수 </a:t>
            </a:r>
            <a:r>
              <a:rPr lang="en-US" altLang="ko-KR" sz="1600" b="1" dirty="0"/>
              <a:t>: </a:t>
            </a:r>
            <a:r>
              <a:rPr lang="ko-KR" altLang="en-US" sz="1600" dirty="0"/>
              <a:t>판별자는 실제 데이터와 생성자가 만든 가짜 데이터를 구분하는 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것이 목표이다</a:t>
            </a:r>
            <a:r>
              <a:rPr lang="en-US" altLang="ko-KR" sz="1600" dirty="0"/>
              <a:t>. </a:t>
            </a:r>
            <a:r>
              <a:rPr lang="ko-KR" altLang="en-US" sz="1600" dirty="0"/>
              <a:t>판별자의 손실 함수는 다음과 같다</a:t>
            </a:r>
            <a:r>
              <a:rPr lang="en-US" altLang="ko-KR" sz="1600" dirty="0"/>
              <a:t>.</a:t>
            </a:r>
            <a:endParaRPr lang="en-US" altLang="ko-KR" sz="1600" b="1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4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4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4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4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400" dirty="0">
                <a:latin typeface="KoPub돋움체_Pro Light" pitchFamily="18" charset="-127"/>
                <a:ea typeface="KoPub돋움체_Pro Bold" pitchFamily="18" charset="-127"/>
              </a:rPr>
              <a:t>     *</a:t>
            </a:r>
            <a:r>
              <a:rPr lang="ko-KR" altLang="en-US" sz="1100" b="1" dirty="0"/>
              <a:t>신경망 학습에서 손실 함수는 일반적으로 최소화할 수 있는 형태로 표현된다</a:t>
            </a:r>
            <a:r>
              <a:rPr lang="en-US" altLang="ko-KR" sz="1100" b="1" dirty="0"/>
              <a:t>. </a:t>
            </a:r>
            <a:r>
              <a:rPr lang="ko-KR" altLang="en-US" sz="1100" b="1" dirty="0"/>
              <a:t>그래서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판별자의 최대화 문제를 최소화 문제로 변환하기 위해 </a:t>
            </a:r>
            <a:endParaRPr lang="en-US" altLang="ko-KR" sz="11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100" b="1" dirty="0"/>
              <a:t>           (-)</a:t>
            </a:r>
            <a:r>
              <a:rPr lang="ko-KR" altLang="en-US" sz="1100" b="1" dirty="0"/>
              <a:t>를 곱하여 음수로 표현한다</a:t>
            </a:r>
            <a:endParaRPr lang="en-US" altLang="ko-KR" sz="1400" b="1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실제 데이터에 대해서는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D(x)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를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1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에 가깝게 만들어 실제 데이터라고 판단</a:t>
            </a: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가짜 데이터에 대해서는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D(G(z))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를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0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에 가깝게 만들어 가짜 데이터라고 판단</a:t>
            </a: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따라서 판별자의 목표는                                                              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</a:t>
            </a:r>
            <a:r>
              <a:rPr lang="ko-KR" altLang="en-US" sz="1600" b="1" dirty="0"/>
              <a:t>최대화</a:t>
            </a:r>
            <a:r>
              <a:rPr lang="ko-KR" altLang="en-US" sz="1600" dirty="0"/>
              <a:t>하는 것이다</a:t>
            </a:r>
            <a:r>
              <a:rPr lang="en-US" altLang="ko-KR" sz="1600" dirty="0"/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이 식은 두 확률을 더한 것이므로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판별자는 실제 데이터를 진짜로 분류하고 가짜 데이터를 가짜로 분류할 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확률을 높이는 방향으로 학습된다</a:t>
            </a:r>
            <a:r>
              <a:rPr lang="en-US" altLang="ko-KR" sz="1600" dirty="0"/>
              <a:t>.</a:t>
            </a: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8EC087-3D90-5296-4606-2F98B8F9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70" y="2302318"/>
            <a:ext cx="6514339" cy="528011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AD0A2C6A-C77F-D7AE-8DA8-AAF355A9C209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9572AB-4F2D-0E01-89C9-0B9A3B084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232" y="5475478"/>
            <a:ext cx="4348695" cy="3040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EBF85C-7FF1-A2B2-3497-A1526E0DE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046" y="2975472"/>
            <a:ext cx="6117098" cy="7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8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A79E-3E13-FD41-97AB-2FA71B60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C25416AB-0C8D-2816-A9F7-D447EB4AE9BE}"/>
              </a:ext>
            </a:extLst>
          </p:cNvPr>
          <p:cNvSpPr txBox="1">
            <a:spLocks/>
          </p:cNvSpPr>
          <p:nvPr/>
        </p:nvSpPr>
        <p:spPr>
          <a:xfrm>
            <a:off x="852775" y="1348340"/>
            <a:ext cx="10462924" cy="5422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 GAN </a:t>
            </a: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손실함수</a:t>
            </a:r>
            <a:endParaRPr lang="en-US" altLang="ko-KR" sz="1800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b="1" dirty="0"/>
              <a:t>2. </a:t>
            </a:r>
            <a:r>
              <a:rPr lang="ko-KR" altLang="en-US" sz="1600" b="1" dirty="0"/>
              <a:t>생성자</a:t>
            </a:r>
            <a:r>
              <a:rPr lang="en-US" altLang="ko-KR" sz="1600" b="1" dirty="0"/>
              <a:t>(Generator)</a:t>
            </a:r>
            <a:r>
              <a:rPr lang="ko-KR" altLang="en-US" sz="1600" b="1" dirty="0"/>
              <a:t>의 손실 함수 </a:t>
            </a:r>
            <a:r>
              <a:rPr lang="en-US" altLang="ko-KR" sz="1600" b="1" dirty="0"/>
              <a:t>:</a:t>
            </a:r>
            <a:r>
              <a:rPr lang="en-US" altLang="ko-KR" sz="1600" dirty="0"/>
              <a:t> </a:t>
            </a:r>
            <a:r>
              <a:rPr lang="ko-KR" altLang="en-US" sz="1600" dirty="0"/>
              <a:t>생성자의 목표는 판별자를 속여 가짜 데이터를 진짜처럼 보이게 만드는 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생성자의 손실 함수는 다음과 같다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판별자가 가짜 데이터를 실제 데이터로 오인하도록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D(G(z))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를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1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에 가깝게 만든다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균형점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(Nash equilibrium): 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두 모델이 서로 최적의 전략을 사용할 때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, 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더 이상 다른 쪽이 이익을 얻을 수 없는 상태를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Nash equilibrium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이라고 한다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GAN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에서는 실제 데이터 분포와 생성된 데이터 분포가 완전히 일치할 때 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Nash equilibrium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에 도달한다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. 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즉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, </a:t>
            </a: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판별자가 더 이상 실제 데이터와 가짜 데이터를 구분할 수 없게 된다</a:t>
            </a:r>
            <a:r>
              <a:rPr lang="en-US" altLang="ko-KR" sz="1600" dirty="0">
                <a:latin typeface="KoPub돋움체_Pro Light" pitchFamily="18" charset="-127"/>
                <a:ea typeface="KoPub돋움체_Pro Bold" pitchFamily="18" charset="-127"/>
              </a:rPr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DD7B0E-68F8-81EB-8C8D-11CA7B4B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13" y="2864385"/>
            <a:ext cx="3166411" cy="496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3533B69-F62C-977E-2592-14161EA87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441" y="3533114"/>
            <a:ext cx="6801426" cy="7171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F4C8AFE-089F-59AF-0A23-A1112BC3000A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46295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B7E0B-5AAC-2D45-2397-F262EBD4E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E49B89CF-7D2C-C7FD-303D-6CAAD3B3C7BD}"/>
              </a:ext>
            </a:extLst>
          </p:cNvPr>
          <p:cNvSpPr txBox="1">
            <a:spLocks/>
          </p:cNvSpPr>
          <p:nvPr/>
        </p:nvSpPr>
        <p:spPr>
          <a:xfrm>
            <a:off x="852775" y="1049757"/>
            <a:ext cx="10462924" cy="5714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KoPub돋움체_Pro Bold" pitchFamily="18" charset="-127"/>
                <a:ea typeface="KoPub돋움체_Pro Bold" pitchFamily="18" charset="-127"/>
              </a:rPr>
              <a:t> GAN </a:t>
            </a:r>
            <a:r>
              <a:rPr lang="ko-KR" altLang="en-US" sz="1800" b="1" dirty="0">
                <a:latin typeface="KoPub돋움체_Pro Bold" pitchFamily="18" charset="-127"/>
                <a:ea typeface="KoPub돋움체_Pro Bold" pitchFamily="18" charset="-127"/>
              </a:rPr>
              <a:t>손실함수</a:t>
            </a:r>
            <a:endParaRPr lang="en-US" altLang="ko-KR" sz="1800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b="1" dirty="0"/>
              <a:t>3. </a:t>
            </a:r>
            <a:r>
              <a:rPr lang="ko-KR" altLang="en-US" sz="1600" b="1" dirty="0"/>
              <a:t>전체 </a:t>
            </a:r>
            <a:r>
              <a:rPr lang="en-US" altLang="ko-KR" sz="1600" b="1" dirty="0"/>
              <a:t>GAN</a:t>
            </a:r>
            <a:r>
              <a:rPr lang="ko-KR" altLang="en-US" sz="1600" b="1" dirty="0"/>
              <a:t>의 손실 함수 </a:t>
            </a:r>
            <a:r>
              <a:rPr lang="en-US" altLang="ko-KR" sz="1600" b="1" dirty="0"/>
              <a:t>:</a:t>
            </a:r>
            <a:r>
              <a:rPr lang="en-US" altLang="ko-KR" sz="1600" dirty="0"/>
              <a:t> </a:t>
            </a:r>
            <a:r>
              <a:rPr lang="ko-KR" altLang="en-US" sz="1600" dirty="0"/>
              <a:t>최종적으로</a:t>
            </a:r>
            <a:r>
              <a:rPr lang="en-US" altLang="ko-KR" sz="1600" dirty="0"/>
              <a:t>, GAN</a:t>
            </a:r>
            <a:r>
              <a:rPr lang="ko-KR" altLang="en-US" sz="1600" dirty="0"/>
              <a:t>의 학습 과정은 판별자를 최대화하고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생성자를 최소화하는 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b="1" dirty="0"/>
              <a:t>    minimax </a:t>
            </a:r>
            <a:r>
              <a:rPr lang="ko-KR" altLang="en-US" sz="1600" b="1" dirty="0"/>
              <a:t>게임</a:t>
            </a:r>
            <a:r>
              <a:rPr lang="ko-KR" altLang="en-US" sz="1600" dirty="0"/>
              <a:t>으로 표현된다</a:t>
            </a:r>
            <a:r>
              <a:rPr lang="en-US" altLang="ko-KR" sz="16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100" dirty="0">
              <a:latin typeface="KoPub돋움체_Pro Light" pitchFamily="18" charset="-127"/>
              <a:ea typeface="KoPub돋움체_Pro Bold" pitchFamily="18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>
                <a:latin typeface="KoPub돋움체_Pro Light" pitchFamily="18" charset="-127"/>
                <a:ea typeface="KoPub돋움체_Pro Bold" pitchFamily="18" charset="-127"/>
              </a:rPr>
              <a:t> </a:t>
            </a:r>
            <a:r>
              <a:rPr lang="en-US" altLang="ko-KR" sz="1600" b="1" dirty="0"/>
              <a:t>D</a:t>
            </a:r>
            <a:r>
              <a:rPr lang="ko-KR" altLang="en-US" sz="1600" b="1" dirty="0"/>
              <a:t>의 입장</a:t>
            </a:r>
            <a:r>
              <a:rPr lang="en-US" altLang="ko-KR" sz="1600" b="1" dirty="0"/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진짜 데이터</a:t>
            </a:r>
            <a:r>
              <a:rPr lang="en-US" altLang="ko-KR" sz="1600" dirty="0"/>
              <a:t>(x)</a:t>
            </a:r>
            <a:r>
              <a:rPr lang="ko-KR" altLang="en-US" sz="1600" dirty="0"/>
              <a:t>는 </a:t>
            </a:r>
            <a:r>
              <a:rPr lang="en-US" altLang="ko-KR" sz="1600" dirty="0"/>
              <a:t>D(x)</a:t>
            </a:r>
            <a:r>
              <a:rPr lang="ko-KR" altLang="en-US" sz="1600" dirty="0"/>
              <a:t>가 크길 원함 → </a:t>
            </a:r>
            <a:r>
              <a:rPr lang="en-US" altLang="ko-KR" sz="1600" dirty="0"/>
              <a:t>log D(x)</a:t>
            </a:r>
            <a:r>
              <a:rPr lang="ko-KR" altLang="en-US" sz="1600" dirty="0"/>
              <a:t>를 </a:t>
            </a:r>
            <a:r>
              <a:rPr lang="ko-KR" altLang="en-US" sz="1600" b="1" dirty="0"/>
              <a:t>크게</a:t>
            </a:r>
            <a:endParaRPr lang="en-US" altLang="ko-KR" sz="1600" b="1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가짜 데이터</a:t>
            </a:r>
            <a:r>
              <a:rPr lang="en-US" altLang="ko-KR" sz="1600" dirty="0"/>
              <a:t>(G(z))</a:t>
            </a:r>
            <a:r>
              <a:rPr lang="ko-KR" altLang="en-US" sz="1600" dirty="0"/>
              <a:t>는 </a:t>
            </a:r>
            <a:r>
              <a:rPr lang="en-US" altLang="ko-KR" sz="1600" dirty="0"/>
              <a:t>D(G(z))</a:t>
            </a:r>
            <a:r>
              <a:rPr lang="ko-KR" altLang="en-US" sz="1600" dirty="0"/>
              <a:t>가 작길 원함 → </a:t>
            </a:r>
            <a:r>
              <a:rPr lang="en-US" altLang="ko-KR" sz="1600" dirty="0"/>
              <a:t>log(1 - D(G(z)))</a:t>
            </a:r>
            <a:r>
              <a:rPr lang="ko-KR" altLang="en-US" sz="1600" dirty="0"/>
              <a:t>를 </a:t>
            </a:r>
            <a:r>
              <a:rPr lang="ko-KR" altLang="en-US" sz="1600" b="1" dirty="0"/>
              <a:t>크게</a:t>
            </a:r>
            <a:endParaRPr lang="en-US" altLang="ko-KR" sz="1600" b="1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600" dirty="0"/>
              <a:t>→ 따라서 </a:t>
            </a:r>
            <a:r>
              <a:rPr lang="en-US" altLang="ko-KR" sz="1600" b="1" dirty="0"/>
              <a:t>D</a:t>
            </a:r>
            <a:r>
              <a:rPr lang="ko-KR" altLang="en-US" sz="1600" b="1" dirty="0"/>
              <a:t>는 전체 식을 최대화</a:t>
            </a:r>
            <a:r>
              <a:rPr lang="en-US" altLang="ko-KR" sz="1600" b="1" dirty="0"/>
              <a:t>(max)</a:t>
            </a:r>
            <a:r>
              <a:rPr lang="ko-KR" altLang="en-US" sz="1600" dirty="0"/>
              <a:t> 하고 싶습니다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600" b="1" dirty="0"/>
              <a:t>G</a:t>
            </a:r>
            <a:r>
              <a:rPr lang="ko-KR" altLang="en-US" sz="1600" b="1" dirty="0"/>
              <a:t>의 입장</a:t>
            </a:r>
            <a:r>
              <a:rPr lang="en-US" altLang="ko-KR" sz="1600" b="1" dirty="0"/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가짜 데이터</a:t>
            </a:r>
            <a:r>
              <a:rPr lang="en-US" altLang="ko-KR" sz="1600" dirty="0"/>
              <a:t>(G(z))</a:t>
            </a:r>
            <a:r>
              <a:rPr lang="ko-KR" altLang="en-US" sz="1600" dirty="0"/>
              <a:t>가 진짜처럼 보이길 원함 → </a:t>
            </a:r>
            <a:r>
              <a:rPr lang="en-US" altLang="ko-KR" sz="1600" dirty="0"/>
              <a:t>D(G(z))</a:t>
            </a:r>
            <a:r>
              <a:rPr lang="ko-KR" altLang="en-US" sz="1600" dirty="0"/>
              <a:t>를 </a:t>
            </a:r>
            <a:r>
              <a:rPr lang="ko-KR" altLang="en-US" sz="1600" b="1" dirty="0"/>
              <a:t>크게</a:t>
            </a:r>
            <a:endParaRPr lang="en-US" altLang="ko-KR" sz="1600" b="1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600" dirty="0"/>
              <a:t>→ 따라서 </a:t>
            </a:r>
            <a:r>
              <a:rPr lang="en-US" altLang="ko-KR" sz="1600" dirty="0"/>
              <a:t>log(1 - D(G(z)))</a:t>
            </a:r>
            <a:r>
              <a:rPr lang="ko-KR" altLang="en-US" sz="1600" dirty="0"/>
              <a:t>를 </a:t>
            </a:r>
            <a:r>
              <a:rPr lang="ko-KR" altLang="en-US" sz="1600" b="1" dirty="0"/>
              <a:t>작게</a:t>
            </a:r>
            <a:r>
              <a:rPr lang="ko-KR" altLang="en-US" sz="1600" dirty="0"/>
              <a:t> 만들고 싶음</a:t>
            </a:r>
            <a:br>
              <a:rPr lang="ko-KR" altLang="en-US" sz="1600" dirty="0"/>
            </a:b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en-US" altLang="ko-KR" sz="1600" b="1" dirty="0"/>
              <a:t>G</a:t>
            </a:r>
            <a:r>
              <a:rPr lang="ko-KR" altLang="en-US" sz="1600" b="1" dirty="0"/>
              <a:t>는 전체 식을 최소화</a:t>
            </a:r>
            <a:r>
              <a:rPr lang="en-US" altLang="ko-KR" sz="1600" b="1" dirty="0"/>
              <a:t>(min)</a:t>
            </a:r>
            <a:r>
              <a:rPr lang="ko-KR" altLang="en-US" sz="1600" dirty="0"/>
              <a:t> 하려고 한다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>
              <a:latin typeface="KoPub돋움체_Pro Light" pitchFamily="18" charset="-127"/>
              <a:ea typeface="KoPub돋움체_Pro Bold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A840FF-D3FD-9EFD-9465-8CEBEC1E2725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FD7877-8C88-695A-5615-2E493B1E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41" y="2331565"/>
            <a:ext cx="8153400" cy="98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2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1399-4238-4B00-9889-48213215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195CC16C-E69C-7437-315C-B760A0BF29A0}"/>
              </a:ext>
            </a:extLst>
          </p:cNvPr>
          <p:cNvSpPr txBox="1">
            <a:spLocks/>
          </p:cNvSpPr>
          <p:nvPr/>
        </p:nvSpPr>
        <p:spPr>
          <a:xfrm>
            <a:off x="852775" y="1348340"/>
            <a:ext cx="10462924" cy="5297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ko-KR" sz="1800" dirty="0"/>
              <a:t> </a:t>
            </a:r>
            <a:r>
              <a:rPr lang="en-US" altLang="ko-KR" sz="1800" b="1" dirty="0"/>
              <a:t>GAN</a:t>
            </a:r>
            <a:r>
              <a:rPr lang="ko-KR" altLang="en-US" sz="1800" b="1" dirty="0"/>
              <a:t>의 수학적 본질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로그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확률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손실의 방향성</a:t>
            </a:r>
            <a:r>
              <a:rPr lang="en-US" altLang="ko-KR" sz="1800" b="1" dirty="0"/>
              <a:t>)</a:t>
            </a:r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ko-KR" altLang="en-US" sz="1600" b="1" dirty="0"/>
              <a:t>로그 함수의 특성</a:t>
            </a:r>
            <a:endParaRPr lang="en-US" altLang="ko-KR" sz="1600" b="1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b="1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b="1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en-US" altLang="ko-KR" sz="1600" b="1" dirty="0"/>
              <a:t>D(G(z))</a:t>
            </a:r>
            <a:r>
              <a:rPr lang="ko-KR" altLang="en-US" sz="1600" b="1" dirty="0"/>
              <a:t>이 커질 때의 의미</a:t>
            </a:r>
            <a:endParaRPr lang="en-US" altLang="ko-KR" sz="1600" b="1" dirty="0"/>
          </a:p>
          <a:p>
            <a:pPr lvl="2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D(G(z))</a:t>
            </a:r>
            <a:r>
              <a:rPr lang="ko-KR" altLang="en-US" sz="1600" dirty="0"/>
              <a:t>가 커진다는 건 판별자가 </a:t>
            </a:r>
            <a:r>
              <a:rPr lang="ko-KR" altLang="en-US" sz="1600" b="1" dirty="0">
                <a:solidFill>
                  <a:srgbClr val="0070C0"/>
                </a:solidFill>
              </a:rPr>
              <a:t>“이건 </a:t>
            </a:r>
            <a:r>
              <a:rPr lang="ko-KR" altLang="en-US" sz="1600" b="1" dirty="0" err="1">
                <a:solidFill>
                  <a:srgbClr val="0070C0"/>
                </a:solidFill>
              </a:rPr>
              <a:t>진짜야”라고</a:t>
            </a:r>
            <a:r>
              <a:rPr lang="ko-KR" altLang="en-US" sz="1600" b="1" dirty="0">
                <a:solidFill>
                  <a:srgbClr val="0070C0"/>
                </a:solidFill>
              </a:rPr>
              <a:t> 착각하고 있다는 뜻이다</a:t>
            </a:r>
            <a:r>
              <a:rPr lang="en-US" altLang="ko-KR" sz="1600" b="1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b="1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2C9649-0D38-F0BE-096F-3DB3B5EADAB4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B16DA5-B565-3CD6-FA62-C7EB6497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96" y="2156972"/>
            <a:ext cx="2610214" cy="7525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DD425F-3294-1709-1764-2228E85F9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873" y="4081011"/>
            <a:ext cx="7802677" cy="25623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5418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67C3-DCF7-352C-41A3-4C832E96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4">
                <a:extLst>
                  <a:ext uri="{FF2B5EF4-FFF2-40B4-BE49-F238E27FC236}">
                    <a16:creationId xmlns:a16="http://schemas.microsoft.com/office/drawing/2014/main" id="{16FFE4B4-4B81-2668-3F24-87BE8A71CA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775" y="1348340"/>
                <a:ext cx="8468507" cy="52973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dirty="0"/>
                  <a:t> </a:t>
                </a:r>
                <a:r>
                  <a:rPr lang="en-US" altLang="ko-KR" sz="1800" b="1" dirty="0"/>
                  <a:t>GAN</a:t>
                </a:r>
                <a:r>
                  <a:rPr lang="ko-KR" altLang="en-US" sz="1800" b="1" dirty="0"/>
                  <a:t>의 수학적 본질</a:t>
                </a:r>
                <a:r>
                  <a:rPr lang="en-US" altLang="ko-KR" sz="1800" b="1" dirty="0"/>
                  <a:t>(</a:t>
                </a:r>
                <a:r>
                  <a:rPr lang="ko-KR" altLang="en-US" sz="1800" b="1" dirty="0"/>
                  <a:t>로그</a:t>
                </a:r>
                <a:r>
                  <a:rPr lang="en-US" altLang="ko-KR" sz="1800" b="1" dirty="0"/>
                  <a:t>, </a:t>
                </a:r>
                <a:r>
                  <a:rPr lang="ko-KR" altLang="en-US" sz="1800" b="1" dirty="0"/>
                  <a:t>확률</a:t>
                </a:r>
                <a:r>
                  <a:rPr lang="en-US" altLang="ko-KR" sz="1800" b="1" dirty="0"/>
                  <a:t>, </a:t>
                </a:r>
                <a:r>
                  <a:rPr lang="ko-KR" altLang="en-US" sz="1800" b="1" dirty="0"/>
                  <a:t>손실의 방향성</a:t>
                </a:r>
                <a:r>
                  <a:rPr lang="en-US" altLang="ko-KR" sz="1800" b="1" dirty="0"/>
                  <a:t>)</a:t>
                </a:r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/>
                  <a:t>생성자의 </a:t>
                </a:r>
                <a:r>
                  <a:rPr lang="pl-PL" altLang="ko-KR" sz="1600" dirty="0"/>
                  <a:t>log(1−D(G(z))) </a:t>
                </a:r>
                <a:r>
                  <a:rPr lang="ko-KR" altLang="en-US" sz="1600" dirty="0"/>
                  <a:t>최소화의 의미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생성자의 원래 손실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초기 </a:t>
                </a:r>
                <a:r>
                  <a:rPr lang="en-US" altLang="ko-KR" sz="1600" dirty="0"/>
                  <a:t>GAN </a:t>
                </a:r>
                <a:r>
                  <a:rPr lang="ko-KR" altLang="en-US" sz="1600" dirty="0"/>
                  <a:t>논문 기준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은 다음과 같다</a:t>
                </a:r>
                <a:r>
                  <a:rPr lang="en-US" altLang="ko-KR" sz="1600" dirty="0"/>
                  <a:t>: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잠재변수</a:t>
                </a:r>
                <a:r>
                  <a:rPr lang="en-US" altLang="ko-KR" sz="1600" dirty="0"/>
                  <a:t>(latent variable) — </a:t>
                </a:r>
                <a:r>
                  <a:rPr lang="ko-KR" altLang="en-US" sz="1600" dirty="0"/>
                  <a:t>노이즈에서 샘플링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생성자가 만든 가짜 데이터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판별자가 그 데이터를 </a:t>
                </a:r>
                <a:r>
                  <a:rPr lang="ko-KR" altLang="en-US" sz="1600" b="1" dirty="0"/>
                  <a:t>진짜로 판단할 확률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en-US" altLang="ko-KR" sz="1600">
                        <a:latin typeface="Cambria Math" panose="02040503050406030204" pitchFamily="18" charset="0"/>
                      </a:rPr>
                      <m:t>1</m:t>
                    </m:r>
                    <m:r>
                      <a:rPr lang="ko-KR" altLang="en-US" sz="160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판별자가 </a:t>
                </a:r>
                <a:r>
                  <a:rPr lang="ko-KR" altLang="en-US" sz="1600" b="1" dirty="0"/>
                  <a:t>가짜로 판단할 확률</a:t>
                </a:r>
                <a:endParaRPr lang="en-US" altLang="ko-KR" sz="1600" b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pl-PL" altLang="ko-KR" sz="1600" dirty="0"/>
                  <a:t>log(1−D(G(z))) </a:t>
                </a:r>
                <a:r>
                  <a:rPr lang="en-US" altLang="ko-KR" sz="1600" dirty="0"/>
                  <a:t>: “</a:t>
                </a:r>
                <a:r>
                  <a:rPr lang="ko-KR" altLang="en-US" sz="1600" dirty="0"/>
                  <a:t>가짜라고 판단한 </a:t>
                </a:r>
                <a:r>
                  <a:rPr lang="ko-KR" altLang="en-US" sz="1600" dirty="0" err="1"/>
                  <a:t>확률”의</a:t>
                </a:r>
                <a:r>
                  <a:rPr lang="ko-KR" altLang="en-US" sz="1600" dirty="0"/>
                  <a:t> </a:t>
                </a:r>
                <a:r>
                  <a:rPr lang="ko-KR" altLang="en-US" sz="1600" dirty="0" err="1"/>
                  <a:t>로그값</a:t>
                </a:r>
                <a:endParaRPr lang="ko-KR" altLang="en-US" sz="1600" dirty="0"/>
              </a:p>
              <a:p>
                <a:pPr lvl="2"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식은 </a:t>
                </a:r>
                <a:r>
                  <a:rPr lang="ko-KR" altLang="en-US" sz="1600" b="1" dirty="0"/>
                  <a:t>“판별자가 가짜라고 판단한 확률의 </a:t>
                </a:r>
                <a:r>
                  <a:rPr lang="ko-KR" altLang="en-US" sz="1600" b="1" dirty="0" err="1"/>
                  <a:t>로그값의</a:t>
                </a:r>
                <a:r>
                  <a:rPr lang="ko-KR" altLang="en-US" sz="1600" b="1" dirty="0"/>
                  <a:t> 평균”</a:t>
                </a:r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 </a:t>
                </a:r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8" name="내용 개체 틀 4">
                <a:extLst>
                  <a:ext uri="{FF2B5EF4-FFF2-40B4-BE49-F238E27FC236}">
                    <a16:creationId xmlns:a16="http://schemas.microsoft.com/office/drawing/2014/main" id="{16FFE4B4-4B81-2668-3F24-87BE8A71C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75" y="1348340"/>
                <a:ext cx="8468507" cy="5297389"/>
              </a:xfrm>
              <a:prstGeom prst="rect">
                <a:avLst/>
              </a:prstGeom>
              <a:blipFill>
                <a:blip r:embed="rId2"/>
                <a:stretch>
                  <a:fillRect l="-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17A3F919-9202-1D2B-6E2E-676E23EAFFC4}"/>
              </a:ext>
            </a:extLst>
          </p:cNvPr>
          <p:cNvSpPr txBox="1">
            <a:spLocks/>
          </p:cNvSpPr>
          <p:nvPr/>
        </p:nvSpPr>
        <p:spPr>
          <a:xfrm>
            <a:off x="2962396" y="37582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E3C80B-17D9-D616-79A3-A6985110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3" y="2785646"/>
            <a:ext cx="3641890" cy="4987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884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B5CC8-16B9-4A56-D77B-556E1659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4">
                <a:extLst>
                  <a:ext uri="{FF2B5EF4-FFF2-40B4-BE49-F238E27FC236}">
                    <a16:creationId xmlns:a16="http://schemas.microsoft.com/office/drawing/2014/main" id="{41D1811E-344F-3F06-A668-F5556FD312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775" y="909801"/>
                <a:ext cx="8468507" cy="52973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dirty="0"/>
                  <a:t> </a:t>
                </a:r>
                <a:r>
                  <a:rPr lang="en-US" altLang="ko-KR" sz="1800" b="1" dirty="0"/>
                  <a:t>GAN</a:t>
                </a:r>
                <a:r>
                  <a:rPr lang="ko-KR" altLang="en-US" sz="1800" b="1" dirty="0"/>
                  <a:t>의 수학적 본질</a:t>
                </a:r>
                <a:r>
                  <a:rPr lang="en-US" altLang="ko-KR" sz="1800" b="1" dirty="0"/>
                  <a:t>(</a:t>
                </a:r>
                <a:r>
                  <a:rPr lang="ko-KR" altLang="en-US" sz="1800" b="1" dirty="0"/>
                  <a:t>로그</a:t>
                </a:r>
                <a:r>
                  <a:rPr lang="en-US" altLang="ko-KR" sz="1800" b="1" dirty="0"/>
                  <a:t>, </a:t>
                </a:r>
                <a:r>
                  <a:rPr lang="ko-KR" altLang="en-US" sz="1800" b="1" dirty="0"/>
                  <a:t>확률</a:t>
                </a:r>
                <a:r>
                  <a:rPr lang="en-US" altLang="ko-KR" sz="1800" b="1" dirty="0"/>
                  <a:t>, </a:t>
                </a:r>
                <a:r>
                  <a:rPr lang="ko-KR" altLang="en-US" sz="1800" b="1" dirty="0"/>
                  <a:t>손실의 방향성</a:t>
                </a:r>
                <a:r>
                  <a:rPr lang="en-US" altLang="ko-KR" sz="1800" b="1" dirty="0"/>
                  <a:t>)</a:t>
                </a:r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b="1" dirty="0"/>
                  <a:t>“생성자가 </a:t>
                </a:r>
                <a:r>
                  <a:rPr lang="ko-KR" altLang="en-US" sz="1600" b="1" dirty="0" err="1"/>
                  <a:t>최소화한다”는</a:t>
                </a:r>
                <a:r>
                  <a:rPr lang="ko-KR" altLang="en-US" sz="1600" b="1" dirty="0"/>
                  <a:t> 뜻</a:t>
                </a:r>
                <a:r>
                  <a:rPr lang="en-US" altLang="ko-KR" sz="1600" b="1" dirty="0"/>
                  <a:t>?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생성자는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1600" dirty="0"/>
                  <a:t>를 </a:t>
                </a:r>
                <a:r>
                  <a:rPr lang="ko-KR" altLang="en-US" sz="1600" b="1" dirty="0"/>
                  <a:t>최소화</a:t>
                </a:r>
                <a:r>
                  <a:rPr lang="en-US" altLang="ko-KR" sz="1600" b="1" dirty="0"/>
                  <a:t>(minimize)</a:t>
                </a:r>
                <a:r>
                  <a:rPr lang="ko-KR" altLang="en-US" sz="1600" dirty="0"/>
                  <a:t> 하려고 한다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ko-KR" altLang="en-US" sz="1600" dirty="0"/>
                  <a:t>즉</a:t>
                </a:r>
                <a:r>
                  <a:rPr lang="en-US" altLang="ko-KR" sz="1600" dirty="0"/>
                  <a:t>,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log(1−D(G(z)))</a:t>
                </a:r>
                <a:r>
                  <a:rPr lang="ko-KR" altLang="en-US" sz="1600" dirty="0"/>
                  <a:t>는 항상 </a:t>
                </a:r>
                <a:r>
                  <a:rPr lang="ko-KR" altLang="en-US" sz="1600" b="1" dirty="0"/>
                  <a:t>음수</a:t>
                </a:r>
                <a:r>
                  <a:rPr lang="en-US" altLang="ko-KR" sz="1600" b="1" dirty="0"/>
                  <a:t>(≤0)</a:t>
                </a:r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914400" lvl="2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8" name="내용 개체 틀 4">
                <a:extLst>
                  <a:ext uri="{FF2B5EF4-FFF2-40B4-BE49-F238E27FC236}">
                    <a16:creationId xmlns:a16="http://schemas.microsoft.com/office/drawing/2014/main" id="{41D1811E-344F-3F06-A668-F5556FD31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75" y="909801"/>
                <a:ext cx="8468507" cy="5297389"/>
              </a:xfrm>
              <a:prstGeom prst="rect">
                <a:avLst/>
              </a:prstGeom>
              <a:blipFill>
                <a:blip r:embed="rId2"/>
                <a:stretch>
                  <a:fillRect l="-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91B82E22-0C8F-29F5-7DB3-C075B58F3CE9}"/>
              </a:ext>
            </a:extLst>
          </p:cNvPr>
          <p:cNvSpPr txBox="1">
            <a:spLocks/>
          </p:cNvSpPr>
          <p:nvPr/>
        </p:nvSpPr>
        <p:spPr>
          <a:xfrm>
            <a:off x="2962396" y="105238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DCEBCD-A1C1-B498-BA2C-81ED8AB6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09" y="2449900"/>
            <a:ext cx="4160091" cy="5975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B47C7B-086C-59B3-34E0-9BD49DB0E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107" y="3623775"/>
            <a:ext cx="6220693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22A9986-B7B5-88A4-DDD0-51D15D8D2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311" y="6093717"/>
            <a:ext cx="3956914" cy="485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40E0A-21A7-6A19-C807-B40A1257853D}"/>
                  </a:ext>
                </a:extLst>
              </p:cNvPr>
              <p:cNvSpPr txBox="1"/>
              <p:nvPr/>
            </p:nvSpPr>
            <p:spPr>
              <a:xfrm>
                <a:off x="7406168" y="3639099"/>
                <a:ext cx="4583666" cy="2306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400" b="1" dirty="0"/>
                  <a:t>[</a:t>
                </a:r>
                <a:r>
                  <a:rPr lang="ko-KR" altLang="en-US" sz="1400" b="1" dirty="0"/>
                  <a:t>“</a:t>
                </a:r>
                <a:r>
                  <a:rPr lang="ko-KR" altLang="en-US" sz="1400" b="1" dirty="0" err="1"/>
                  <a:t>최소화한다”의</a:t>
                </a:r>
                <a:r>
                  <a:rPr lang="ko-KR" altLang="en-US" sz="1400" b="1" dirty="0"/>
                  <a:t> 실제 의미</a:t>
                </a:r>
                <a:r>
                  <a:rPr lang="en-US" altLang="ko-KR" sz="1400" b="1" dirty="0"/>
                  <a:t>]</a:t>
                </a:r>
                <a:endParaRPr lang="ko-KR" altLang="en-US" sz="1400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ko-KR" altLang="en-US" sz="1400" dirty="0"/>
                  <a:t>생성자는 </a:t>
                </a:r>
                <a:r>
                  <a:rPr lang="pl-PL" altLang="ko-KR" sz="1400" b="1" dirty="0">
                    <a:solidFill>
                      <a:srgbClr val="0070C0"/>
                    </a:solidFill>
                  </a:rPr>
                  <a:t>log(1−D(G(z)))</a:t>
                </a:r>
                <a:r>
                  <a:rPr lang="ko-KR" altLang="en-US" sz="1400" dirty="0"/>
                  <a:t>의 </a:t>
                </a:r>
                <a:r>
                  <a:rPr lang="ko-KR" altLang="en-US" sz="1400" b="1" dirty="0" err="1"/>
                  <a:t>기댓값을</a:t>
                </a:r>
                <a:r>
                  <a:rPr lang="ko-KR" altLang="en-US" sz="1400" b="1" dirty="0"/>
                  <a:t> 최소화</a:t>
                </a:r>
                <a:r>
                  <a:rPr lang="ko-KR" altLang="en-US" sz="1400" dirty="0"/>
                  <a:t>한다는 것은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이 로그항이 </a:t>
                </a:r>
                <a:r>
                  <a:rPr lang="ko-KR" altLang="en-US" sz="1400" b="1" dirty="0"/>
                  <a:t>더 작게 </a:t>
                </a:r>
                <a:r>
                  <a:rPr lang="en-US" altLang="ko-KR" sz="1400" b="1" dirty="0"/>
                  <a:t>(</a:t>
                </a:r>
                <a:r>
                  <a:rPr lang="ko-KR" altLang="en-US" sz="1400" b="1" dirty="0"/>
                  <a:t>즉</a:t>
                </a:r>
                <a:r>
                  <a:rPr lang="en-US" altLang="ko-KR" sz="1400" b="1" dirty="0"/>
                  <a:t>, </a:t>
                </a:r>
                <a:r>
                  <a:rPr lang="ko-KR" altLang="en-US" sz="1400" b="1" dirty="0"/>
                  <a:t>더 큰 음수로</a:t>
                </a:r>
                <a:r>
                  <a:rPr lang="en-US" altLang="ko-KR" sz="1400" b="1" dirty="0"/>
                  <a:t>)</a:t>
                </a:r>
                <a:r>
                  <a:rPr lang="ko-KR" altLang="en-US" sz="1400" dirty="0"/>
                  <a:t> 되게 만든다는 뜻이다</a:t>
                </a:r>
                <a:r>
                  <a:rPr lang="en-US" altLang="ko-KR" sz="14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1400" b="1" smtClean="0">
                        <a:solidFill>
                          <a:srgbClr val="FF0000"/>
                        </a:solidFill>
                      </a:rPr>
                      <m:t>작게</m:t>
                    </m:r>
                    <m:r>
                      <m:rPr>
                        <m:nor/>
                      </m:rPr>
                      <a:rPr lang="ko-KR" altLang="en-US" sz="1400" b="1" i="1" smtClean="0">
                        <a:solidFill>
                          <a:srgbClr val="FF0000"/>
                        </a:solidFill>
                      </a:rPr>
                      <m:t> 만든다 </m:t>
                    </m:r>
                    <m:r>
                      <m:rPr>
                        <m:nor/>
                      </m:rPr>
                      <a:rPr lang="en-US" altLang="ko-KR" sz="1400" b="1" i="1" smtClean="0">
                        <a:solidFill>
                          <a:srgbClr val="FF0000"/>
                        </a:solidFill>
                      </a:rPr>
                      <m:t>= </m:t>
                    </m:r>
                    <m:r>
                      <m:rPr>
                        <m:nor/>
                      </m:rPr>
                      <a:rPr lang="ko-KR" altLang="en-US" sz="1400" b="1" i="1" smtClean="0">
                        <a:solidFill>
                          <a:srgbClr val="FF0000"/>
                        </a:solidFill>
                      </a:rPr>
                      <m:t>더 음수로 만든다 </m:t>
                    </m:r>
                    <m:r>
                      <m:rPr>
                        <m:nor/>
                      </m:rPr>
                      <a:rPr lang="en-US" altLang="ko-KR" sz="1400" b="1" i="1" smtClean="0">
                        <a:solidFill>
                          <a:srgbClr val="FF0000"/>
                        </a:solidFill>
                      </a:rPr>
                      <m:t>= </m:t>
                    </m:r>
                    <m: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ko-KR" alt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d>
                          <m:dPr>
                            <m:ctrlPr>
                              <a:rPr lang="ko-KR" alt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를</m:t>
                    </m:r>
                    <m:r>
                      <m:rPr>
                        <m:nor/>
                      </m:rP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크게</m:t>
                    </m:r>
                    <m:r>
                      <m:rPr>
                        <m:nor/>
                      </m:rP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만든다</m:t>
                    </m:r>
                    <m:r>
                      <m:rPr>
                        <m:nor/>
                      </m:rPr>
                      <a:rPr lang="en-US" altLang="ko-KR" sz="1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ko-KR" altLang="en-US" sz="1400" b="1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ko-KR" altLang="en-US" sz="1400" dirty="0"/>
                  <a:t>결국 생성자의 학습 방향은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ko-KR" altLang="en-US" sz="1400" i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ko-KR" altLang="en-US" sz="1400" dirty="0"/>
              </a:p>
              <a:p>
                <a:pPr>
                  <a:buNone/>
                </a:pPr>
                <a:r>
                  <a:rPr lang="ko-KR" altLang="en-US" sz="1400" dirty="0"/>
                  <a:t>즉</a:t>
                </a:r>
                <a:r>
                  <a:rPr lang="en-US" altLang="ko-KR" sz="1400" dirty="0"/>
                  <a:t>, </a:t>
                </a:r>
                <a:r>
                  <a:rPr lang="ko-KR" altLang="en-US" sz="1400" b="1" dirty="0"/>
                  <a:t>판별자가 가짜를 진짜로 믿도록 </a:t>
                </a:r>
                <a:r>
                  <a:rPr lang="en-US" altLang="ko-KR" sz="1400" b="1" dirty="0"/>
                  <a:t>D(G(z)) </a:t>
                </a:r>
                <a:r>
                  <a:rPr lang="ko-KR" altLang="en-US" sz="1400" b="1" dirty="0"/>
                  <a:t>값을 높이는 것</a:t>
                </a:r>
                <a:r>
                  <a:rPr lang="ko-KR" altLang="en-US" sz="1400" dirty="0"/>
                  <a:t>이다</a:t>
                </a:r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040E0A-21A7-6A19-C807-B40A12578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168" y="3639099"/>
                <a:ext cx="4583666" cy="2306209"/>
              </a:xfrm>
              <a:prstGeom prst="rect">
                <a:avLst/>
              </a:prstGeom>
              <a:blipFill>
                <a:blip r:embed="rId6"/>
                <a:stretch>
                  <a:fillRect l="-265" t="-263" b="-13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24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DB6B-36F4-763C-76BA-633DA8FD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297FBAD-9A6F-E0BE-60B0-E516F4A8AF7C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147666" y="1105372"/>
                <a:ext cx="10011747" cy="55380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2100" b="1" dirty="0"/>
                  <a:t> </a:t>
                </a:r>
                <a:r>
                  <a:rPr lang="en-US" altLang="ko-KR" sz="1800" b="1" dirty="0"/>
                  <a:t>GAN</a:t>
                </a:r>
                <a:r>
                  <a:rPr lang="ko-KR" altLang="en-US" sz="1800" b="1" dirty="0"/>
                  <a:t>의 구성요소</a:t>
                </a:r>
                <a:endParaRPr lang="en-US" altLang="ko-KR" sz="18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GAN</a:t>
                </a:r>
                <a:r>
                  <a:rPr lang="ko-KR" altLang="en-US" sz="1600" dirty="0"/>
                  <a:t>은 크게 두 개의 신경망으로 이루어진다</a:t>
                </a:r>
                <a:r>
                  <a:rPr lang="en-US" altLang="ko-KR" sz="1600" dirty="0"/>
                  <a:t>:</a:t>
                </a:r>
              </a:p>
              <a:p>
                <a:pPr marL="914400" lvl="2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b="1" dirty="0"/>
                  <a:t>(1) Generator (</a:t>
                </a:r>
                <a:r>
                  <a:rPr lang="ko-KR" altLang="en-US" sz="1600" b="1" dirty="0"/>
                  <a:t>생성자</a:t>
                </a:r>
                <a:r>
                  <a:rPr lang="en-US" altLang="ko-KR" sz="1600" b="1" dirty="0"/>
                  <a:t>)</a:t>
                </a:r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역할</a:t>
                </a:r>
                <a:r>
                  <a:rPr lang="en-US" altLang="ko-KR" sz="1600" dirty="0"/>
                  <a:t>: </a:t>
                </a:r>
                <a:r>
                  <a:rPr lang="ko-KR" altLang="en-US" sz="1600" dirty="0" err="1"/>
                  <a:t>랜덤한</a:t>
                </a:r>
                <a:r>
                  <a:rPr lang="ko-KR" altLang="en-US" sz="1600" dirty="0"/>
                  <a:t> 입력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잡음</a:t>
                </a:r>
                <a:r>
                  <a:rPr lang="en-US" altLang="ko-KR" sz="1600" dirty="0"/>
                  <a:t>, noise)</a:t>
                </a:r>
                <a:r>
                  <a:rPr lang="ko-KR" altLang="en-US" sz="1600" dirty="0"/>
                  <a:t>으로부터 </a:t>
                </a:r>
                <a:r>
                  <a:rPr lang="ko-KR" altLang="en-US" sz="1600" b="1" dirty="0"/>
                  <a:t>진짜 같은 데이터</a:t>
                </a:r>
                <a:r>
                  <a:rPr lang="ko-KR" altLang="en-US" sz="1600" dirty="0"/>
                  <a:t>를 생성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입력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노이즈 벡터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ko-KR" altLang="en-US" sz="1600">
                        <a:latin typeface="Cambria Math" panose="02040503050406030204" pitchFamily="18" charset="0"/>
                      </a:rPr>
                      <m:t>∼</m:t>
                    </m:r>
                    <m:r>
                      <a:rPr lang="ko-KR" altLang="en-US" sz="160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altLang="ko-KR" sz="1600" b="1" dirty="0"/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출력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가짜 이미지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또는 음성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텍스트 등</a:t>
                </a:r>
                <a:r>
                  <a:rPr lang="en-US" altLang="ko-KR" sz="1600" dirty="0"/>
                  <a:t>)</a:t>
                </a:r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목표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판별자를 속여 “이건 </a:t>
                </a:r>
                <a:r>
                  <a:rPr lang="ko-KR" altLang="en-US" sz="1600" dirty="0" err="1"/>
                  <a:t>진짜다”라고</a:t>
                </a:r>
                <a:r>
                  <a:rPr lang="ko-KR" altLang="en-US" sz="1600" dirty="0"/>
                  <a:t> 믿게 만드는 것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b="1" dirty="0"/>
                  <a:t>	(2) Discriminator (</a:t>
                </a:r>
                <a:r>
                  <a:rPr lang="ko-KR" altLang="en-US" sz="1600" b="1" dirty="0"/>
                  <a:t>판별자</a:t>
                </a:r>
                <a:r>
                  <a:rPr lang="en-US" altLang="ko-KR" sz="1600" b="1" dirty="0"/>
                  <a:t>)</a:t>
                </a:r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역할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입력된 데이터가 진짜</a:t>
                </a:r>
                <a:r>
                  <a:rPr lang="en-US" altLang="ko-KR" sz="1600" dirty="0"/>
                  <a:t>(Real)</a:t>
                </a:r>
                <a:r>
                  <a:rPr lang="ko-KR" altLang="en-US" sz="1600" dirty="0"/>
                  <a:t>인지 가짜</a:t>
                </a:r>
                <a:r>
                  <a:rPr lang="en-US" altLang="ko-KR" sz="1600" dirty="0"/>
                  <a:t>(Fake)</a:t>
                </a:r>
                <a:r>
                  <a:rPr lang="ko-KR" altLang="en-US" sz="1600" dirty="0"/>
                  <a:t>인지 구별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입력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실제 데이터 또는 생성자의 출력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출력</a:t>
                </a:r>
                <a:r>
                  <a:rPr lang="en-US" altLang="ko-KR" sz="1600" dirty="0"/>
                  <a:t>: 0~1 </a:t>
                </a:r>
                <a:r>
                  <a:rPr lang="ko-KR" altLang="en-US" sz="1600" dirty="0"/>
                  <a:t>사이 확률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진짜일 확률</a:t>
                </a:r>
                <a:r>
                  <a:rPr lang="en-US" altLang="ko-KR" sz="1600" dirty="0"/>
                  <a:t>)</a:t>
                </a:r>
              </a:p>
              <a:p>
                <a:pPr lvl="3">
                  <a:lnSpc>
                    <a:spcPct val="150000"/>
                  </a:lnSpc>
                </a:pPr>
                <a:r>
                  <a:rPr lang="ko-KR" altLang="en-US" sz="1600" b="1" dirty="0"/>
                  <a:t>목표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진짜는 </a:t>
                </a:r>
                <a:r>
                  <a:rPr lang="en-US" altLang="ko-KR" sz="1600" dirty="0"/>
                  <a:t>1, </a:t>
                </a:r>
                <a:r>
                  <a:rPr lang="ko-KR" altLang="en-US" sz="1600" dirty="0"/>
                  <a:t>가짜는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으로 정확히 분류하는 것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ko-KR" sz="1600" dirty="0">
                  <a:latin typeface="KoPub돋움체_Pro Light" pitchFamily="18" charset="-127"/>
                  <a:ea typeface="KoPub돋움체_Pro Light" pitchFamily="18" charset="-127"/>
                </a:endParaRP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297FBAD-9A6F-E0BE-60B0-E516F4A8AF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47666" y="1105372"/>
                <a:ext cx="10011747" cy="5538024"/>
              </a:xfrm>
              <a:blipFill>
                <a:blip r:embed="rId2"/>
                <a:stretch>
                  <a:fillRect l="-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DD5B4F17-9DDC-8811-C6E4-13CA292AD352}"/>
              </a:ext>
            </a:extLst>
          </p:cNvPr>
          <p:cNvSpPr txBox="1">
            <a:spLocks/>
          </p:cNvSpPr>
          <p:nvPr/>
        </p:nvSpPr>
        <p:spPr>
          <a:xfrm>
            <a:off x="2020781" y="281950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0839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96CC-79FD-727D-6FB7-98227B4F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2E6C85F-AA5C-5F7B-1140-1A8A0B03CB20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2100" b="1" dirty="0"/>
                  <a:t> </a:t>
                </a:r>
                <a:r>
                  <a:rPr lang="en-US" altLang="ko-KR" sz="2300" b="1" dirty="0"/>
                  <a:t>GAN</a:t>
                </a:r>
                <a:r>
                  <a:rPr lang="ko-KR" altLang="en-US" sz="2300" b="1" dirty="0"/>
                  <a:t>의 수학적 표현</a:t>
                </a:r>
                <a:endParaRPr lang="en-US" altLang="ko-KR" sz="23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2100" b="1" dirty="0" err="1"/>
                  <a:t>미니맥스</a:t>
                </a:r>
                <a:r>
                  <a:rPr lang="ko-KR" altLang="en-US" sz="2100" b="1" dirty="0"/>
                  <a:t> 게임</a:t>
                </a:r>
                <a:r>
                  <a:rPr lang="en-US" altLang="ko-KR" sz="2100" b="1" dirty="0"/>
                  <a:t>(minimax game)”</a:t>
                </a:r>
                <a:r>
                  <a:rPr lang="ko-KR" altLang="en-US" sz="2100" dirty="0"/>
                  <a:t> 형태</a:t>
                </a:r>
                <a:endParaRPr lang="en-US" altLang="ko-KR" sz="21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2100" dirty="0"/>
                  <a:t>Generator G:z→x, g​=G(z), Discriminator D:x→D(x)∈[0,1] 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2100" dirty="0"/>
                  <a:t>두 모델은 </a:t>
                </a:r>
                <a:r>
                  <a:rPr lang="ko-KR" altLang="en-US" sz="2100" b="1" dirty="0"/>
                  <a:t>“</a:t>
                </a:r>
                <a:r>
                  <a:rPr lang="ko-KR" altLang="en-US" sz="2100" b="1" dirty="0" err="1"/>
                  <a:t>미니맥스</a:t>
                </a:r>
                <a:r>
                  <a:rPr lang="ko-KR" altLang="en-US" sz="2100" b="1" dirty="0"/>
                  <a:t> 게임</a:t>
                </a:r>
                <a:r>
                  <a:rPr lang="en-US" altLang="ko-KR" sz="2100" b="1" dirty="0"/>
                  <a:t>(minimax game)”</a:t>
                </a:r>
                <a:r>
                  <a:rPr lang="ko-KR" altLang="en-US" sz="2100" dirty="0"/>
                  <a:t> 형태로 경쟁한다</a:t>
                </a:r>
                <a:r>
                  <a:rPr lang="en-US" altLang="ko-KR" sz="21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21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2100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2100" dirty="0"/>
                  <a:t>데이터 분포 학습</a:t>
                </a:r>
                <a:endParaRPr lang="en-US" altLang="ko-KR" sz="21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2100" dirty="0"/>
                  <a:t>GAN</a:t>
                </a:r>
                <a:r>
                  <a:rPr lang="ko-KR" altLang="en-US" sz="2100" dirty="0"/>
                  <a:t>의 목표는 </a:t>
                </a:r>
                <a:r>
                  <a:rPr lang="ko-KR" altLang="en-US" sz="2100" b="1" dirty="0"/>
                  <a:t>실제 데이터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2100" dirty="0"/>
                  <a:t>를 모사하는 </a:t>
                </a:r>
                <a:r>
                  <a:rPr lang="ko-KR" altLang="en-US" sz="2100" b="1" dirty="0"/>
                  <a:t>생성 모델 </a:t>
                </a:r>
                <a14:m>
                  <m:oMath xmlns:m="http://schemas.openxmlformats.org/officeDocument/2006/math">
                    <m:r>
                      <a:rPr lang="ko-KR" altLang="en-US" sz="21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ko-KR" altLang="en-US" sz="2100" dirty="0"/>
                  <a:t>을 찾는 것이다</a:t>
                </a:r>
                <a:r>
                  <a:rPr lang="en-US" altLang="ko-KR" sz="21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2100" dirty="0"/>
                  <a:t>실제 데이터는 어떤 복잡한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2100" dirty="0"/>
                  <a:t>에서 나온다</a:t>
                </a:r>
                <a:r>
                  <a:rPr lang="en-US" altLang="ko-KR" sz="21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2100" dirty="0"/>
                  <a:t>생성자는 간단한 분포</a:t>
                </a:r>
                <a:r>
                  <a:rPr lang="en-US" altLang="ko-KR" sz="2100" dirty="0"/>
                  <a:t>(</a:t>
                </a:r>
                <a:r>
                  <a:rPr lang="ko-KR" altLang="en-US" sz="2100" dirty="0"/>
                  <a:t>예</a:t>
                </a:r>
                <a:r>
                  <a:rPr lang="en-US" altLang="ko-KR" sz="2100" dirty="0"/>
                  <a:t>: </a:t>
                </a:r>
                <a:r>
                  <a:rPr lang="ko-KR" altLang="en-US" sz="2100" dirty="0"/>
                  <a:t>정규분포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ko-KR" sz="2100" dirty="0"/>
                  <a:t>)</a:t>
                </a:r>
                <a:r>
                  <a:rPr lang="ko-KR" altLang="en-US" sz="2100" dirty="0"/>
                  <a:t>에서 표본 </a:t>
                </a:r>
                <a14:m>
                  <m:oMath xmlns:m="http://schemas.openxmlformats.org/officeDocument/2006/math">
                    <m:r>
                      <a:rPr lang="ko-KR" altLang="en-US" sz="21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100" dirty="0"/>
                  <a:t>를 뽑고</a:t>
                </a:r>
                <a:r>
                  <a:rPr lang="en-US" altLang="ko-KR" sz="2100" dirty="0"/>
                  <a:t>,</a:t>
                </a:r>
                <a:br>
                  <a:rPr lang="en-US" altLang="ko-KR" sz="2100" dirty="0"/>
                </a:br>
                <a:r>
                  <a:rPr lang="ko-KR" altLang="en-US" sz="2100" dirty="0"/>
                  <a:t>이를 비선형 함수 </a:t>
                </a:r>
                <a14:m>
                  <m:oMath xmlns:m="http://schemas.openxmlformats.org/officeDocument/2006/math">
                    <m:r>
                      <a:rPr lang="ko-KR" altLang="en-US" sz="21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ko-KR" altLang="en-US" sz="2100" dirty="0"/>
                  <a:t>로 변환하여 </a:t>
                </a:r>
                <a:r>
                  <a:rPr lang="ko-KR" altLang="en-US" sz="2100" b="1" dirty="0"/>
                  <a:t>가짜 데이터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ko-KR" alt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2100" dirty="0"/>
                  <a:t>를 만든다</a:t>
                </a:r>
                <a:r>
                  <a:rPr lang="en-US" altLang="ko-KR" sz="21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1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ko-KR" altLang="en-US" sz="210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ko-KR" altLang="en-US" sz="2100">
                          <a:latin typeface="Cambria Math" panose="02040503050406030204" pitchFamily="18" charset="0"/>
                        </a:rPr>
                        <m:t> ⇒ </m:t>
                      </m:r>
                      <m:sSub>
                        <m:sSub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1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1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ko-KR" altLang="en-US" sz="210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100" dirty="0"/>
              </a:p>
              <a:p>
                <a:pPr lvl="2"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2100" dirty="0"/>
              </a:p>
              <a:p>
                <a:pPr lvl="2"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2100" dirty="0"/>
                  <a:t>GAN</a:t>
                </a:r>
                <a:r>
                  <a:rPr lang="ko-KR" altLang="en-US" sz="2100" dirty="0"/>
                  <a:t>의 목표는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sz="210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ko-KR" alt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100" dirty="0"/>
              </a:p>
              <a:p>
                <a:pPr lvl="2"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2100" dirty="0"/>
              </a:p>
              <a:p>
                <a:pPr lvl="2"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2100" dirty="0"/>
                  <a:t>즉</a:t>
                </a:r>
                <a:r>
                  <a:rPr lang="en-US" altLang="ko-KR" sz="2100" dirty="0"/>
                  <a:t>, </a:t>
                </a:r>
                <a:r>
                  <a:rPr lang="ko-KR" altLang="en-US" sz="2100" dirty="0"/>
                  <a:t>생성된 데이터 분포가 실제 데이터 분포를 “같게” 만드는 것이다</a:t>
                </a:r>
                <a:r>
                  <a:rPr lang="en-US" altLang="ko-KR" sz="2100" dirty="0"/>
                  <a:t>.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2E6C85F-AA5C-5F7B-1140-1A8A0B03C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  <a:blipFill>
                <a:blip r:embed="rId2"/>
                <a:stretch>
                  <a:fillRect l="-2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80463803-8D64-AF2B-3863-808003CFEF8A}"/>
              </a:ext>
            </a:extLst>
          </p:cNvPr>
          <p:cNvSpPr txBox="1">
            <a:spLocks/>
          </p:cNvSpPr>
          <p:nvPr/>
        </p:nvSpPr>
        <p:spPr>
          <a:xfrm>
            <a:off x="2020781" y="17930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E84A09-2A85-06DE-B6A2-55AE74BB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271" y="2556361"/>
            <a:ext cx="6344535" cy="4763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99355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1CDA-342D-2CD6-2549-39C8BA34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99A68C3-BADB-B018-8523-F7D2CA036FB8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2100" b="1" dirty="0"/>
                  <a:t> </a:t>
                </a:r>
                <a:r>
                  <a:rPr lang="en-US" altLang="ko-KR" sz="1800" b="1" dirty="0"/>
                  <a:t>GAN</a:t>
                </a:r>
                <a:r>
                  <a:rPr lang="ko-KR" altLang="en-US" sz="1800" b="1" dirty="0"/>
                  <a:t>의 수학적 표현</a:t>
                </a:r>
                <a:endParaRPr lang="en-US" altLang="ko-KR" sz="18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/>
                  <a:t>판별자</a:t>
                </a:r>
                <a:r>
                  <a:rPr lang="en-US" altLang="ko-KR" sz="1600" dirty="0"/>
                  <a:t>(Discriminator)</a:t>
                </a:r>
                <a:r>
                  <a:rPr lang="ko-KR" altLang="en-US" sz="1600" dirty="0"/>
                  <a:t>의 수학적 역할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판별자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1600" dirty="0"/>
                  <a:t>는 “입력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600" dirty="0"/>
                  <a:t>”가 진짜일 확률을 예측하는 함수이다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600" i="1"/>
                          <m:t>data</m:t>
                        </m:r>
                        <m:r>
                          <m:rPr>
                            <m:nor/>
                          </m:rPr>
                          <a:rPr lang="en-US" altLang="ko-KR" sz="1600" i="1"/>
                          <m:t> </m:t>
                        </m:r>
                        <m:r>
                          <m:rPr>
                            <m:nor/>
                          </m:rPr>
                          <a:rPr lang="en-US" altLang="ko-KR" sz="1600" i="1"/>
                          <m:t>is</m:t>
                        </m:r>
                        <m:r>
                          <m:rPr>
                            <m:nor/>
                          </m:rPr>
                          <a:rPr lang="en-US" altLang="ko-KR" sz="1600" i="1"/>
                          <m:t> </m:t>
                        </m:r>
                        <m:r>
                          <m:rPr>
                            <m:nor/>
                          </m:rPr>
                          <a:rPr lang="en-US" altLang="ko-KR" sz="1600" i="1"/>
                          <m:t>real</m:t>
                        </m:r>
                        <m:r>
                          <a:rPr lang="ko-KR" altLang="en-US" sz="16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sz="1600" b="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출력 범위는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sz="16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이를 학습하기 위한 확률적 목적함수는 </a:t>
                </a:r>
                <a:r>
                  <a:rPr lang="en-US" altLang="ko-KR" sz="1600" b="1" dirty="0"/>
                  <a:t>Binary Cross Entropy (</a:t>
                </a:r>
                <a:r>
                  <a:rPr lang="ko-KR" altLang="en-US" sz="1600" b="1" dirty="0"/>
                  <a:t>이진 분류 손실</a:t>
                </a:r>
                <a:r>
                  <a:rPr lang="en-US" altLang="ko-KR" sz="1600" b="1" dirty="0"/>
                  <a:t>)</a:t>
                </a:r>
                <a:r>
                  <a:rPr lang="ko-KR" altLang="en-US" sz="1600" dirty="0"/>
                  <a:t> 와 동일하다</a:t>
                </a:r>
                <a:r>
                  <a:rPr lang="en-US" altLang="ko-KR" sz="1600" dirty="0"/>
                  <a:t>.</a:t>
                </a:r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진짜 데이터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160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1600" dirty="0"/>
                  <a:t>→ 정답 </a:t>
                </a:r>
                <a:r>
                  <a:rPr lang="en-US" altLang="ko-KR" sz="1600" dirty="0"/>
                  <a:t>1</a:t>
                </a:r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가짜 데이터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ko-KR" altLang="en-US" sz="1600" dirty="0"/>
                  <a:t>→ 정답 </a:t>
                </a:r>
                <a:r>
                  <a:rPr lang="en-US" altLang="ko-KR" sz="1600" dirty="0"/>
                  <a:t>0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판별자의 손실은 다음과 같다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</a:t>
                </a:r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첫 번째 항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진짜 데이터를 진짜</a:t>
                </a:r>
                <a:r>
                  <a:rPr lang="en-US" altLang="ko-KR" sz="1600" dirty="0"/>
                  <a:t>(1)</a:t>
                </a:r>
                <a:r>
                  <a:rPr lang="ko-KR" altLang="en-US" sz="1600" dirty="0"/>
                  <a:t>로 맞출 확률을 크게 하자</a:t>
                </a:r>
                <a:r>
                  <a:rPr lang="en-US" altLang="ko-KR" sz="1600" dirty="0"/>
                  <a:t>.</a:t>
                </a:r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두 번째 항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가짜 데이터를 가짜</a:t>
                </a:r>
                <a:r>
                  <a:rPr lang="en-US" altLang="ko-KR" sz="1600" dirty="0"/>
                  <a:t>(0)</a:t>
                </a:r>
                <a:r>
                  <a:rPr lang="ko-KR" altLang="en-US" sz="1600" dirty="0"/>
                  <a:t>로 맞출 확률을 크게 하자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99A68C3-BADB-B018-8523-F7D2CA036F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  <a:blipFill>
                <a:blip r:embed="rId2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A9661A67-7C4F-8797-2BA2-94540AAADEC8}"/>
              </a:ext>
            </a:extLst>
          </p:cNvPr>
          <p:cNvSpPr txBox="1">
            <a:spLocks/>
          </p:cNvSpPr>
          <p:nvPr/>
        </p:nvSpPr>
        <p:spPr>
          <a:xfrm>
            <a:off x="2020781" y="17930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A763D7-3D1B-96D8-4B09-D0AC8743A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877" y="4651375"/>
            <a:ext cx="5429392" cy="4897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22923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9FDA-2153-846D-B5CA-4E17E6F9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21D5B12-629B-F18F-EE9D-F46C7AD9BC86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GAN</a:t>
                </a:r>
                <a:r>
                  <a:rPr lang="ko-KR" altLang="en-US" sz="1800" b="1" dirty="0"/>
                  <a:t>의 수학적 표현</a:t>
                </a:r>
                <a:endParaRPr lang="en-US" altLang="ko-KR" sz="18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/>
                  <a:t>생성자</a:t>
                </a:r>
                <a:r>
                  <a:rPr lang="en-US" altLang="ko-KR" sz="1600" dirty="0"/>
                  <a:t>(Generator)</a:t>
                </a:r>
                <a:r>
                  <a:rPr lang="ko-KR" altLang="en-US" sz="1600" dirty="0"/>
                  <a:t>의 수학적 역할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생성자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ko-KR" altLang="en-US" sz="1600" dirty="0"/>
                  <a:t>는 판별자를 속여야 한다</a:t>
                </a:r>
                <a:r>
                  <a:rPr lang="en-US" altLang="ko-KR" sz="1600" dirty="0"/>
                  <a:t>.</a:t>
                </a:r>
                <a:br>
                  <a:rPr lang="en-US" altLang="ko-KR" sz="1600" dirty="0"/>
                </a:b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ko-KR" altLang="en-US" sz="1600" dirty="0"/>
                  <a:t>를 통해 만들어진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sz="1600" dirty="0"/>
                  <a:t>가 </a:t>
                </a:r>
                <a:r>
                  <a:rPr lang="ko-KR" altLang="en-US" sz="1600" b="1" dirty="0"/>
                  <a:t>진짜처럼 보여야</a:t>
                </a:r>
                <a:r>
                  <a:rPr lang="ko-KR" altLang="en-US" sz="1600" dirty="0"/>
                  <a:t> 한다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판별자를 속이려면</a:t>
                </a:r>
                <a:r>
                  <a:rPr lang="en-US" altLang="ko-KR" sz="1600" dirty="0"/>
                  <a:t>,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ko-KR" altLang="en-US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600" dirty="0"/>
                  <a:t> 이 되도록 만들어야 한다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생성자의 손실은 다음과 같다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경우 초기에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ko-KR" altLang="en-US" sz="16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600" dirty="0"/>
                  <a:t>이면 기울기가 매우 작아 </a:t>
                </a:r>
                <a:r>
                  <a:rPr lang="ko-KR" altLang="en-US" sz="1600" b="1" dirty="0"/>
                  <a:t>학습이 잘 안 되는 문제</a:t>
                </a:r>
                <a:r>
                  <a:rPr lang="ko-KR" altLang="en-US" sz="1600" dirty="0"/>
                  <a:t>가 있다</a:t>
                </a:r>
                <a:r>
                  <a:rPr lang="en-US" altLang="ko-KR" sz="16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ko-KR" altLang="en-US" sz="18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  <m:sup>
                          <m:r>
                            <a:rPr lang="en-US" altLang="ko-KR" sz="18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1800" b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ko-KR" altLang="en-US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800" b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1800" b="1" i="1"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ko-KR" altLang="en-US" sz="1800" b="1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d>
                            <m:dPr>
                              <m:ctrlP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ko-KR" alt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sz="1800" b="1" i="1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func>
                          <m:d>
                            <m:dPr>
                              <m:ctrlP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d>
                                <m:dPr>
                                  <m:ctrlPr>
                                    <a:rPr lang="ko-KR" alt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8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800" b="1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“D</a:t>
                </a:r>
                <a:r>
                  <a:rPr lang="ko-KR" altLang="en-US" sz="1600" dirty="0"/>
                  <a:t>가 가짜를 진짜로 믿도록 </a:t>
                </a:r>
                <a:r>
                  <a:rPr lang="ko-KR" altLang="en-US" sz="1600" dirty="0" err="1"/>
                  <a:t>하자”라는</a:t>
                </a:r>
                <a:r>
                  <a:rPr lang="ko-KR" altLang="en-US" sz="1600" dirty="0"/>
                  <a:t> 방향으로 학습한다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B21D5B12-629B-F18F-EE9D-F46C7AD9B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47666" y="890764"/>
                <a:ext cx="10011747" cy="5787927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A3D5404C-0F61-104E-8330-36218A5FDFC8}"/>
              </a:ext>
            </a:extLst>
          </p:cNvPr>
          <p:cNvSpPr txBox="1">
            <a:spLocks/>
          </p:cNvSpPr>
          <p:nvPr/>
        </p:nvSpPr>
        <p:spPr>
          <a:xfrm>
            <a:off x="2020781" y="17930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661FAC-D7C2-AA2E-F3F7-DF5D033DD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815" y="4111299"/>
            <a:ext cx="3691308" cy="4657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1098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186E-1D6B-B4FF-8C95-D80F64A8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0275199-B9F3-89B7-2766-95B99DA213C7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147666" y="1180015"/>
                <a:ext cx="10011747" cy="515547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GAN</a:t>
                </a:r>
                <a:r>
                  <a:rPr lang="ko-KR" altLang="en-US" sz="1800" b="1" dirty="0"/>
                  <a:t>의 수학적 표현</a:t>
                </a:r>
                <a:endParaRPr lang="en-US" altLang="ko-KR" sz="18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b="1" dirty="0"/>
                  <a:t>GAN</a:t>
                </a:r>
                <a:r>
                  <a:rPr lang="ko-KR" altLang="en-US" sz="1600" b="1" dirty="0"/>
                  <a:t>의 기본 목적함수 </a:t>
                </a:r>
                <a:r>
                  <a:rPr lang="en-US" altLang="ko-KR" sz="1600" b="1" dirty="0"/>
                  <a:t>(Minimax Game)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종합하면 전체 학습은 다음의 </a:t>
                </a:r>
                <a:r>
                  <a:rPr lang="ko-KR" altLang="en-US" sz="1600" b="1" dirty="0"/>
                  <a:t>적대적 게임</a:t>
                </a:r>
                <a:r>
                  <a:rPr lang="en-US" altLang="ko-KR" sz="1600" b="1" dirty="0"/>
                  <a:t>(adversarial game)</a:t>
                </a:r>
                <a:r>
                  <a:rPr lang="ko-KR" altLang="en-US" sz="1600" dirty="0"/>
                  <a:t> 으로 표현된다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진짜와 가짜를 구분 </a:t>
                </a:r>
                <a:r>
                  <a:rPr lang="en-US" altLang="ko-KR" sz="1600" dirty="0"/>
                  <a:t>(maximize)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600" dirty="0"/>
                  <a:t>를 키워서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ko-KR" altLang="en-US" sz="1600" dirty="0"/>
                  <a:t>를 속임 </a:t>
                </a:r>
                <a:r>
                  <a:rPr lang="en-US" altLang="ko-KR" sz="1600" dirty="0"/>
                  <a:t>(minimize)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0275199-B9F3-89B7-2766-95B99DA21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147666" y="1180015"/>
                <a:ext cx="10011747" cy="5155471"/>
              </a:xfr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1">
            <a:extLst>
              <a:ext uri="{FF2B5EF4-FFF2-40B4-BE49-F238E27FC236}">
                <a16:creationId xmlns:a16="http://schemas.microsoft.com/office/drawing/2014/main" id="{5848A18F-9854-B176-B651-F2836914DE88}"/>
              </a:ext>
            </a:extLst>
          </p:cNvPr>
          <p:cNvSpPr txBox="1">
            <a:spLocks/>
          </p:cNvSpPr>
          <p:nvPr/>
        </p:nvSpPr>
        <p:spPr>
          <a:xfrm>
            <a:off x="2020781" y="263288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이란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A6BED9-7390-9523-2AFA-74BCBC14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553" y="2688924"/>
            <a:ext cx="7971021" cy="6047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7219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111B-6E0B-EC4A-0795-56F72BA8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634482-24CC-6614-F610-14D1EAD6FB7E}"/>
              </a:ext>
            </a:extLst>
          </p:cNvPr>
          <p:cNvSpPr txBox="1"/>
          <p:nvPr/>
        </p:nvSpPr>
        <p:spPr>
          <a:xfrm>
            <a:off x="538845" y="233519"/>
            <a:ext cx="5460739" cy="634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latent_dim</a:t>
            </a:r>
            <a:r>
              <a:rPr lang="ko-KR" altLang="en-US" sz="1400" dirty="0"/>
              <a:t> = 100  # </a:t>
            </a:r>
            <a:r>
              <a:rPr lang="ko-KR" altLang="en-US" sz="1400" dirty="0" err="1"/>
              <a:t>z</a:t>
            </a:r>
            <a:r>
              <a:rPr lang="ko-KR" altLang="en-US" sz="1400" dirty="0"/>
              <a:t> ~ </a:t>
            </a:r>
            <a:r>
              <a:rPr lang="ko-KR" altLang="en-US" sz="1400" dirty="0" err="1"/>
              <a:t>p_z</a:t>
            </a:r>
            <a:r>
              <a:rPr lang="ko-KR" altLang="en-US" sz="1400" dirty="0"/>
              <a:t>(</a:t>
            </a:r>
            <a:r>
              <a:rPr lang="ko-KR" altLang="en-US" sz="1400" dirty="0" err="1"/>
              <a:t>z</a:t>
            </a:r>
            <a:r>
              <a:rPr lang="ko-KR" altLang="en-US" sz="1400" dirty="0"/>
              <a:t>)</a:t>
            </a:r>
          </a:p>
          <a:p>
            <a:endParaRPr lang="ko-KR" altLang="en-US" sz="1400" dirty="0"/>
          </a:p>
          <a:p>
            <a:r>
              <a:rPr lang="ko-KR" altLang="en-US" sz="1400" dirty="0"/>
              <a:t># 1. </a:t>
            </a:r>
            <a:r>
              <a:rPr lang="ko-KR" altLang="en-US" sz="1400" dirty="0" err="1"/>
              <a:t>Generator</a:t>
            </a:r>
            <a:endParaRPr lang="ko-KR" altLang="en-US" sz="1400" dirty="0"/>
          </a:p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build_generator</a:t>
            </a:r>
            <a:r>
              <a:rPr lang="ko-KR" altLang="en-US" sz="1400" dirty="0"/>
              <a:t>():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tf.keras.Sequential</a:t>
            </a:r>
            <a:r>
              <a:rPr lang="ko-KR" altLang="en-US" sz="1400" dirty="0"/>
              <a:t>([</a:t>
            </a:r>
          </a:p>
          <a:p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ko-KR" altLang="en-US" sz="1400" dirty="0"/>
              <a:t>       </a:t>
            </a:r>
            <a:r>
              <a:rPr lang="ko-KR" altLang="en-US" sz="1400" dirty="0" err="1"/>
              <a:t>layers.Dense</a:t>
            </a:r>
            <a:r>
              <a:rPr lang="ko-KR" altLang="en-US" sz="1400" dirty="0"/>
              <a:t>(128, </a:t>
            </a:r>
            <a:r>
              <a:rPr lang="ko-KR" altLang="en-US" sz="1400" dirty="0" err="1"/>
              <a:t>activation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relu</a:t>
            </a:r>
            <a:r>
              <a:rPr lang="ko-KR" altLang="en-US" sz="1400" dirty="0"/>
              <a:t>", </a:t>
            </a:r>
            <a:r>
              <a:rPr lang="ko-KR" altLang="en-US" sz="1400" dirty="0" err="1"/>
              <a:t>input_dim</a:t>
            </a:r>
            <a:r>
              <a:rPr lang="ko-KR" altLang="en-US" sz="1400" dirty="0"/>
              <a:t>=</a:t>
            </a:r>
            <a:r>
              <a:rPr lang="ko-KR" altLang="en-US" sz="1400" dirty="0" err="1"/>
              <a:t>latent_dim</a:t>
            </a:r>
            <a:r>
              <a:rPr lang="ko-KR" altLang="en-US" sz="1400" dirty="0"/>
              <a:t>),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layers.Dense</a:t>
            </a:r>
            <a:r>
              <a:rPr lang="ko-KR" altLang="en-US" sz="1400" dirty="0"/>
              <a:t>(784, </a:t>
            </a:r>
            <a:r>
              <a:rPr lang="ko-KR" altLang="en-US" sz="1400" dirty="0" err="1"/>
              <a:t>activation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sigmoid</a:t>
            </a:r>
            <a:r>
              <a:rPr lang="ko-KR" altLang="en-US" sz="1400" dirty="0"/>
              <a:t>"),  # 28x28=784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layers.Reshape</a:t>
            </a:r>
            <a:r>
              <a:rPr lang="ko-KR" altLang="en-US" sz="1400" dirty="0"/>
              <a:t>((28, 28, 1))</a:t>
            </a:r>
          </a:p>
          <a:p>
            <a:r>
              <a:rPr lang="ko-KR" altLang="en-US" sz="1400" dirty="0"/>
              <a:t>    ])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# 2. </a:t>
            </a:r>
            <a:r>
              <a:rPr lang="ko-KR" altLang="en-US" sz="1400" dirty="0" err="1"/>
              <a:t>Discriminator</a:t>
            </a:r>
            <a:endParaRPr lang="ko-KR" altLang="en-US" sz="1400" dirty="0"/>
          </a:p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build_discriminator</a:t>
            </a:r>
            <a:r>
              <a:rPr lang="ko-KR" altLang="en-US" sz="1400" dirty="0"/>
              <a:t>():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tf.keras.Sequential</a:t>
            </a:r>
            <a:r>
              <a:rPr lang="ko-KR" altLang="en-US" sz="1400" dirty="0"/>
              <a:t>([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layers.Flatten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input_shape</a:t>
            </a:r>
            <a:r>
              <a:rPr lang="ko-KR" altLang="en-US" sz="1400" dirty="0"/>
              <a:t>=(28,28,1)),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layers.Dense</a:t>
            </a:r>
            <a:r>
              <a:rPr lang="ko-KR" altLang="en-US" sz="1400" dirty="0"/>
              <a:t>(128, </a:t>
            </a:r>
            <a:r>
              <a:rPr lang="ko-KR" altLang="en-US" sz="1400" dirty="0" err="1"/>
              <a:t>activation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relu</a:t>
            </a:r>
            <a:r>
              <a:rPr lang="ko-KR" altLang="en-US" sz="1400" dirty="0"/>
              <a:t>"),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layers.Dense</a:t>
            </a:r>
            <a:r>
              <a:rPr lang="ko-KR" altLang="en-US" sz="1400" dirty="0"/>
              <a:t>(1, </a:t>
            </a:r>
            <a:r>
              <a:rPr lang="ko-KR" altLang="en-US" sz="1400" dirty="0" err="1"/>
              <a:t>activation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sigmoid</a:t>
            </a:r>
            <a:r>
              <a:rPr lang="ko-KR" altLang="en-US" sz="1400" dirty="0"/>
              <a:t>")   # </a:t>
            </a:r>
            <a:r>
              <a:rPr lang="ko-KR" altLang="en-US" sz="1400" dirty="0" err="1"/>
              <a:t>D</a:t>
            </a:r>
            <a:r>
              <a:rPr lang="ko-KR" altLang="en-US" sz="1400" dirty="0"/>
              <a:t>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) ∈ [0,1]</a:t>
            </a:r>
          </a:p>
          <a:p>
            <a:r>
              <a:rPr lang="ko-KR" altLang="en-US" sz="1400" dirty="0"/>
              <a:t>    ])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# 3.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 초기화</a:t>
            </a:r>
          </a:p>
          <a:p>
            <a:r>
              <a:rPr lang="ko-KR" altLang="en-US" sz="1400" dirty="0" err="1"/>
              <a:t>G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build_generator</a:t>
            </a:r>
            <a:r>
              <a:rPr lang="ko-KR" altLang="en-US" sz="1400" dirty="0"/>
              <a:t>()</a:t>
            </a:r>
          </a:p>
          <a:p>
            <a:r>
              <a:rPr lang="ko-KR" altLang="en-US" sz="1400" dirty="0" err="1"/>
              <a:t>D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build_discriminator</a:t>
            </a:r>
            <a:r>
              <a:rPr lang="ko-KR" altLang="en-US" sz="1400" dirty="0"/>
              <a:t>()</a:t>
            </a:r>
          </a:p>
          <a:p>
            <a:endParaRPr lang="ko-KR" altLang="en-US" sz="1400" dirty="0"/>
          </a:p>
          <a:p>
            <a:r>
              <a:rPr lang="ko-KR" altLang="en-US" sz="1400" dirty="0"/>
              <a:t># </a:t>
            </a:r>
            <a:r>
              <a:rPr lang="ko-KR" altLang="en-US" sz="1400" dirty="0" err="1"/>
              <a:t>Optimizers</a:t>
            </a:r>
            <a:endParaRPr lang="ko-KR" altLang="en-US" sz="1400" dirty="0"/>
          </a:p>
          <a:p>
            <a:r>
              <a:rPr lang="ko-KR" altLang="en-US" sz="1400" dirty="0" err="1"/>
              <a:t>optimizer_G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tf.keras.optimizers.Adam</a:t>
            </a:r>
            <a:r>
              <a:rPr lang="ko-KR" altLang="en-US" sz="1400" dirty="0"/>
              <a:t>(1e-4)</a:t>
            </a:r>
          </a:p>
          <a:p>
            <a:r>
              <a:rPr lang="ko-KR" altLang="en-US" sz="1400" dirty="0" err="1"/>
              <a:t>optimizer_D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tf.keras.optimizers.Adam</a:t>
            </a:r>
            <a:r>
              <a:rPr lang="ko-KR" altLang="en-US" sz="1400" dirty="0"/>
              <a:t>(1e-4)</a:t>
            </a:r>
          </a:p>
          <a:p>
            <a:r>
              <a:rPr lang="ko-KR" altLang="en-US" sz="1400" dirty="0" err="1"/>
              <a:t>bce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tf.keras.losses.BinaryCrossentropy</a:t>
            </a:r>
            <a:r>
              <a:rPr lang="ko-KR" altLang="en-US" sz="1400" dirty="0"/>
              <a:t>(</a:t>
            </a:r>
            <a:r>
              <a:rPr lang="ko-KR" altLang="en-US" sz="1400" dirty="0" err="1"/>
              <a:t>from_logits</a:t>
            </a:r>
            <a:r>
              <a:rPr lang="ko-KR" altLang="en-US" sz="1400" dirty="0"/>
              <a:t>=</a:t>
            </a:r>
            <a:r>
              <a:rPr lang="ko-KR" altLang="en-US" sz="1400" dirty="0" err="1"/>
              <a:t>False</a:t>
            </a:r>
            <a:r>
              <a:rPr lang="ko-KR" altLang="en-US" sz="1400" dirty="0"/>
              <a:t>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D20CFF5-A9FC-F7F0-A299-1A9BE1DA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418" y="75732"/>
            <a:ext cx="5811061" cy="6706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5600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9540D-B744-04F0-661F-9FF319D9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0E4D8EE-584F-4EA0-F176-3CFA99E69D15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GAN</a:t>
                </a:r>
                <a:r>
                  <a:rPr lang="ko-KR" altLang="en-US" sz="1600" dirty="0"/>
                  <a:t>의 수학식 첫번째 항</a:t>
                </a:r>
                <a:r>
                  <a:rPr lang="en-US" altLang="ko-KR" sz="16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ko-KR" altLang="en-US" sz="2000" b="1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𝒅𝒂𝒕𝒂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ko-KR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func>
                          <m:d>
                            <m:dPr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b="1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“진짜 데이터를 진짜로 맞히는 </a:t>
                </a:r>
                <a:r>
                  <a:rPr lang="ko-KR" altLang="en-US" sz="1600" dirty="0" err="1"/>
                  <a:t>정도”를</a:t>
                </a:r>
                <a:r>
                  <a:rPr lang="ko-KR" altLang="en-US" sz="1600" dirty="0"/>
                  <a:t> 나타낸다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항을 </a:t>
                </a:r>
                <a:r>
                  <a:rPr lang="en-US" altLang="ko-KR" sz="1600" b="1" dirty="0"/>
                  <a:t>Binary Cross Entropy (BCE)</a:t>
                </a:r>
                <a:r>
                  <a:rPr lang="ko-KR" altLang="en-US" sz="1600" dirty="0"/>
                  <a:t> 형태로 구현한 것이 바로 </a:t>
                </a:r>
                <a:r>
                  <a:rPr lang="en-US" altLang="ko-KR" sz="1600" dirty="0" err="1"/>
                  <a:t>d_loss_real</a:t>
                </a:r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dirty="0"/>
                  <a:t>                   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d_loss_real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=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bce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tf.ones_like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real_preds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),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real_preds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  <a:p>
                <a:pPr marL="914400" lvl="2" indent="0">
                  <a:buNone/>
                </a:pPr>
                <a:r>
                  <a:rPr lang="en-US" altLang="ko-KR" sz="1600" dirty="0"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lit/>
                      </m:rPr>
                      <a:rPr lang="en-US" altLang="ko-KR" sz="1600"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𝑙𝑜𝑠𝑠</m:t>
                    </m:r>
                    <m:r>
                      <m:rPr>
                        <m:lit/>
                      </m:rPr>
                      <a:rPr lang="en-US" altLang="ko-KR" sz="1600"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60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ko-KR" alt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altLang="ko-KR" sz="1600">
                            <a:latin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ar-AE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ar-AE" sz="1600" i="1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altLang="ko-KR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ko-KR" altLang="ar-AE" sz="16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func>
                        <m:d>
                          <m:dPr>
                            <m:ctrlPr>
                              <a:rPr lang="ar-AE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600" dirty="0"/>
                  <a:t>을 계산한다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0E4D8EE-584F-4EA0-F176-3CFA99E69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1D3FD432-22D8-5E4E-C436-26CAE7D8C95B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EFB699-6708-630C-5342-1564EBE6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758" y="3972354"/>
            <a:ext cx="7811590" cy="18290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F37198-7BF7-38AF-20F9-FF129E0EFCB0}"/>
              </a:ext>
            </a:extLst>
          </p:cNvPr>
          <p:cNvSpPr txBox="1"/>
          <p:nvPr/>
        </p:nvSpPr>
        <p:spPr>
          <a:xfrm>
            <a:off x="2852835" y="6408870"/>
            <a:ext cx="8381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(※ TensorFlow</a:t>
            </a:r>
            <a:r>
              <a:rPr lang="ko-KR" altLang="en-US" sz="1400" dirty="0"/>
              <a:t>의 </a:t>
            </a:r>
            <a:r>
              <a:rPr lang="en-US" altLang="ko-KR" sz="1400" dirty="0"/>
              <a:t>BCE</a:t>
            </a:r>
            <a:r>
              <a:rPr lang="ko-KR" altLang="en-US" sz="1400" dirty="0"/>
              <a:t>는 “</a:t>
            </a:r>
            <a:r>
              <a:rPr lang="en-US" altLang="ko-KR" sz="1400" dirty="0"/>
              <a:t>loss”</a:t>
            </a:r>
            <a:r>
              <a:rPr lang="ko-KR" altLang="en-US" sz="1400" dirty="0"/>
              <a:t>를 계산하므로 부호가 반대이다 </a:t>
            </a:r>
            <a:r>
              <a:rPr lang="en-US" altLang="ko-KR" sz="1400" dirty="0"/>
              <a:t>— </a:t>
            </a:r>
            <a:r>
              <a:rPr lang="ko-KR" altLang="en-US" sz="1400" dirty="0"/>
              <a:t>최소화할 수 있도록 마이너스 포함</a:t>
            </a:r>
            <a:r>
              <a:rPr lang="en-US" altLang="ko-KR" sz="1400" dirty="0"/>
              <a:t>.)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99297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AA13-46FF-72B5-3BBC-3F76E597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BA31DB9-7228-5EFE-4DA6-9D7933C524D3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BCE</a:t>
                </a:r>
                <a:r>
                  <a:rPr lang="ko-KR" altLang="en-US" sz="1600" dirty="0"/>
                  <a:t>의 수식과 연결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Binary Cross Entropy(BCE)</a:t>
                </a:r>
                <a:r>
                  <a:rPr lang="ko-KR" altLang="en-US" sz="1600" dirty="0"/>
                  <a:t>는 다음과 같다</a:t>
                </a:r>
                <a:r>
                  <a:rPr lang="en-US" altLang="ko-KR" sz="1600" dirty="0"/>
                  <a:t>: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여기서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진짜 데이터의 경우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600" dirty="0"/>
                  <a:t>따라서 </a:t>
                </a:r>
                <a:r>
                  <a:rPr lang="en-US" altLang="ko-KR" sz="1600" dirty="0"/>
                  <a:t>BCE</a:t>
                </a:r>
                <a:r>
                  <a:rPr lang="ko-KR" altLang="en-US" sz="1600" dirty="0"/>
                  <a:t>는</a:t>
                </a:r>
                <a:endParaRPr lang="en-US" altLang="ko-KR" sz="16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</a:t>
                </a:r>
                <a:endParaRPr lang="en-US" altLang="ko-KR" sz="16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lit/>
                      </m:rPr>
                      <a:rPr lang="en-US" altLang="ko-KR" sz="1600"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𝑙𝑜𝑠𝑠</m:t>
                    </m:r>
                    <m:r>
                      <m:rPr>
                        <m:lit/>
                      </m:rPr>
                      <a:rPr lang="en-US" altLang="ko-KR" sz="1600">
                        <a:latin typeface="Cambria Math" panose="02040503050406030204" pitchFamily="18" charset="0"/>
                      </a:rPr>
                      <m:t>_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func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1600" dirty="0"/>
                  <a:t>이 된다</a:t>
                </a:r>
                <a:r>
                  <a:rPr lang="en-US" altLang="ko-KR" sz="1600" dirty="0"/>
                  <a:t>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→ </a:t>
                </a:r>
                <a:r>
                  <a:rPr lang="ko-KR" altLang="en-US" sz="1600" dirty="0"/>
                  <a:t>수학식의 첫 번째 항과 완전히 동일하다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BA31DB9-7228-5EFE-4DA6-9D7933C524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C4093D7A-C5B4-7CA6-8B7B-D81CD79C5931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2B1365-5C4A-2D96-1242-6B4DD7EC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034" y="2697096"/>
            <a:ext cx="5190349" cy="4796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6F40B5-242E-FEDD-C6AD-961A3244A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786" y="4759163"/>
            <a:ext cx="5390653" cy="4796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309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2494-DDD6-2FE1-21D8-A96CEE08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C75FCB0-736A-F201-4661-B1974486486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05367"/>
                <a:ext cx="9171991" cy="5584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GAN</a:t>
                </a:r>
                <a:r>
                  <a:rPr lang="ko-KR" altLang="en-US" sz="1600" dirty="0"/>
                  <a:t>의 수학식 두 번째 항</a:t>
                </a:r>
                <a:r>
                  <a:rPr lang="en-US" altLang="ko-KR" sz="1600" dirty="0"/>
                  <a:t>: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ko-KR" altLang="en-US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“가짜 데이터를 가짜로 맞히는 </a:t>
                </a:r>
                <a:r>
                  <a:rPr lang="ko-KR" altLang="en-US" sz="1600" dirty="0" err="1"/>
                  <a:t>정도”를</a:t>
                </a:r>
                <a:r>
                  <a:rPr lang="ko-KR" altLang="en-US" sz="1600" dirty="0"/>
                  <a:t> 나타낸다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항을 </a:t>
                </a:r>
                <a:r>
                  <a:rPr lang="en-US" altLang="ko-KR" sz="1600" b="1" dirty="0"/>
                  <a:t>Binary Cross Entropy (BCE)</a:t>
                </a:r>
                <a:r>
                  <a:rPr lang="ko-KR" altLang="en-US" sz="1600" dirty="0"/>
                  <a:t> 형태로 구현한 것이 </a:t>
                </a:r>
                <a:r>
                  <a:rPr lang="en-US" altLang="ko-KR" sz="1600" dirty="0" err="1"/>
                  <a:t>d_loss_fake</a:t>
                </a:r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b="1" dirty="0">
                    <a:solidFill>
                      <a:srgbClr val="0070C0"/>
                    </a:solidFill>
                  </a:rPr>
                  <a:t>                    </a:t>
                </a:r>
                <a:r>
                  <a:rPr lang="nb-NO" altLang="ko-KR" sz="1600" b="1" dirty="0">
                    <a:solidFill>
                      <a:srgbClr val="FF0000"/>
                    </a:solidFill>
                  </a:rPr>
                  <a:t>d_loss_fake = bce(tf.zeros_like(fake_preds), fake_preds)</a:t>
                </a:r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BCE</a:t>
                </a:r>
                <a:r>
                  <a:rPr lang="ko-KR" altLang="en-US" sz="1600" dirty="0"/>
                  <a:t>의 수학식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y = 0 </a:t>
                </a:r>
                <a:r>
                  <a:rPr lang="ko-KR" altLang="en-US" sz="1600" dirty="0"/>
                  <a:t>을 대입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여기서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dirty="0"/>
                  <a:t>(</a:t>
                </a:r>
                <a:r>
                  <a:rPr lang="ko-KR" altLang="en-US" sz="1600" dirty="0"/>
                  <a:t>가짜</a:t>
                </a:r>
                <a:r>
                  <a:rPr lang="en-US" altLang="ko-KR" sz="1600" dirty="0"/>
                  <a:t>)</a:t>
                </a:r>
                <a:r>
                  <a:rPr lang="ko-KR" altLang="en-US" sz="1600" dirty="0"/>
                  <a:t>이므로</a:t>
                </a:r>
                <a:r>
                  <a:rPr lang="en-US" altLang="ko-KR" sz="1600" dirty="0"/>
                  <a:t>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C75FCB0-736A-F201-4661-B19744864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05367"/>
                <a:ext cx="9171991" cy="5584679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B45C478A-CB06-3570-1FCD-F1DD66064752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678920-7ED5-5747-371E-6B0B6011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758" y="2194386"/>
            <a:ext cx="3519978" cy="493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A0DE34-9158-3F14-79A9-8A9378DB9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071" y="4764135"/>
            <a:ext cx="4789937" cy="4935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6336C3E-91C7-0E3B-EBCC-7D8DF38FB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377" y="6133774"/>
            <a:ext cx="6035225" cy="4030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7497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A74C-66CC-1EE1-79E8-95554376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A03AD62-6556-E14B-116C-AEB77632E55F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en-US" altLang="ko-KR" sz="1600" dirty="0"/>
                  <a:t>GAN</a:t>
                </a:r>
                <a:r>
                  <a:rPr lang="ko-KR" altLang="en-US" sz="1600" dirty="0"/>
                  <a:t>의 수학식 두 번째 항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계속</a:t>
                </a:r>
                <a:r>
                  <a:rPr lang="en-US" altLang="ko-KR" sz="1600" dirty="0"/>
                  <a:t>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ko-KR" altLang="en-US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600" dirty="0"/>
                  <a:t>로 대체하면</a:t>
                </a:r>
                <a:r>
                  <a:rPr lang="en-US" altLang="ko-KR" sz="1600" dirty="0"/>
                  <a:t>: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914400" lvl="2" indent="0">
                  <a:buNone/>
                </a:pPr>
                <a:r>
                  <a:rPr lang="en-US" altLang="ko-KR" sz="1600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sz="1600" dirty="0"/>
                  <a:t>GAN </a:t>
                </a:r>
                <a:r>
                  <a:rPr lang="ko-KR" altLang="en-US" sz="1600" dirty="0"/>
                  <a:t>논문에서의 두 번째 항과 완전히 일치한다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A03AD62-6556-E14B-116C-AEB77632E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278E4695-7BDB-7849-C7D0-910F0431E895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967795-39D3-5F57-3621-8628B939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988" y="2282743"/>
            <a:ext cx="3519978" cy="493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7C0F805-473F-77DE-69E7-8072738E3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988" y="3429000"/>
            <a:ext cx="4426024" cy="6428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D55A0D-6585-368F-AEB8-05E120268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6205" y="4822552"/>
            <a:ext cx="7963802" cy="16062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4382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607CF-E460-365E-B9A3-E931D91F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52B9062-3E84-09EA-D4B8-99E8A89B273C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6"/>
                <a:ext cx="9171991" cy="53607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/>
                  <a:t>전체 </a:t>
                </a:r>
                <a:r>
                  <a:rPr lang="en-US" altLang="ko-KR" sz="1600" dirty="0"/>
                  <a:t>Discriminator </a:t>
                </a:r>
                <a:r>
                  <a:rPr lang="ko-KR" altLang="en-US" sz="1600" dirty="0"/>
                  <a:t>손실로 결합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ko-KR" altLang="en-US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Discriminator</a:t>
                </a:r>
                <a:r>
                  <a:rPr lang="ko-KR" altLang="en-US" sz="1600" dirty="0"/>
                  <a:t>는 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ko-KR" altLang="en-US" sz="1600" dirty="0"/>
                  <a:t>를 최소화함으로써</a:t>
                </a:r>
                <a:br>
                  <a:rPr lang="ko-KR" altLang="en-US" sz="1600" dirty="0"/>
                </a:br>
                <a:r>
                  <a:rPr lang="ko-KR" altLang="en-US" sz="1600" dirty="0"/>
                  <a:t>“진짜는 </a:t>
                </a:r>
                <a:r>
                  <a:rPr lang="en-US" altLang="ko-KR" sz="1600" dirty="0"/>
                  <a:t>1, </a:t>
                </a:r>
                <a:r>
                  <a:rPr lang="ko-KR" altLang="en-US" sz="1600" dirty="0"/>
                  <a:t>가짜는 </a:t>
                </a:r>
                <a:r>
                  <a:rPr lang="en-US" altLang="ko-KR" sz="1600" dirty="0"/>
                  <a:t>0”</a:t>
                </a:r>
                <a:r>
                  <a:rPr lang="ko-KR" altLang="en-US" sz="1600" dirty="0"/>
                  <a:t>으로 구분하도록 학습한다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52B9062-3E84-09EA-D4B8-99E8A89B2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6"/>
                <a:ext cx="9171991" cy="5360744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7D31E770-CEB6-3C8A-E762-7A2FE7EB3AA6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8193C1-CE25-68E4-F6A4-B1B011A2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403" y="2314938"/>
            <a:ext cx="4060203" cy="464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075AA1-7EB0-1440-9E32-EA43DDE71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403" y="3492547"/>
            <a:ext cx="5439367" cy="4647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2810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31F4-CB41-8CC0-A535-460298D6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DE49266-BDF2-ACDA-6F18-23A0CA2FFC99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/>
                  <a:t>생성자</a:t>
                </a:r>
                <a:r>
                  <a:rPr lang="en-US" altLang="ko-KR" sz="1600" dirty="0"/>
                  <a:t>(Generator)</a:t>
                </a:r>
                <a:r>
                  <a:rPr lang="ko-KR" altLang="en-US" sz="1600" dirty="0"/>
                  <a:t>의 손실 함수</a:t>
                </a:r>
                <a:r>
                  <a:rPr lang="en-US" altLang="ko-KR" sz="1600" dirty="0"/>
                  <a:t>: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dirty="0"/>
                  <a:t>                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g_loss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=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bce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tf.ones_like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fake_preds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),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fake_preds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en-US" altLang="ko-KR" sz="1700" dirty="0"/>
                  <a:t>TensorFlow</a:t>
                </a:r>
                <a:r>
                  <a:rPr lang="ko-KR" altLang="en-US" sz="1700" dirty="0"/>
                  <a:t>의 </a:t>
                </a:r>
                <a:r>
                  <a:rPr lang="en-US" altLang="ko-KR" sz="1700" dirty="0" err="1"/>
                  <a:t>BinaryCrossentropy</a:t>
                </a:r>
                <a:r>
                  <a:rPr lang="ko-KR" altLang="en-US" sz="1700" dirty="0"/>
                  <a:t> 정의는 다음과 같다</a:t>
                </a:r>
                <a:r>
                  <a:rPr lang="en-US" altLang="ko-KR" sz="17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7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7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700" dirty="0"/>
                  <a:t>여기서</a:t>
                </a:r>
                <a:endParaRPr lang="en-US" altLang="ko-KR" sz="1700" i="1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r>
                      <a:rPr lang="ko-KR" alt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5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500" dirty="0"/>
                  <a:t>: </a:t>
                </a:r>
                <a:r>
                  <a:rPr lang="ko-KR" altLang="en-US" sz="1500" dirty="0"/>
                  <a:t>진짜</a:t>
                </a:r>
                <a:r>
                  <a:rPr lang="en-US" altLang="ko-KR" sz="1500" dirty="0"/>
                  <a:t>(Real)</a:t>
                </a:r>
                <a:endParaRPr lang="en-US" altLang="ko-KR" sz="17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7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7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7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700" dirty="0"/>
                  <a:t>: </a:t>
                </a:r>
                <a:r>
                  <a:rPr lang="ko-KR" altLang="en-US" sz="1700" dirty="0"/>
                  <a:t>판별자가 생성자의 출력을 진짜로 인식할 확률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대입하면</a:t>
                </a:r>
                <a:r>
                  <a:rPr lang="en-US" altLang="ko-KR" sz="1600" dirty="0"/>
                  <a:t>: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:r>
                  <a:rPr lang="ko-KR" altLang="en-US" sz="1600" b="1" dirty="0"/>
                  <a:t>생성자가 만들어낸 가짜 데이터가 판별자에게 진짜처럼 보이게 하려는 손실</a:t>
                </a:r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DE49266-BDF2-ACDA-6F18-23A0CA2FF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5"/>
                <a:ext cx="9171991" cy="5584679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17EFB40-8C1E-02F9-DF59-E95EA0E53348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F90414-3C19-663E-64C7-A1B28CC1E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594" y="3226608"/>
            <a:ext cx="5029761" cy="4280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9C561B-90C6-F3C1-E495-38F292CC4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194" y="5506786"/>
            <a:ext cx="3040957" cy="388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8711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70C4-54AD-50DF-DC45-1C881206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D0A9436-2428-6447-EF82-BEEBECAD07D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43404" y="1180015"/>
            <a:ext cx="9171991" cy="558467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ko-KR" sz="1800" b="1" dirty="0"/>
              <a:t> </a:t>
            </a:r>
            <a:r>
              <a:rPr lang="en-US" altLang="ko-KR" sz="1900" b="1" dirty="0"/>
              <a:t>GAN</a:t>
            </a:r>
            <a:r>
              <a:rPr lang="ko-KR" altLang="en-US" sz="1900" b="1" dirty="0"/>
              <a:t>의 프로그램 해석</a:t>
            </a:r>
            <a:endParaRPr lang="en-US" altLang="ko-KR" sz="1900" b="1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ko-KR" altLang="en-US" sz="1600" dirty="0"/>
              <a:t>의미요약</a:t>
            </a:r>
            <a:r>
              <a:rPr lang="en-US" altLang="ko-KR" sz="1600" dirty="0"/>
              <a:t>: </a:t>
            </a:r>
            <a:r>
              <a:rPr lang="en-US" altLang="ko-KR" sz="1600" b="1" dirty="0" err="1">
                <a:solidFill>
                  <a:srgbClr val="FF0000"/>
                </a:solidFill>
              </a:rPr>
              <a:t>g_loss</a:t>
            </a:r>
            <a:r>
              <a:rPr lang="en-US" altLang="ko-KR" sz="1600" b="1" dirty="0">
                <a:solidFill>
                  <a:srgbClr val="FF0000"/>
                </a:solidFill>
              </a:rPr>
              <a:t> = </a:t>
            </a:r>
            <a:r>
              <a:rPr lang="en-US" altLang="ko-KR" sz="1600" b="1" dirty="0" err="1">
                <a:solidFill>
                  <a:srgbClr val="FF0000"/>
                </a:solidFill>
              </a:rPr>
              <a:t>bce</a:t>
            </a:r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en-US" altLang="ko-KR" sz="1600" b="1" dirty="0" err="1">
                <a:solidFill>
                  <a:srgbClr val="FF0000"/>
                </a:solidFill>
              </a:rPr>
              <a:t>tf.ones_like</a:t>
            </a:r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en-US" altLang="ko-KR" sz="1600" b="1" dirty="0" err="1">
                <a:solidFill>
                  <a:srgbClr val="FF0000"/>
                </a:solidFill>
              </a:rPr>
              <a:t>fake_preds</a:t>
            </a:r>
            <a:r>
              <a:rPr lang="en-US" altLang="ko-KR" sz="1600" b="1" dirty="0">
                <a:solidFill>
                  <a:srgbClr val="FF0000"/>
                </a:solidFill>
              </a:rPr>
              <a:t>), </a:t>
            </a:r>
            <a:r>
              <a:rPr lang="en-US" altLang="ko-KR" sz="1600" b="1" dirty="0" err="1">
                <a:solidFill>
                  <a:srgbClr val="FF0000"/>
                </a:solidFill>
              </a:rPr>
              <a:t>fake_preds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ko-KR" altLang="en-US" sz="1600" dirty="0"/>
              <a:t>직관적 해석</a:t>
            </a:r>
            <a:endParaRPr lang="en-US" altLang="ko-KR" sz="1600" dirty="0"/>
          </a:p>
          <a:p>
            <a:pPr lvl="1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en-US" altLang="ko-KR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45E47E-7501-27B7-4FBC-3F8B6754454F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BE1E58-2D0B-8CC6-DD9A-500D7F8A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063" y="2166626"/>
            <a:ext cx="7516274" cy="1829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622E40-689E-5B55-79CA-67D223B63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832" y="4717279"/>
            <a:ext cx="7830643" cy="17528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5099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BD52-50DC-B085-7103-6101BB2A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7B4530F-6CDF-7FCA-8269-1F7B5831455B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2043404" y="1180015"/>
                <a:ext cx="9423918" cy="51181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600" dirty="0" err="1"/>
                  <a:t>비포화</a:t>
                </a:r>
                <a:r>
                  <a:rPr lang="en-US" altLang="ko-KR" sz="1600" dirty="0"/>
                  <a:t>(non-saturating) </a:t>
                </a:r>
                <a:r>
                  <a:rPr lang="ko-KR" altLang="en-US" sz="1600" dirty="0"/>
                  <a:t>손실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원래 </a:t>
                </a:r>
                <a:r>
                  <a:rPr lang="en-US" altLang="ko-KR" sz="1600" dirty="0"/>
                  <a:t>GAN </a:t>
                </a:r>
                <a:r>
                  <a:rPr lang="ko-KR" altLang="en-US" sz="1600" dirty="0"/>
                  <a:t>논문에서는</a:t>
                </a: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을 사용했지만</a:t>
                </a:r>
                <a:r>
                  <a:rPr lang="en-US" altLang="ko-KR" sz="1600" dirty="0"/>
                  <a:t>,</a:t>
                </a:r>
                <a:br>
                  <a:rPr lang="en-US" altLang="ko-KR" sz="1600" dirty="0"/>
                </a:br>
                <a:r>
                  <a:rPr lang="ko-KR" altLang="en-US" sz="1600" dirty="0"/>
                  <a:t>이 경우 초기에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ko-KR" altLang="en-US" sz="16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600" dirty="0"/>
                  <a:t>이면 기울기가 매우 작아 </a:t>
                </a:r>
                <a:r>
                  <a:rPr lang="ko-KR" altLang="en-US" sz="1600" b="1" dirty="0"/>
                  <a:t>학습이 잘 안 되는 문제</a:t>
                </a:r>
                <a:r>
                  <a:rPr lang="ko-KR" altLang="en-US" sz="1600" dirty="0"/>
                  <a:t>가 있다</a:t>
                </a:r>
                <a:r>
                  <a:rPr lang="en-US" altLang="ko-KR" sz="16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그래서 </a:t>
                </a:r>
                <a:r>
                  <a:rPr lang="en-US" altLang="ko-KR" sz="1600" dirty="0"/>
                  <a:t>Goodfellow</a:t>
                </a:r>
                <a:r>
                  <a:rPr lang="ko-KR" altLang="en-US" sz="1600" dirty="0"/>
                  <a:t>가 제안한 </a:t>
                </a:r>
                <a:r>
                  <a:rPr lang="ko-KR" altLang="en-US" sz="1600" b="1" dirty="0" err="1"/>
                  <a:t>비포화</a:t>
                </a:r>
                <a:r>
                  <a:rPr lang="en-US" altLang="ko-KR" sz="1600" b="1" dirty="0"/>
                  <a:t>(non-saturating) </a:t>
                </a:r>
                <a:r>
                  <a:rPr lang="ko-KR" altLang="en-US" sz="1600" b="1" dirty="0"/>
                  <a:t>손실</a:t>
                </a:r>
                <a:r>
                  <a:rPr lang="ko-KR" altLang="en-US" sz="1600" dirty="0"/>
                  <a:t>로 바꿔 쓴 것임</a:t>
                </a:r>
                <a:r>
                  <a:rPr lang="en-US" altLang="ko-KR" sz="16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  <m:sup>
                          <m:r>
                            <a:rPr lang="en-US" altLang="ko-KR" sz="20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2000" b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ko-KR" alt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ko-KR" alt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func>
                          <m:d>
                            <m:dPr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d>
                                <m:dPr>
                                  <m:ctrlPr>
                                    <a:rPr lang="ko-KR" alt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000" b="1" dirty="0"/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두 식은 같은 방향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둘 다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ko-KR" altLang="en-US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으로 학습되지만</a:t>
                </a:r>
                <a:r>
                  <a:rPr lang="en-US" altLang="ko-KR" sz="1600" dirty="0"/>
                  <a:t>,</a:t>
                </a:r>
                <a:br>
                  <a:rPr lang="en-US" altLang="ko-KR" sz="16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ko-KR" altLang="en-US" sz="1600" dirty="0"/>
                  <a:t>는 </a:t>
                </a:r>
                <a:r>
                  <a:rPr lang="en-US" altLang="ko-KR" sz="1600" dirty="0"/>
                  <a:t>gradient</a:t>
                </a:r>
                <a:r>
                  <a:rPr lang="ko-KR" altLang="en-US" sz="1600" dirty="0"/>
                  <a:t>가 커서 학습이 훨씬 안정적이다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7B4530F-6CDF-7FCA-8269-1F7B58314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043404" y="1180015"/>
                <a:ext cx="9423918" cy="5118147"/>
              </a:xfrm>
              <a:blipFill>
                <a:blip r:embed="rId2"/>
                <a:stretch>
                  <a:fillRect l="-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BDC14622-4A01-42A0-DB8E-4D0BBB27CB7B}"/>
              </a:ext>
            </a:extLst>
          </p:cNvPr>
          <p:cNvSpPr txBox="1">
            <a:spLocks/>
          </p:cNvSpPr>
          <p:nvPr/>
        </p:nvSpPr>
        <p:spPr>
          <a:xfrm>
            <a:off x="3308404" y="225964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62A490-BDFB-0BB7-178F-55FDE7F34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640" y="2739383"/>
            <a:ext cx="3352736" cy="4703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9397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4A98-860F-7FEA-BF27-7D7DF0D8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9DFEF26-F027-0E86-FF14-AD8B648F53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5940" y="774441"/>
            <a:ext cx="9524927" cy="5831632"/>
          </a:xfrm>
          <a:ln>
            <a:solidFill>
              <a:schemeClr val="bg1"/>
            </a:solidFill>
          </a:ln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ko-KR" sz="1800" b="1" dirty="0"/>
              <a:t> </a:t>
            </a:r>
            <a:r>
              <a:rPr lang="en-US" altLang="ko-KR" sz="3200" b="1" dirty="0"/>
              <a:t>GAN</a:t>
            </a:r>
            <a:r>
              <a:rPr lang="ko-KR" altLang="en-US" sz="3200" b="1" dirty="0"/>
              <a:t>의 프로그램 해석</a:t>
            </a:r>
            <a:endParaRPr lang="en-US" altLang="ko-KR" sz="3200" b="1" dirty="0"/>
          </a:p>
          <a:p>
            <a:pPr lvl="1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ko-KR" altLang="en-US" sz="2700" b="1" dirty="0">
                <a:solidFill>
                  <a:srgbClr val="FF0000"/>
                </a:solidFill>
              </a:rPr>
              <a:t>판별자가 생성자의 가짜를 어떻게 학습해서 점점 더 잘 식별하게 되는가</a:t>
            </a:r>
            <a:r>
              <a:rPr lang="en-US" altLang="ko-KR" sz="2700" b="1" dirty="0">
                <a:solidFill>
                  <a:srgbClr val="FF0000"/>
                </a:solidFill>
              </a:rPr>
              <a:t>?</a:t>
            </a:r>
          </a:p>
          <a:p>
            <a:pPr lvl="2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ko-KR" altLang="en-US" sz="2700" dirty="0" err="1"/>
              <a:t>역전파</a:t>
            </a:r>
            <a:r>
              <a:rPr lang="ko-KR" altLang="en-US" sz="2700" dirty="0"/>
              <a:t> </a:t>
            </a:r>
            <a:r>
              <a:rPr lang="en-US" altLang="ko-KR" sz="2700" dirty="0"/>
              <a:t>— </a:t>
            </a:r>
            <a:r>
              <a:rPr lang="ko-KR" altLang="en-US" sz="2700" b="1" dirty="0">
                <a:solidFill>
                  <a:srgbClr val="0070C0"/>
                </a:solidFill>
              </a:rPr>
              <a:t>가짜에 속지 않도록” 가중치 조정</a:t>
            </a:r>
            <a:endParaRPr lang="en-US" altLang="ko-KR" sz="2700" b="1" dirty="0">
              <a:solidFill>
                <a:srgbClr val="0070C0"/>
              </a:solidFill>
            </a:endParaRP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ko-KR" altLang="en-US" sz="2700" dirty="0"/>
              <a:t>이때 </a:t>
            </a:r>
            <a:r>
              <a:rPr lang="en-US" altLang="ko-KR" sz="2700" dirty="0"/>
              <a:t>gradient</a:t>
            </a:r>
            <a:r>
              <a:rPr lang="ko-KR" altLang="en-US" sz="2700" dirty="0"/>
              <a:t>의 흐름은 다음과 같다</a:t>
            </a:r>
            <a:r>
              <a:rPr lang="en-US" altLang="ko-KR" sz="2700" dirty="0"/>
              <a:t>: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endParaRPr lang="en-US" altLang="ko-KR" sz="2700" dirty="0"/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ko-KR" altLang="en-US" sz="2700" dirty="0"/>
              <a:t>즉</a:t>
            </a:r>
            <a:r>
              <a:rPr lang="en-US" altLang="ko-KR" sz="2700" dirty="0"/>
              <a:t>, </a:t>
            </a:r>
            <a:r>
              <a:rPr lang="ko-KR" altLang="en-US" sz="2700" dirty="0"/>
              <a:t>판별자가 가짜 이미지를 </a:t>
            </a:r>
            <a:r>
              <a:rPr lang="ko-KR" altLang="en-US" sz="2700" b="1" dirty="0"/>
              <a:t>진짜로 착각할수록</a:t>
            </a:r>
            <a:r>
              <a:rPr lang="ko-KR" altLang="en-US" sz="2700" dirty="0"/>
              <a:t> </a:t>
            </a:r>
            <a:r>
              <a:rPr lang="en-US" altLang="ko-KR" sz="2700" dirty="0"/>
              <a:t>(D(G(z))</a:t>
            </a:r>
            <a:r>
              <a:rPr lang="ko-KR" altLang="en-US" sz="2700" dirty="0"/>
              <a:t> ↑</a:t>
            </a:r>
            <a:r>
              <a:rPr lang="en-US" altLang="ko-KR" sz="2700" dirty="0"/>
              <a:t>)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ko-KR" altLang="en-US" sz="2700" dirty="0"/>
              <a:t>손실 </a:t>
            </a:r>
            <a:r>
              <a:rPr lang="en-US" altLang="ko-KR" sz="2700" dirty="0"/>
              <a:t>-log(1 - D(G(z)))</a:t>
            </a:r>
            <a:r>
              <a:rPr lang="ko-KR" altLang="en-US" sz="2700" dirty="0"/>
              <a:t> 가 커지고</a:t>
            </a:r>
            <a:r>
              <a:rPr lang="en-US" altLang="ko-KR" sz="2700" dirty="0"/>
              <a:t>,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ko-KR" altLang="en-US" sz="2700" b="1" dirty="0">
                <a:solidFill>
                  <a:srgbClr val="0070C0"/>
                </a:solidFill>
              </a:rPr>
              <a:t>그 기울기</a:t>
            </a:r>
            <a:r>
              <a:rPr lang="en-US" altLang="ko-KR" sz="2700" b="1" dirty="0">
                <a:solidFill>
                  <a:srgbClr val="0070C0"/>
                </a:solidFill>
              </a:rPr>
              <a:t>(gradient)</a:t>
            </a:r>
            <a:r>
              <a:rPr lang="ko-KR" altLang="en-US" sz="2700" b="1" dirty="0">
                <a:solidFill>
                  <a:srgbClr val="0070C0"/>
                </a:solidFill>
              </a:rPr>
              <a:t>가 판별자의 가중치 </a:t>
            </a:r>
            <a:r>
              <a:rPr lang="en-US" altLang="ko-KR" sz="2700" b="1" dirty="0" err="1">
                <a:solidFill>
                  <a:srgbClr val="0070C0"/>
                </a:solidFill>
              </a:rPr>
              <a:t>θ_D</a:t>
            </a:r>
            <a:r>
              <a:rPr lang="ko-KR" altLang="en-US" sz="2700" b="1" dirty="0">
                <a:solidFill>
                  <a:srgbClr val="0070C0"/>
                </a:solidFill>
              </a:rPr>
              <a:t> 를 조정하여</a:t>
            </a:r>
            <a:br>
              <a:rPr lang="ko-KR" altLang="en-US" sz="2700" b="1" dirty="0">
                <a:solidFill>
                  <a:srgbClr val="0070C0"/>
                </a:solidFill>
              </a:rPr>
            </a:br>
            <a:r>
              <a:rPr lang="ko-KR" altLang="en-US" sz="2700" b="1" dirty="0">
                <a:solidFill>
                  <a:srgbClr val="0070C0"/>
                </a:solidFill>
              </a:rPr>
              <a:t>“다음 번에는 이런 가짜를 진짜로 보지 않게” 학습하게 된다</a:t>
            </a:r>
            <a:r>
              <a:rPr lang="en-US" altLang="ko-KR" sz="2700" b="1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ko-KR" altLang="en-US" sz="2700" b="1" dirty="0">
                <a:solidFill>
                  <a:srgbClr val="FF0000"/>
                </a:solidFill>
              </a:rPr>
              <a:t>판별자는 가짜를 진짜로 착각했다는 걸 스스로 어떻게 알 수 있나</a:t>
            </a:r>
            <a:r>
              <a:rPr lang="en-US" altLang="ko-KR" sz="2700" b="1" dirty="0">
                <a:solidFill>
                  <a:srgbClr val="FF0000"/>
                </a:solidFill>
              </a:rPr>
              <a:t>?</a:t>
            </a:r>
          </a:p>
          <a:p>
            <a:pPr lvl="2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ko-KR" altLang="en-US" sz="2700" dirty="0"/>
              <a:t>정답</a:t>
            </a:r>
            <a:r>
              <a:rPr lang="en-US" altLang="ko-KR" sz="2700" dirty="0"/>
              <a:t>(label)</a:t>
            </a:r>
            <a:r>
              <a:rPr lang="ko-KR" altLang="en-US" sz="2700" dirty="0"/>
              <a:t>을 알고 있기 때문이다</a:t>
            </a:r>
            <a:r>
              <a:rPr lang="en-US" altLang="ko-KR" sz="2700" dirty="0"/>
              <a:t>.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en-US" altLang="ko-KR" sz="2700" dirty="0" err="1"/>
              <a:t>tf.zeros_like</a:t>
            </a:r>
            <a:r>
              <a:rPr lang="en-US" altLang="ko-KR" sz="2700" dirty="0"/>
              <a:t>(</a:t>
            </a:r>
            <a:r>
              <a:rPr lang="en-US" altLang="ko-KR" sz="2700" dirty="0" err="1"/>
              <a:t>fake_preds</a:t>
            </a:r>
            <a:r>
              <a:rPr lang="en-US" altLang="ko-KR" sz="2700" dirty="0"/>
              <a:t>)</a:t>
            </a:r>
            <a:r>
              <a:rPr lang="ko-KR" altLang="en-US" sz="2700" dirty="0"/>
              <a:t> → </a:t>
            </a:r>
            <a:r>
              <a:rPr lang="ko-KR" altLang="en-US" sz="2700" b="1" dirty="0"/>
              <a:t>정답</a:t>
            </a:r>
            <a:r>
              <a:rPr lang="en-US" altLang="ko-KR" sz="2700" b="1" dirty="0"/>
              <a:t>(label) = 0</a:t>
            </a:r>
            <a:r>
              <a:rPr lang="ko-KR" altLang="en-US" sz="2700" dirty="0"/>
              <a:t> </a:t>
            </a:r>
            <a:r>
              <a:rPr lang="en-US" altLang="ko-KR" sz="2700" dirty="0"/>
              <a:t>(</a:t>
            </a:r>
            <a:r>
              <a:rPr lang="ko-KR" altLang="en-US" sz="2700" dirty="0" err="1"/>
              <a:t>가짜니까</a:t>
            </a:r>
            <a:r>
              <a:rPr lang="en-US" altLang="ko-KR" sz="2700" dirty="0"/>
              <a:t>)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en-US" altLang="ko-KR" sz="2700" dirty="0" err="1"/>
              <a:t>fake_preds</a:t>
            </a:r>
            <a:r>
              <a:rPr lang="ko-KR" altLang="en-US" sz="2700" dirty="0"/>
              <a:t> → </a:t>
            </a:r>
            <a:r>
              <a:rPr lang="ko-KR" altLang="en-US" sz="2700" b="1" dirty="0"/>
              <a:t>판별자의 실제 </a:t>
            </a:r>
            <a:r>
              <a:rPr lang="ko-KR" altLang="en-US" sz="2700" b="1" dirty="0" err="1"/>
              <a:t>출력값</a:t>
            </a:r>
            <a:r>
              <a:rPr lang="ko-KR" altLang="en-US" sz="2700" dirty="0"/>
              <a:t> </a:t>
            </a:r>
            <a:r>
              <a:rPr lang="en-US" altLang="ko-KR" sz="2700" dirty="0"/>
              <a:t>(ex: 0.8 → “</a:t>
            </a:r>
            <a:r>
              <a:rPr lang="ko-KR" altLang="en-US" sz="2700" dirty="0"/>
              <a:t>진짜일 확률 </a:t>
            </a:r>
            <a:r>
              <a:rPr lang="en-US" altLang="ko-KR" sz="2700" dirty="0"/>
              <a:t>80%”)</a:t>
            </a:r>
          </a:p>
          <a:p>
            <a:pPr lvl="3">
              <a:lnSpc>
                <a:spcPct val="170000"/>
              </a:lnSpc>
              <a:buClr>
                <a:srgbClr val="FFC000"/>
              </a:buClr>
            </a:pPr>
            <a:r>
              <a:rPr lang="ko-KR" altLang="en-US" sz="2700" dirty="0"/>
              <a:t>이 둘을 비교해서 손실을 계산한다</a:t>
            </a:r>
            <a:r>
              <a:rPr lang="en-US" altLang="ko-KR" sz="2700" dirty="0"/>
              <a:t>.</a:t>
            </a:r>
          </a:p>
          <a:p>
            <a:pPr lvl="2"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ko-KR" altLang="en-US" sz="2700" dirty="0"/>
              <a:t>즉</a:t>
            </a:r>
            <a:r>
              <a:rPr lang="en-US" altLang="ko-KR" sz="2700" dirty="0"/>
              <a:t>, </a:t>
            </a:r>
            <a:r>
              <a:rPr lang="ko-KR" altLang="en-US" sz="2700" b="1" dirty="0"/>
              <a:t>“착각했는가</a:t>
            </a:r>
            <a:r>
              <a:rPr lang="en-US" altLang="ko-KR" sz="2700" b="1" dirty="0"/>
              <a:t>?”</a:t>
            </a:r>
            <a:r>
              <a:rPr lang="ko-KR" altLang="en-US" sz="2700" dirty="0"/>
              <a:t> 는 정답</a:t>
            </a:r>
            <a:r>
              <a:rPr lang="en-US" altLang="ko-KR" sz="2700" dirty="0"/>
              <a:t>(0)</a:t>
            </a:r>
            <a:r>
              <a:rPr lang="ko-KR" altLang="en-US" sz="2700" dirty="0"/>
              <a:t>과 </a:t>
            </a:r>
            <a:r>
              <a:rPr lang="ko-KR" altLang="en-US" sz="2700" dirty="0" err="1"/>
              <a:t>예측값</a:t>
            </a:r>
            <a:r>
              <a:rPr lang="en-US" altLang="ko-KR" sz="2700" dirty="0"/>
              <a:t>(0.8)</a:t>
            </a:r>
            <a:r>
              <a:rPr lang="ko-KR" altLang="en-US" sz="2700" dirty="0"/>
              <a:t>의 차이</a:t>
            </a:r>
            <a:br>
              <a:rPr lang="ko-KR" altLang="en-US" sz="2700" dirty="0"/>
            </a:br>
            <a:r>
              <a:rPr lang="ko-KR" altLang="en-US" sz="2700" dirty="0"/>
              <a:t>→ </a:t>
            </a:r>
            <a:r>
              <a:rPr lang="en-US" altLang="ko-KR" sz="2700" b="1" dirty="0"/>
              <a:t>BCE(Binary Cross Entropy)</a:t>
            </a:r>
            <a:r>
              <a:rPr lang="ko-KR" altLang="en-US" sz="2700" dirty="0"/>
              <a:t> 손실로 계산된다</a:t>
            </a:r>
            <a:r>
              <a:rPr lang="en-US" altLang="ko-KR" sz="2700" dirty="0"/>
              <a:t>.</a:t>
            </a:r>
          </a:p>
          <a:p>
            <a:pPr marL="457200" lvl="1" indent="0">
              <a:lnSpc>
                <a:spcPct val="170000"/>
              </a:lnSpc>
              <a:buClr>
                <a:srgbClr val="FFC000"/>
              </a:buClr>
              <a:buNone/>
            </a:pPr>
            <a:endParaRPr lang="en-US" altLang="ko-KR" sz="2600" b="1" dirty="0">
              <a:solidFill>
                <a:srgbClr val="FF0000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ACB322-6B41-C696-D67B-A32320B9D3E4}"/>
              </a:ext>
            </a:extLst>
          </p:cNvPr>
          <p:cNvSpPr txBox="1">
            <a:spLocks/>
          </p:cNvSpPr>
          <p:nvPr/>
        </p:nvSpPr>
        <p:spPr>
          <a:xfrm>
            <a:off x="3308404" y="58009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2CBE50-DB71-9C9D-9A5F-396AA700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167" y="2203791"/>
            <a:ext cx="4694096" cy="3803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E3E682-DB2B-F761-C95F-FC884C57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294" y="2395198"/>
            <a:ext cx="4801270" cy="20862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30DDBBE-5FB4-B042-AE89-D5515D6B55F8}"/>
              </a:ext>
            </a:extLst>
          </p:cNvPr>
          <p:cNvSpPr/>
          <p:nvPr/>
        </p:nvSpPr>
        <p:spPr>
          <a:xfrm>
            <a:off x="6747038" y="3573783"/>
            <a:ext cx="591792" cy="158620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91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A763-756C-36D4-9899-B3AD265D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D8B171B-E692-E84E-9744-FA11E5A11638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46650" y="774441"/>
                <a:ext cx="7128591" cy="6018246"/>
              </a:xfrm>
              <a:ln>
                <a:solidFill>
                  <a:schemeClr val="tx1"/>
                </a:solidFill>
              </a:ln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u"/>
                </a:pPr>
                <a:r>
                  <a:rPr lang="en-US" altLang="ko-KR" sz="1800" b="1" dirty="0"/>
                  <a:t> </a:t>
                </a:r>
                <a:r>
                  <a:rPr lang="en-US" altLang="ko-KR" sz="1900" b="1" dirty="0"/>
                  <a:t>GAN</a:t>
                </a:r>
                <a:r>
                  <a:rPr lang="ko-KR" altLang="en-US" sz="1900" b="1" dirty="0"/>
                  <a:t>의 프로그램 해석</a:t>
                </a:r>
                <a:endParaRPr lang="en-US" altLang="ko-KR" sz="1900" b="1" dirty="0"/>
              </a:p>
              <a:p>
                <a:pPr lvl="1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:r>
                  <a:rPr lang="ko-KR" altLang="en-US" sz="1500" b="1" dirty="0">
                    <a:solidFill>
                      <a:srgbClr val="FF0000"/>
                    </a:solidFill>
                  </a:rPr>
                  <a:t>생성자는 어떻게 판별자의 피드백을 통해 학습되는가</a:t>
                </a:r>
                <a:r>
                  <a:rPr lang="en-US" altLang="ko-KR" sz="1500" b="1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500" dirty="0"/>
                  <a:t>   (1) </a:t>
                </a:r>
                <a:r>
                  <a:rPr lang="ko-KR" altLang="en-US" sz="1500" dirty="0"/>
                  <a:t>생성자가 이미지를 만듦</a:t>
                </a:r>
                <a:r>
                  <a:rPr lang="en-US" altLang="ko-KR" sz="1500" dirty="0"/>
                  <a:t>: </a:t>
                </a:r>
                <a:r>
                  <a:rPr lang="en-US" altLang="ko-KR" sz="1500" b="1" dirty="0" err="1"/>
                  <a:t>fake_imgs</a:t>
                </a:r>
                <a:r>
                  <a:rPr lang="en-US" altLang="ko-KR" sz="1500" b="1" dirty="0"/>
                  <a:t> = G(z, training=True) 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500" dirty="0"/>
                  <a:t>   (2) </a:t>
                </a:r>
                <a:r>
                  <a:rPr lang="ko-KR" altLang="en-US" sz="1500" dirty="0"/>
                  <a:t>판별자가 평가함</a:t>
                </a:r>
                <a:r>
                  <a:rPr lang="en-US" altLang="ko-KR" sz="1500" dirty="0"/>
                  <a:t>: </a:t>
                </a:r>
                <a:r>
                  <a:rPr lang="en-US" altLang="ko-KR" sz="1500" b="1" dirty="0" err="1">
                    <a:solidFill>
                      <a:srgbClr val="0070C0"/>
                    </a:solidFill>
                  </a:rPr>
                  <a:t>fake_preds</a:t>
                </a:r>
                <a:r>
                  <a:rPr lang="en-US" altLang="ko-KR" sz="1500" b="1" dirty="0">
                    <a:solidFill>
                      <a:srgbClr val="0070C0"/>
                    </a:solidFill>
                  </a:rPr>
                  <a:t> = D(</a:t>
                </a:r>
                <a:r>
                  <a:rPr lang="en-US" altLang="ko-KR" sz="1500" b="1" dirty="0" err="1">
                    <a:solidFill>
                      <a:srgbClr val="0070C0"/>
                    </a:solidFill>
                  </a:rPr>
                  <a:t>fake_imgs</a:t>
                </a:r>
                <a:r>
                  <a:rPr lang="en-US" altLang="ko-KR" sz="1500" b="1" dirty="0">
                    <a:solidFill>
                      <a:srgbClr val="0070C0"/>
                    </a:solidFill>
                  </a:rPr>
                  <a:t>, training=True)</a:t>
                </a:r>
                <a:endParaRPr lang="en-US" altLang="ko-KR" sz="1500" dirty="0"/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500" b="1" dirty="0"/>
                  <a:t>  (3) </a:t>
                </a:r>
                <a:r>
                  <a:rPr lang="ko-KR" altLang="en-US" sz="1500" b="1" dirty="0"/>
                  <a:t>손실 계산 </a:t>
                </a:r>
                <a:r>
                  <a:rPr lang="en-US" altLang="ko-KR" sz="1500" b="1" dirty="0"/>
                  <a:t>(</a:t>
                </a:r>
                <a:r>
                  <a:rPr lang="ko-KR" altLang="en-US" sz="1500" b="1" dirty="0">
                    <a:solidFill>
                      <a:srgbClr val="FF0000"/>
                    </a:solidFill>
                  </a:rPr>
                  <a:t>판별자의 피드백</a:t>
                </a:r>
                <a:r>
                  <a:rPr lang="en-US" altLang="ko-KR" sz="1500" b="1" dirty="0"/>
                  <a:t>):</a:t>
                </a:r>
                <a:r>
                  <a:rPr lang="en-US" altLang="ko-KR" sz="1500" b="1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500" b="1" dirty="0">
                    <a:solidFill>
                      <a:srgbClr val="0070C0"/>
                    </a:solidFill>
                  </a:rPr>
                  <a:t>      </a:t>
                </a:r>
                <a:r>
                  <a:rPr lang="en-US" altLang="ko-KR" sz="1500" b="1" dirty="0" err="1"/>
                  <a:t>g_loss</a:t>
                </a:r>
                <a:r>
                  <a:rPr lang="en-US" altLang="ko-KR" sz="1500" b="1" dirty="0"/>
                  <a:t> = </a:t>
                </a:r>
                <a:r>
                  <a:rPr lang="en-US" altLang="ko-KR" sz="1500" b="1" dirty="0" err="1"/>
                  <a:t>bce</a:t>
                </a:r>
                <a:r>
                  <a:rPr lang="en-US" altLang="ko-KR" sz="1500" b="1" dirty="0"/>
                  <a:t>(</a:t>
                </a:r>
                <a:r>
                  <a:rPr lang="en-US" altLang="ko-KR" sz="1500" b="1" dirty="0" err="1"/>
                  <a:t>tf.ones_like</a:t>
                </a:r>
                <a:r>
                  <a:rPr lang="en-US" altLang="ko-KR" sz="1500" b="1" dirty="0"/>
                  <a:t>(</a:t>
                </a:r>
                <a:r>
                  <a:rPr lang="en-US" altLang="ko-KR" sz="1500" b="1" dirty="0" err="1"/>
                  <a:t>fake_preds</a:t>
                </a:r>
                <a:r>
                  <a:rPr lang="en-US" altLang="ko-KR" sz="1500" b="1" dirty="0"/>
                  <a:t>), </a:t>
                </a:r>
                <a:r>
                  <a:rPr lang="en-US" altLang="ko-KR" sz="1500" b="1" dirty="0" err="1"/>
                  <a:t>fake_preds</a:t>
                </a:r>
                <a:r>
                  <a:rPr lang="en-US" altLang="ko-KR" sz="1500" b="1" dirty="0"/>
                  <a:t>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500" dirty="0"/>
                  <a:t>여기서 </a:t>
                </a:r>
                <a:r>
                  <a:rPr lang="en-US" altLang="ko-KR" sz="1500" dirty="0" err="1"/>
                  <a:t>tf.ones_like</a:t>
                </a:r>
                <a:r>
                  <a:rPr lang="en-US" altLang="ko-KR" sz="1500" dirty="0"/>
                  <a:t>(</a:t>
                </a:r>
                <a:r>
                  <a:rPr lang="en-US" altLang="ko-KR" sz="1500" dirty="0" err="1"/>
                  <a:t>fake_preds</a:t>
                </a:r>
                <a:r>
                  <a:rPr lang="en-US" altLang="ko-KR" sz="1500" dirty="0"/>
                  <a:t>)</a:t>
                </a:r>
                <a:r>
                  <a:rPr lang="ko-KR" altLang="en-US" sz="1500" dirty="0"/>
                  <a:t>는 </a:t>
                </a:r>
                <a:r>
                  <a:rPr lang="ko-KR" altLang="en-US" sz="1500" b="1" dirty="0"/>
                  <a:t>“정답은 진짜</a:t>
                </a:r>
                <a:r>
                  <a:rPr lang="en-US" altLang="ko-KR" sz="1500" b="1" dirty="0"/>
                  <a:t>(1)”</a:t>
                </a:r>
                <a:r>
                  <a:rPr lang="ko-KR" altLang="en-US" sz="1500" dirty="0"/>
                  <a:t> 를 의미한다</a:t>
                </a:r>
                <a:r>
                  <a:rPr lang="en-US" altLang="ko-KR" sz="1500" dirty="0"/>
                  <a:t>.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500" dirty="0"/>
                  <a:t>즉</a:t>
                </a:r>
                <a:r>
                  <a:rPr lang="en-US" altLang="ko-KR" sz="1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ko-KR" sz="150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5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func>
                    <m:d>
                      <m:d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ko-KR" alt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5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5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500" dirty="0"/>
                  <a:t>판별자가 “진짜라고 믿게” 만들수록 손실 ↓</a:t>
                </a:r>
                <a:endParaRPr lang="en-US" altLang="ko-KR" sz="1500" dirty="0"/>
              </a:p>
              <a:p>
                <a:pPr lvl="3">
                  <a:lnSpc>
                    <a:spcPct val="150000"/>
                  </a:lnSpc>
                  <a:buClr>
                    <a:srgbClr val="FFC000"/>
                  </a:buClr>
                </a:pPr>
                <a:r>
                  <a:rPr lang="ko-KR" altLang="en-US" sz="1500" dirty="0"/>
                  <a:t>판별자가 “가짜라고 </a:t>
                </a:r>
                <a:r>
                  <a:rPr lang="ko-KR" altLang="en-US" sz="1500" dirty="0" err="1"/>
                  <a:t>판단”하면</a:t>
                </a:r>
                <a:r>
                  <a:rPr lang="ko-KR" altLang="en-US" sz="1500" dirty="0"/>
                  <a:t> 손실 ↑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500" dirty="0"/>
                  <a:t>따라서 </a:t>
                </a:r>
                <a:r>
                  <a:rPr lang="en-US" altLang="ko-KR" sz="1500" b="1" dirty="0"/>
                  <a:t>D</a:t>
                </a:r>
                <a:r>
                  <a:rPr lang="ko-KR" altLang="en-US" sz="1500" b="1" dirty="0"/>
                  <a:t>의 </a:t>
                </a:r>
                <a:r>
                  <a:rPr lang="ko-KR" altLang="en-US" sz="1500" b="1" dirty="0" err="1"/>
                  <a:t>출력값</a:t>
                </a:r>
                <a:r>
                  <a:rPr lang="en-US" altLang="ko-KR" sz="1500" b="1" dirty="0"/>
                  <a:t>(</a:t>
                </a:r>
                <a:r>
                  <a:rPr lang="en-US" altLang="ko-KR" sz="1500" b="1" dirty="0" err="1"/>
                  <a:t>fake_preds</a:t>
                </a:r>
                <a:r>
                  <a:rPr lang="en-US" altLang="ko-KR" sz="1500" b="1" dirty="0"/>
                  <a:t>)</a:t>
                </a:r>
                <a:r>
                  <a:rPr lang="ko-KR" altLang="en-US" sz="1500" b="1" dirty="0"/>
                  <a:t>이 작으면 → </a:t>
                </a:r>
                <a:r>
                  <a:rPr lang="en-US" altLang="ko-KR" sz="1500" b="1" dirty="0"/>
                  <a:t>G</a:t>
                </a:r>
                <a:r>
                  <a:rPr lang="ko-KR" altLang="en-US" sz="1500" b="1" dirty="0"/>
                  <a:t>의 손실이 커짐</a:t>
                </a:r>
                <a:br>
                  <a:rPr lang="ko-KR" altLang="en-US" sz="1500" dirty="0"/>
                </a:br>
                <a:r>
                  <a:rPr lang="ko-KR" altLang="en-US" sz="1500" dirty="0"/>
                  <a:t>즉</a:t>
                </a:r>
                <a:r>
                  <a:rPr lang="en-US" altLang="ko-KR" sz="1500" dirty="0"/>
                  <a:t>, G</a:t>
                </a:r>
                <a:r>
                  <a:rPr lang="ko-KR" altLang="en-US" sz="1500" dirty="0"/>
                  <a:t>는 </a:t>
                </a:r>
                <a:r>
                  <a:rPr lang="ko-KR" altLang="en-US" sz="1500" b="1" dirty="0"/>
                  <a:t>“</a:t>
                </a:r>
                <a:r>
                  <a:rPr lang="en-US" altLang="ko-KR" sz="1500" b="1" dirty="0"/>
                  <a:t>D</a:t>
                </a:r>
                <a:r>
                  <a:rPr lang="ko-KR" altLang="en-US" sz="1500" b="1" dirty="0"/>
                  <a:t>의 판단 </a:t>
                </a:r>
                <a:r>
                  <a:rPr lang="ko-KR" altLang="en-US" sz="1500" b="1" dirty="0" err="1"/>
                  <a:t>결과”를</a:t>
                </a:r>
                <a:r>
                  <a:rPr lang="ko-KR" altLang="en-US" sz="1500" b="1" dirty="0"/>
                  <a:t> 그대로 피드백 신호로 사용하는 것</a:t>
                </a:r>
                <a:r>
                  <a:rPr lang="ko-KR" altLang="en-US" sz="1500" dirty="0"/>
                  <a:t>이다</a:t>
                </a:r>
                <a:r>
                  <a:rPr lang="en-US" altLang="ko-KR" sz="1500" dirty="0"/>
                  <a:t>.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dirty="0"/>
                  <a:t> (4) </a:t>
                </a:r>
                <a:r>
                  <a:rPr lang="ko-KR" altLang="en-US" sz="1600" dirty="0" err="1"/>
                  <a:t>역전파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(Backpropagation) 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b="1" dirty="0">
                    <a:solidFill>
                      <a:srgbClr val="0070C0"/>
                    </a:solidFill>
                  </a:rPr>
                  <a:t>     </a:t>
                </a:r>
                <a:r>
                  <a:rPr lang="en-US" altLang="ko-KR" sz="1600" b="1" dirty="0" err="1"/>
                  <a:t>grads_G</a:t>
                </a:r>
                <a:r>
                  <a:rPr lang="en-US" altLang="ko-KR" sz="1600" b="1" dirty="0"/>
                  <a:t> = </a:t>
                </a:r>
                <a:r>
                  <a:rPr lang="en-US" altLang="ko-KR" sz="1600" b="1" dirty="0" err="1"/>
                  <a:t>tape_G.gradient</a:t>
                </a:r>
                <a:r>
                  <a:rPr lang="en-US" altLang="ko-KR" sz="1600" b="1" dirty="0"/>
                  <a:t>(</a:t>
                </a:r>
                <a:r>
                  <a:rPr lang="en-US" altLang="ko-KR" sz="1600" b="1" dirty="0" err="1"/>
                  <a:t>g_loss</a:t>
                </a:r>
                <a:r>
                  <a:rPr lang="en-US" altLang="ko-KR" sz="1600" b="1" dirty="0"/>
                  <a:t>, </a:t>
                </a:r>
                <a:r>
                  <a:rPr lang="en-US" altLang="ko-KR" sz="1600" b="1" dirty="0" err="1"/>
                  <a:t>G.trainable_variables</a:t>
                </a:r>
                <a:r>
                  <a:rPr lang="en-US" altLang="ko-KR" sz="1600" b="1" dirty="0"/>
                  <a:t>)</a:t>
                </a:r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r>
                  <a:rPr lang="en-US" altLang="ko-KR" sz="1600" b="1" dirty="0"/>
                  <a:t>     </a:t>
                </a:r>
                <a:r>
                  <a:rPr lang="en-US" altLang="ko-KR" sz="1600" b="1" dirty="0" err="1"/>
                  <a:t>g_optimizer.apply_gradients</a:t>
                </a:r>
                <a:r>
                  <a:rPr lang="en-US" altLang="ko-KR" sz="1600" b="1" dirty="0"/>
                  <a:t>(zip(</a:t>
                </a:r>
                <a:r>
                  <a:rPr lang="en-US" altLang="ko-KR" sz="1600" b="1" dirty="0" err="1"/>
                  <a:t>grads_G</a:t>
                </a:r>
                <a:r>
                  <a:rPr lang="en-US" altLang="ko-KR" sz="1600" b="1" dirty="0"/>
                  <a:t>, </a:t>
                </a:r>
                <a:r>
                  <a:rPr lang="en-US" altLang="ko-KR" sz="1600" b="1" dirty="0" err="1"/>
                  <a:t>G.trainable_variables</a:t>
                </a:r>
                <a:r>
                  <a:rPr lang="en-US" altLang="ko-KR" sz="1600" b="1" dirty="0"/>
                  <a:t>))</a:t>
                </a:r>
              </a:p>
              <a:p>
                <a:pPr lvl="2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ü"/>
                </a:pPr>
                <a:endParaRPr lang="en-US" altLang="ko-KR" sz="1500" dirty="0"/>
              </a:p>
              <a:p>
                <a:pPr marL="457200" lvl="1" indent="0">
                  <a:lnSpc>
                    <a:spcPct val="150000"/>
                  </a:lnSpc>
                  <a:buClr>
                    <a:srgbClr val="FFC000"/>
                  </a:buClr>
                  <a:buNone/>
                </a:pPr>
                <a:endParaRPr lang="en-US" altLang="ko-KR" sz="17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CD8B171B-E692-E84E-9744-FA11E5A11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6650" y="774441"/>
                <a:ext cx="7128591" cy="6018246"/>
              </a:xfrm>
              <a:blipFill>
                <a:blip r:embed="rId2"/>
                <a:stretch>
                  <a:fillRect l="-512" r="-6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AD80A6E7-E88B-81A0-8B4B-E9888AE0C67C}"/>
              </a:ext>
            </a:extLst>
          </p:cNvPr>
          <p:cNvSpPr txBox="1">
            <a:spLocks/>
          </p:cNvSpPr>
          <p:nvPr/>
        </p:nvSpPr>
        <p:spPr>
          <a:xfrm>
            <a:off x="3308404" y="58009"/>
            <a:ext cx="6263173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GAN </a:t>
            </a:r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프로그램 이해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CDD920-0A15-6A10-F04C-757C0627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48" y="3026852"/>
            <a:ext cx="4767944" cy="3663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C8F6803-BB06-09F1-0FCA-0C06895CCC6C}"/>
              </a:ext>
            </a:extLst>
          </p:cNvPr>
          <p:cNvSpPr txBox="1">
            <a:spLocks/>
          </p:cNvSpPr>
          <p:nvPr/>
        </p:nvSpPr>
        <p:spPr>
          <a:xfrm>
            <a:off x="7240555" y="777549"/>
            <a:ext cx="4767944" cy="21522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en-US" altLang="ko-KR" sz="1600" dirty="0"/>
              <a:t>(4) </a:t>
            </a:r>
            <a:r>
              <a:rPr lang="ko-KR" altLang="en-US" sz="1500" dirty="0" err="1"/>
              <a:t>역전파</a:t>
            </a:r>
            <a:r>
              <a:rPr lang="ko-KR" altLang="en-US" sz="1500" dirty="0"/>
              <a:t> </a:t>
            </a:r>
            <a:r>
              <a:rPr lang="en-US" altLang="ko-KR" sz="1500" dirty="0"/>
              <a:t>(Backpropagation) </a:t>
            </a:r>
          </a:p>
          <a:p>
            <a:pPr lvl="1">
              <a:lnSpc>
                <a:spcPct val="10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altLang="ko-KR" sz="1500" dirty="0"/>
              <a:t>D(G(z))</a:t>
            </a:r>
            <a:r>
              <a:rPr lang="ko-KR" altLang="en-US" sz="1500" dirty="0"/>
              <a:t>의 출력이 손실 계산에 사용되고</a:t>
            </a:r>
            <a:endParaRPr lang="en-US" altLang="ko-KR" sz="1500" dirty="0"/>
          </a:p>
          <a:p>
            <a:pPr lvl="1">
              <a:lnSpc>
                <a:spcPct val="10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ko-KR" altLang="en-US" sz="1500" dirty="0"/>
              <a:t>그 손실의 </a:t>
            </a:r>
            <a:r>
              <a:rPr lang="en-US" altLang="ko-KR" sz="1500" dirty="0"/>
              <a:t>gradient(</a:t>
            </a:r>
            <a:r>
              <a:rPr lang="ko-KR" altLang="en-US" sz="1500" dirty="0"/>
              <a:t>기울기</a:t>
            </a:r>
            <a:r>
              <a:rPr lang="en-US" altLang="ko-KR" sz="1500" dirty="0"/>
              <a:t>)</a:t>
            </a:r>
            <a:r>
              <a:rPr lang="ko-KR" altLang="en-US" sz="1500" dirty="0"/>
              <a:t>가 </a:t>
            </a:r>
            <a:r>
              <a:rPr lang="en-US" altLang="ko-KR" sz="1500" b="1" dirty="0"/>
              <a:t>G</a:t>
            </a:r>
            <a:r>
              <a:rPr lang="ko-KR" altLang="en-US" sz="1500" b="1" dirty="0"/>
              <a:t>의 파라미터</a:t>
            </a:r>
            <a:r>
              <a:rPr lang="ko-KR" altLang="en-US" sz="1500" dirty="0"/>
              <a:t>로 </a:t>
            </a:r>
            <a:r>
              <a:rPr lang="ko-KR" altLang="en-US" sz="1500" dirty="0" err="1"/>
              <a:t>역전파된다</a:t>
            </a:r>
            <a:r>
              <a:rPr lang="en-US" altLang="ko-KR" sz="1500" dirty="0"/>
              <a:t>.</a:t>
            </a:r>
          </a:p>
          <a:p>
            <a:pPr lvl="1">
              <a:lnSpc>
                <a:spcPct val="10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ko-KR" altLang="en-US" sz="1500" dirty="0"/>
              <a:t>판별자 </a:t>
            </a:r>
            <a:r>
              <a:rPr lang="en-US" altLang="ko-KR" sz="1500" dirty="0"/>
              <a:t>D</a:t>
            </a:r>
            <a:r>
              <a:rPr lang="ko-KR" altLang="en-US" sz="1500" dirty="0"/>
              <a:t>의 파라미터는 이 단계에서는 </a:t>
            </a:r>
            <a:r>
              <a:rPr lang="ko-KR" altLang="en-US" sz="1500" b="1" dirty="0"/>
              <a:t>고정</a:t>
            </a:r>
            <a:r>
              <a:rPr lang="en-US" altLang="ko-KR" sz="1500" b="1" dirty="0"/>
              <a:t>(freeze)</a:t>
            </a:r>
            <a:r>
              <a:rPr lang="ko-KR" altLang="en-US" sz="1500" dirty="0"/>
              <a:t> 되어 있다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r>
              <a:rPr lang="ko-KR" altLang="en-US" sz="1500" dirty="0"/>
              <a:t>즉</a:t>
            </a:r>
            <a:r>
              <a:rPr lang="en-US" altLang="ko-KR" sz="1500" dirty="0"/>
              <a:t>, D</a:t>
            </a:r>
            <a:r>
              <a:rPr lang="ko-KR" altLang="en-US" sz="1500" dirty="0"/>
              <a:t>는 “평가만 하고”</a:t>
            </a:r>
            <a:r>
              <a:rPr lang="en-US" altLang="ko-KR" sz="1500" dirty="0"/>
              <a:t>, G</a:t>
            </a:r>
            <a:r>
              <a:rPr lang="ko-KR" altLang="en-US" sz="1500" dirty="0"/>
              <a:t>만 업데이트한다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166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629415C-42A9-1FA9-5713-5AE0E574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13" y="864377"/>
            <a:ext cx="9916644" cy="579322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60C5D8B8-D7F1-85B6-11F7-85FEE430B14D}"/>
              </a:ext>
            </a:extLst>
          </p:cNvPr>
          <p:cNvSpPr txBox="1">
            <a:spLocks/>
          </p:cNvSpPr>
          <p:nvPr/>
        </p:nvSpPr>
        <p:spPr>
          <a:xfrm>
            <a:off x="2962396" y="321399"/>
            <a:ext cx="5822376" cy="80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dirty="0">
                <a:latin typeface="KoPub돋움체_Pro Bold" pitchFamily="18" charset="-127"/>
                <a:ea typeface="KoPub돋움체_Pro Bold" pitchFamily="18" charset="-127"/>
              </a:rPr>
              <a:t>적대적 생성 신경망</a:t>
            </a:r>
            <a:r>
              <a:rPr lang="en-US" altLang="ko-KR" sz="3200" dirty="0">
                <a:latin typeface="KoPub돋움체_Pro Bold" pitchFamily="18" charset="-127"/>
                <a:ea typeface="KoPub돋움체_Pro Bold" pitchFamily="18" charset="-127"/>
              </a:rPr>
              <a:t>(GAN)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2918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3121</Words>
  <Application>Microsoft Office PowerPoint</Application>
  <PresentationFormat>와이드스크린</PresentationFormat>
  <Paragraphs>383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KoPub돋움체_Pro Bold</vt:lpstr>
      <vt:lpstr>KoPub돋움체_Pro Light</vt:lpstr>
      <vt:lpstr>맑은 고딕</vt:lpstr>
      <vt:lpstr>Arial</vt:lpstr>
      <vt:lpstr>Cambria Math</vt:lpstr>
      <vt:lpstr>Wingdings</vt:lpstr>
      <vt:lpstr>Office 테마</vt:lpstr>
      <vt:lpstr>PowerPoint 프레젠테이션</vt:lpstr>
      <vt:lpstr>적대적 생성 신경망(GAN)이란?</vt:lpstr>
      <vt:lpstr>PowerPoint 프레젠테이션</vt:lpstr>
      <vt:lpstr>적대적 생성 신경망(GAN)이란?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trt</dc:creator>
  <cp:lastModifiedBy>주흠 권</cp:lastModifiedBy>
  <cp:revision>97</cp:revision>
  <dcterms:created xsi:type="dcterms:W3CDTF">2020-05-17T13:54:39Z</dcterms:created>
  <dcterms:modified xsi:type="dcterms:W3CDTF">2025-11-05T08:14:44Z</dcterms:modified>
</cp:coreProperties>
</file>